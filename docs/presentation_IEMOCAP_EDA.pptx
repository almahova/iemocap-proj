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6C40CF2-0A9E-406B-96D3-7E70AF2381E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he-IL" sz="2000" spc="-1" strike="noStrike">
                <a:solidFill>
                  <a:srgbClr val="000000"/>
                </a:solidFill>
                <a:latin typeface="Arial"/>
              </a:rPr>
              <a:t>מיפוי רגשות לפי מודל הרגש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772A4F-65B6-41BC-ADB2-29A32187E7F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243DA9-7526-4268-83B4-EA24CE65E1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BDD896-B620-45FF-AB29-035FE06E31A4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861547-992E-4ECE-B0BA-4F59104B9C3C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A85007-EA6C-4B53-9B52-A3C1DC5E3C67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2781A3-2168-4872-8768-51E97300367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662C55-FC1C-4007-A083-3B08456F0EEB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69071C-0280-47B8-8F95-CBC961B92337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E97A62-4FA9-484E-80E1-EE91F6021B6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C6625E-CE22-413A-82A6-579BA85B2038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DFFE81-6161-4ED1-8FB9-6F01831DAFAA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FAB1FE-15B0-4E79-91E7-344F6C1250CD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D284F-9820-4009-8975-C6A15FAFCB99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1286280" y="355644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Chen Shmila, Alma Hova, Ohad Lavie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May 2025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ctangle 3"/>
          <p:cNvSpPr/>
          <p:nvPr/>
        </p:nvSpPr>
        <p:spPr>
          <a:xfrm>
            <a:off x="64080" y="1279800"/>
            <a:ext cx="12063600" cy="19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60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ptos"/>
              </a:rPr>
              <a:t>IEMOCAP Emotion Recognition 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60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ptos"/>
              </a:rPr>
              <a:t>Data Science Project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8"/>
          <p:cNvSpPr/>
          <p:nvPr/>
        </p:nvSpPr>
        <p:spPr>
          <a:xfrm>
            <a:off x="526680" y="1345320"/>
            <a:ext cx="11399760" cy="4509360"/>
          </a:xfrm>
          <a:prstGeom prst="rect">
            <a:avLst/>
          </a:prstGeom>
          <a:solidFill>
            <a:schemeClr val="dk2">
              <a:lumMod val="25000"/>
              <a:lumOff val="7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b="0" lang="en-US" sz="2400" spc="-1" strike="noStrike" u="sng">
                <a:solidFill>
                  <a:schemeClr val="dk1"/>
                </a:solidFill>
                <a:uFillTx/>
                <a:latin typeface="Mona Sans VF"/>
              </a:rPr>
              <a:t>IEMOCAP - Interactive Emotional Dyadic Motion Capture corpus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Mona Sans VF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Mona Sans VF"/>
              </a:rPr>
              <a:t>10,039 utterances from 10 speakers (5 female, 5 male) across 5 dyadic sessions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Mona Sans VF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Mona Sans VF"/>
              </a:rPr>
              <a:t>Each session contains both improvised and scripted scenarios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Mona Sans VF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Mona Sans VF"/>
              </a:rPr>
              <a:t>Features include emotion</a:t>
            </a:r>
            <a:r>
              <a:rPr b="0" lang="de-DE" sz="2400" spc="-1" strike="noStrike">
                <a:solidFill>
                  <a:schemeClr val="dk1"/>
                </a:solidFill>
                <a:latin typeface="Mona Sans VF"/>
              </a:rPr>
              <a:t>s</a:t>
            </a:r>
            <a:r>
              <a:rPr b="0" lang="en-US" sz="2400" spc="-1" strike="noStrike">
                <a:solidFill>
                  <a:schemeClr val="dk1"/>
                </a:solidFill>
                <a:latin typeface="Mona Sans VF"/>
              </a:rPr>
              <a:t> score, dimensional emotion ratings (activation, valence, dominance), and acoustic features (pitch, speaking rate, RMS energy)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216000" defTabSz="914400">
              <a:lnSpc>
                <a:spcPct val="10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Mona Sans VF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Mona Sans VF"/>
              </a:rPr>
              <a:t>10 emotion classes: </a:t>
            </a:r>
            <a:r>
              <a:rPr b="0" lang="en-GB" sz="2400" spc="-1" strike="noStrike">
                <a:solidFill>
                  <a:schemeClr val="dk1"/>
                </a:solidFill>
                <a:latin typeface="Mona Sans VF"/>
              </a:rPr>
              <a:t>neutral, frustrated, angry, sad, happy, excited, surprise, fear, disgust, other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spcAft>
                <a:spcPts val="1199"/>
              </a:spcAf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146160" y="215640"/>
            <a:ext cx="11347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accent1"/>
                </a:solidFill>
                <a:latin typeface="Aptos"/>
              </a:rPr>
              <a:t>Exploratory Data Analysis of the IEMOCAP Dataset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441000" y="950760"/>
            <a:ext cx="8017200" cy="28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ptos"/>
              </a:rPr>
              <a:t>Dataset overview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The dataset contains no missing values or duplicate values, so no imputation or deduplication is required.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 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The numerical values in the data are consistent.</a:t>
            </a: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The dataset is heavily imbalanced. frustrated and excited are the two most common classes - nearly half the data</a:t>
            </a: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1" name="Table 11"/>
          <p:cNvGraphicFramePr/>
          <p:nvPr/>
        </p:nvGraphicFramePr>
        <p:xfrm>
          <a:off x="8711280" y="950760"/>
          <a:ext cx="3242160" cy="4351320"/>
        </p:xfrm>
        <a:graphic>
          <a:graphicData uri="http://schemas.openxmlformats.org/drawingml/2006/table">
            <a:tbl>
              <a:tblPr/>
              <a:tblGrid>
                <a:gridCol w="1258560"/>
                <a:gridCol w="786240"/>
                <a:gridCol w="1197720"/>
              </a:tblGrid>
              <a:tr h="343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2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major_emotion              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2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Count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2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Percentage (%)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25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frustrated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2917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29.1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07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excited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1976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19.7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18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neutral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1726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17.2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82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angry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1269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12.6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1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sad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1250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12.5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1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happy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656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6.5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1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surprise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1.1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1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fear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107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1.1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1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other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26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0.3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1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disgust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0.0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72" name="Picture 12" descr=""/>
          <p:cNvPicPr/>
          <p:nvPr/>
        </p:nvPicPr>
        <p:blipFill>
          <a:blip r:embed="rId1"/>
          <a:stretch/>
        </p:blipFill>
        <p:spPr>
          <a:xfrm>
            <a:off x="4661640" y="3886200"/>
            <a:ext cx="3110760" cy="2755800"/>
          </a:xfrm>
          <a:prstGeom prst="rect">
            <a:avLst/>
          </a:prstGeom>
          <a:ln w="0">
            <a:noFill/>
          </a:ln>
          <a:effectLst>
            <a:outerShdw dist="139498" dir="2700000" blurRad="291960" rotWithShape="0">
              <a:srgbClr val="333333">
                <a:alpha val="6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146160" y="215640"/>
            <a:ext cx="11347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accent1"/>
                </a:solidFill>
                <a:latin typeface="Aptos"/>
              </a:rPr>
              <a:t>Exploratory Data Analysis of the IEMOCAP Dataset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4" descr=""/>
          <p:cNvPicPr/>
          <p:nvPr/>
        </p:nvPicPr>
        <p:blipFill>
          <a:blip r:embed="rId1"/>
          <a:stretch/>
        </p:blipFill>
        <p:spPr>
          <a:xfrm>
            <a:off x="1132200" y="1024200"/>
            <a:ext cx="9927000" cy="525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146160" y="215640"/>
            <a:ext cx="11347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accent1"/>
                </a:solidFill>
                <a:latin typeface="Aptos"/>
              </a:rPr>
              <a:t>Exploratory Data Analysis of the IEMOCAP Dataset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Picture 4" descr=""/>
          <p:cNvPicPr/>
          <p:nvPr/>
        </p:nvPicPr>
        <p:blipFill>
          <a:blip r:embed="rId1"/>
          <a:stretch/>
        </p:blipFill>
        <p:spPr>
          <a:xfrm>
            <a:off x="6258960" y="1212840"/>
            <a:ext cx="5786280" cy="5130360"/>
          </a:xfrm>
          <a:prstGeom prst="rect">
            <a:avLst/>
          </a:prstGeom>
          <a:ln w="0">
            <a:noFill/>
          </a:ln>
        </p:spPr>
      </p:pic>
      <p:sp>
        <p:nvSpPr>
          <p:cNvPr id="77" name="TextBox 9"/>
          <p:cNvSpPr/>
          <p:nvPr/>
        </p:nvSpPr>
        <p:spPr>
          <a:xfrm>
            <a:off x="146160" y="1150560"/>
            <a:ext cx="6217560" cy="52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800" spc="-1" strike="noStrike" u="sng">
                <a:solidFill>
                  <a:schemeClr val="dk1"/>
                </a:solidFill>
                <a:uFillTx/>
                <a:latin typeface="Aptos"/>
              </a:rPr>
              <a:t>Conclusions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The strongest correlation in the matrix is between EmoAct and EmoDom. </a:t>
            </a:r>
            <a:r>
              <a:rPr b="1" lang="en-US" sz="1600" spc="-1" strike="noStrike">
                <a:solidFill>
                  <a:schemeClr val="dk1"/>
                </a:solidFill>
                <a:latin typeface="Aptos"/>
              </a:rPr>
              <a:t>high activation emotions also tend to feel dominant.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EmoAct shows positive correlations with several acoustic features: rms, pitch_std , pitch_mean, and speaking_rate. </a:t>
            </a:r>
            <a:r>
              <a:rPr b="1" lang="en-US" sz="1600" spc="-1" strike="noStrike">
                <a:solidFill>
                  <a:schemeClr val="dk1"/>
                </a:solidFill>
                <a:latin typeface="Aptos"/>
              </a:rPr>
              <a:t>Energetic emotions being louder, higher pitched, and faster.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pitch_mean and pitch_std are also correlated. </a:t>
            </a:r>
            <a:r>
              <a:rPr b="1" lang="en-US" sz="1600" spc="-1" strike="noStrike">
                <a:solidFill>
                  <a:schemeClr val="dk1"/>
                </a:solidFill>
                <a:latin typeface="Aptos"/>
              </a:rPr>
              <a:t>Speakers with higher average pitch also vary their pitch more</a:t>
            </a: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EmoVal is largely uncorrelated with all acoustic features. </a:t>
            </a:r>
            <a:r>
              <a:rPr b="1" lang="en-US" sz="1600" spc="-1" strike="noStrike">
                <a:solidFill>
                  <a:schemeClr val="dk1"/>
                </a:solidFill>
                <a:latin typeface="Aptos"/>
              </a:rPr>
              <a:t>Difficulty of predicting valence from acoustics alone</a:t>
            </a: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rms and relative_db show near zero correlation, indicating they capture different aspects of loudness.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11"/>
          <p:cNvSpPr/>
          <p:nvPr/>
        </p:nvSpPr>
        <p:spPr>
          <a:xfrm>
            <a:off x="7004160" y="2566440"/>
            <a:ext cx="520920" cy="502560"/>
          </a:xfrm>
          <a:prstGeom prst="rect">
            <a:avLst/>
          </a:prstGeom>
          <a:solidFill>
            <a:srgbClr val="ffff00">
              <a:alpha val="49000"/>
            </a:srgbClr>
          </a:solidFill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9" name="Rectangle 15"/>
          <p:cNvSpPr/>
          <p:nvPr/>
        </p:nvSpPr>
        <p:spPr>
          <a:xfrm>
            <a:off x="7013520" y="4669200"/>
            <a:ext cx="520920" cy="502560"/>
          </a:xfrm>
          <a:prstGeom prst="rect">
            <a:avLst/>
          </a:prstGeom>
          <a:solidFill>
            <a:srgbClr val="ffff00">
              <a:alpha val="49000"/>
            </a:srgbClr>
          </a:solidFill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0" name="Rectangle 16"/>
          <p:cNvSpPr/>
          <p:nvPr/>
        </p:nvSpPr>
        <p:spPr>
          <a:xfrm>
            <a:off x="9115920" y="4131360"/>
            <a:ext cx="520920" cy="502560"/>
          </a:xfrm>
          <a:prstGeom prst="rect">
            <a:avLst/>
          </a:prstGeom>
          <a:solidFill>
            <a:srgbClr val="ffff00">
              <a:alpha val="49000"/>
            </a:srgbClr>
          </a:solidFill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1" name="Rectangle 17"/>
          <p:cNvSpPr/>
          <p:nvPr/>
        </p:nvSpPr>
        <p:spPr>
          <a:xfrm>
            <a:off x="9618840" y="4678560"/>
            <a:ext cx="520920" cy="502560"/>
          </a:xfrm>
          <a:prstGeom prst="rect">
            <a:avLst/>
          </a:prstGeom>
          <a:solidFill>
            <a:srgbClr val="ffff00">
              <a:alpha val="49000"/>
            </a:srgbClr>
          </a:solidFill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2" name="Rectangle 18"/>
          <p:cNvSpPr/>
          <p:nvPr/>
        </p:nvSpPr>
        <p:spPr>
          <a:xfrm>
            <a:off x="7534800" y="4669200"/>
            <a:ext cx="520920" cy="502560"/>
          </a:xfrm>
          <a:prstGeom prst="rect">
            <a:avLst/>
          </a:prstGeom>
          <a:solidFill>
            <a:srgbClr val="ffff00">
              <a:alpha val="49000"/>
            </a:srgbClr>
          </a:solidFill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146160" y="215640"/>
            <a:ext cx="11347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accent1"/>
                </a:solidFill>
                <a:latin typeface="Aptos"/>
              </a:rPr>
              <a:t>Exploratory Data Analysis of the IEMOCAP Dataset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Picture 3" descr=""/>
          <p:cNvPicPr/>
          <p:nvPr/>
        </p:nvPicPr>
        <p:blipFill>
          <a:blip r:embed="rId1"/>
          <a:stretch/>
        </p:blipFill>
        <p:spPr>
          <a:xfrm>
            <a:off x="477000" y="824760"/>
            <a:ext cx="11237400" cy="3317040"/>
          </a:xfrm>
          <a:prstGeom prst="rect">
            <a:avLst/>
          </a:prstGeom>
          <a:ln w="0">
            <a:noFill/>
          </a:ln>
        </p:spPr>
      </p:pic>
      <p:sp>
        <p:nvSpPr>
          <p:cNvPr id="85" name="TextBox 6"/>
          <p:cNvSpPr/>
          <p:nvPr/>
        </p:nvSpPr>
        <p:spPr>
          <a:xfrm>
            <a:off x="367200" y="4260960"/>
            <a:ext cx="1134720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800" spc="-1" strike="noStrike" u="sng">
                <a:solidFill>
                  <a:schemeClr val="dk1"/>
                </a:solidFill>
                <a:uFillTx/>
                <a:latin typeface="Aptos"/>
              </a:rPr>
              <a:t>Conclusions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Angry scores highest on </a:t>
            </a:r>
            <a:r>
              <a:rPr b="0" lang="en-US" sz="1800" spc="-1" strike="noStrike" u="sng">
                <a:solidFill>
                  <a:schemeClr val="dk1"/>
                </a:solidFill>
                <a:uFillTx/>
                <a:latin typeface="Aptos"/>
              </a:rPr>
              <a:t>Activation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. followed by excited, both are high energy emotions. Sad and neutral score lowest.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On </a:t>
            </a:r>
            <a:r>
              <a:rPr b="0" lang="en-US" sz="1800" spc="-1" strike="noStrike" u="sng">
                <a:solidFill>
                  <a:schemeClr val="dk1"/>
                </a:solidFill>
                <a:uFillTx/>
                <a:latin typeface="Aptos"/>
              </a:rPr>
              <a:t>Valence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, happy and excited are the most positive, while angry, sad, and frustrated are the most negative.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Angry also scores highest on </a:t>
            </a:r>
            <a:r>
              <a:rPr b="0" lang="en-US" sz="1800" spc="-1" strike="noStrike" u="sng">
                <a:solidFill>
                  <a:schemeClr val="dk1"/>
                </a:solidFill>
                <a:uFillTx/>
                <a:latin typeface="Aptos"/>
              </a:rPr>
              <a:t>Dominance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, while fear and sad score low.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146160" y="215640"/>
            <a:ext cx="11347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accent1"/>
                </a:solidFill>
                <a:latin typeface="Aptos"/>
              </a:rPr>
              <a:t>Exploratory Data Analysis of the IEMOCAP Dataset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3" descr=""/>
          <p:cNvPicPr/>
          <p:nvPr/>
        </p:nvPicPr>
        <p:blipFill>
          <a:blip r:embed="rId1"/>
          <a:stretch/>
        </p:blipFill>
        <p:spPr>
          <a:xfrm>
            <a:off x="356040" y="2195640"/>
            <a:ext cx="11479680" cy="3235320"/>
          </a:xfrm>
          <a:prstGeom prst="rect">
            <a:avLst/>
          </a:prstGeom>
          <a:ln w="0">
            <a:noFill/>
          </a:ln>
        </p:spPr>
      </p:pic>
      <p:sp>
        <p:nvSpPr>
          <p:cNvPr id="88" name="TextBox 6"/>
          <p:cNvSpPr/>
          <p:nvPr/>
        </p:nvSpPr>
        <p:spPr>
          <a:xfrm>
            <a:off x="1710000" y="1514520"/>
            <a:ext cx="89150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26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</a:rPr>
              <a:t>Acoustic Profile to maps how different emotions physically sound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146160" y="215640"/>
            <a:ext cx="11347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accent1"/>
                </a:solidFill>
                <a:latin typeface="Aptos"/>
              </a:rPr>
              <a:t>Exploratory Data Analysis of the IEMOCAP Dataset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Picture 4" descr=""/>
          <p:cNvPicPr/>
          <p:nvPr/>
        </p:nvPicPr>
        <p:blipFill>
          <a:blip r:embed="rId1"/>
          <a:stretch/>
        </p:blipFill>
        <p:spPr>
          <a:xfrm>
            <a:off x="569160" y="1245960"/>
            <a:ext cx="10756080" cy="3558960"/>
          </a:xfrm>
          <a:prstGeom prst="rect">
            <a:avLst/>
          </a:prstGeom>
          <a:ln w="0">
            <a:noFill/>
          </a:ln>
        </p:spPr>
      </p:pic>
      <p:sp>
        <p:nvSpPr>
          <p:cNvPr id="91" name="TextBox 9"/>
          <p:cNvSpPr/>
          <p:nvPr/>
        </p:nvSpPr>
        <p:spPr>
          <a:xfrm>
            <a:off x="339840" y="4755240"/>
            <a:ext cx="728604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 u="sng">
                <a:solidFill>
                  <a:schemeClr val="dk1"/>
                </a:solidFill>
                <a:uFillTx/>
                <a:latin typeface="Aptos"/>
              </a:rPr>
              <a:t>Conclusions</a:t>
            </a: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Female speakers have a higher mean pitch than male speakers.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Speaking rate and RMS energy distributions are similar across genders.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2803680" y="1656720"/>
            <a:ext cx="62636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5400" spc="-1" strike="noStrike">
                <a:solidFill>
                  <a:schemeClr val="accent1"/>
                </a:solidFill>
                <a:latin typeface="Aptos"/>
              </a:rPr>
              <a:t>Research Question 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779400" y="2579760"/>
            <a:ext cx="11222640" cy="28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4000" spc="-1" strike="noStrike">
                <a:solidFill>
                  <a:schemeClr val="dk1"/>
                </a:solidFill>
                <a:latin typeface="Aptos"/>
              </a:rPr>
              <a:t>Can we predict  the </a:t>
            </a:r>
            <a:r>
              <a:rPr b="0" lang="en-GB" sz="4000" spc="-1" strike="noStrike">
                <a:solidFill>
                  <a:schemeClr val="accent2">
                    <a:lumMod val="75000"/>
                  </a:schemeClr>
                </a:solidFill>
                <a:latin typeface="Aptos"/>
              </a:rPr>
              <a:t>emotion</a:t>
            </a:r>
            <a:r>
              <a:rPr b="0" lang="en-GB" sz="4000" spc="-1" strike="noStrike">
                <a:solidFill>
                  <a:schemeClr val="dk1"/>
                </a:solidFill>
                <a:latin typeface="Aptos"/>
              </a:rPr>
              <a:t> of the speaker based only on his </a:t>
            </a:r>
            <a:r>
              <a:rPr b="0" lang="en-GB" sz="4000" spc="-1" strike="noStrike">
                <a:solidFill>
                  <a:schemeClr val="accent2">
                    <a:lumMod val="75000"/>
                  </a:schemeClr>
                </a:solidFill>
                <a:latin typeface="Aptos"/>
              </a:rPr>
              <a:t>acoustic-speech characteristics</a:t>
            </a:r>
            <a:r>
              <a:rPr b="0" lang="en-GB" sz="4000" spc="-1" strike="noStrike">
                <a:solidFill>
                  <a:schemeClr val="dk1"/>
                </a:solidFill>
                <a:latin typeface="Aptos"/>
              </a:rPr>
              <a:t>?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4000" spc="-1" strike="noStrike">
                <a:solidFill>
                  <a:schemeClr val="dk1"/>
                </a:solidFill>
                <a:latin typeface="Aptos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Aptos"/>
              </a:rPr>
              <a:t>(Characteristics: speaking_rate, pitch_mean, pitch_std, rms, relative_db)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146160" y="215640"/>
            <a:ext cx="11347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pc="-1" strike="noStrike">
                <a:solidFill>
                  <a:schemeClr val="accent1"/>
                </a:solidFill>
                <a:latin typeface="Aptos"/>
              </a:rPr>
              <a:t>PI</a:t>
            </a:r>
            <a:r>
              <a:rPr b="0" lang="en-US" sz="3600" spc="-1" strike="noStrike">
                <a:solidFill>
                  <a:schemeClr val="accent1"/>
                </a:solidFill>
                <a:latin typeface="Aptos"/>
              </a:rPr>
              <a:t>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5" name="Table 2"/>
          <p:cNvGraphicFramePr/>
          <p:nvPr/>
        </p:nvGraphicFramePr>
        <p:xfrm>
          <a:off x="1051920" y="888120"/>
          <a:ext cx="10286640" cy="4114080"/>
        </p:xfrm>
        <a:graphic>
          <a:graphicData uri="http://schemas.openxmlformats.org/drawingml/2006/table">
            <a:tbl>
              <a:tblPr/>
              <a:tblGrid>
                <a:gridCol w="2533680"/>
                <a:gridCol w="3688200"/>
                <a:gridCol w="4065120"/>
              </a:tblGrid>
              <a:tr h="503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S</a:t>
                      </a:r>
                      <a:r>
                        <a:rPr b="1" lang="de-DE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print </a:t>
                      </a: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#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Explanation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ptos"/>
                        </a:rPr>
                        <a:t>Team Roles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279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Sprint 1 - EDA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השלמת 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EDA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, מסקנות, איתור בעיות בדאטא, בחירת שאלת מחקר.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PO: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Chen Shmila</a:t>
                      </a:r>
                      <a:br>
                        <a:rPr sz="1800"/>
                      </a:b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Tech Lead: 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Ohad Lavie</a:t>
                      </a:r>
                      <a:br>
                        <a:rPr sz="1800"/>
                      </a:b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Data scientists: </a:t>
                      </a: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Alma Hova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230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Sprint 2 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– Algorithms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מימוש אלגוריתמים, פתרונות לבעיות שאותרו בספרינט 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1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PO:Alma Hova</a:t>
                      </a:r>
                      <a:br>
                        <a:rPr sz="1800"/>
                      </a:b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Tech Lead: 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Chen Shmila</a:t>
                      </a:r>
                      <a:br>
                        <a:rPr sz="1800"/>
                      </a:b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Data scientists: 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Ohad Lavie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10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Sprint 3 – Final Version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 rtl="1">
                        <a:lnSpc>
                          <a:spcPct val="100000"/>
                        </a:lnSpc>
                      </a:pPr>
                      <a:r>
                        <a:rPr b="0" lang="he-IL" sz="1800" spc="-1" strike="noStrike">
                          <a:solidFill>
                            <a:schemeClr val="dk1"/>
                          </a:solidFill>
                          <a:latin typeface="Aptos"/>
                        </a:rPr>
                        <a:t>מסקנות, מצגת סופית, מאמר, תיקונים.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PO: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Ohad Lavie</a:t>
                      </a:r>
                      <a:br>
                        <a:rPr sz="1800"/>
                      </a:b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Tech Lead: Alma Hova</a:t>
                      </a:r>
                      <a:br>
                        <a:rPr sz="1800"/>
                      </a:br>
                      <a:r>
                        <a:rPr b="0" lang="de-DE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Data scientists: 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ptos"/>
                          <a:ea typeface="Noto Sans CJK SC"/>
                        </a:rPr>
                        <a:t>Chen Shmila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6" name="TextBox 3"/>
          <p:cNvSpPr/>
          <p:nvPr/>
        </p:nvSpPr>
        <p:spPr>
          <a:xfrm>
            <a:off x="409680" y="5029200"/>
            <a:ext cx="46954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pc="-1" strike="noStrike" u="sng">
                <a:solidFill>
                  <a:schemeClr val="dk1"/>
                </a:solidFill>
                <a:uFillTx/>
                <a:latin typeface="Aptos"/>
              </a:rPr>
              <a:t>General</a:t>
            </a: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 (everyone‘s responsible):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git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Presentations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Sync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3"/>
          <p:cNvSpPr/>
          <p:nvPr/>
        </p:nvSpPr>
        <p:spPr>
          <a:xfrm>
            <a:off x="1576800" y="2413440"/>
            <a:ext cx="922896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60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ptos"/>
              </a:rPr>
              <a:t>Thank you for listening!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2026-05-27T07:37:11Z</dcterms:created>
  <dc:creator>Alma Hova</dc:creator>
  <dc:description/>
  <dc:language>en-US</dc:language>
  <cp:lastModifiedBy/>
  <dcterms:modified xsi:type="dcterms:W3CDTF">2026-05-28T11:45:30Z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11</vt:r8>
  </property>
</Properties>
</file>