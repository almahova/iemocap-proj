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5107C-ABF5-1505-02C0-1BBFAD092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5CD4A5-B100-A8E3-A471-64492D1884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6CBD1-7C7E-CD75-C7A2-B3FF1B10F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F798A-C5D1-AE71-4776-F2C17A52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7F891-0433-DDD0-44BB-72984C435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480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3B036-4DC8-14F5-759A-032053F46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15BFD-482B-ED42-0245-2EA1C998E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428EC-687C-6635-1819-392B737BF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3DE7-C4DE-11B1-C267-E0336D4AC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30B3E-A442-DBF8-F035-06A9D65F4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143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B34C4-11D3-FE7D-0222-2697289F9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7BD40-5672-1D12-AEC9-DF216E526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19BCA-1230-40AF-8B96-89714EF4F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AD5BC-E88B-6EB4-4B7A-F8298E679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8F68-2C8F-3164-A71A-AECFBC432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2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84CB-6468-8F8E-24DF-F65EC952B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778D-C88F-0599-CAF0-59D711B24F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4FBA0-78E5-C23A-58ED-EA8F19B88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72E1A2-D93F-2E7D-E896-7920D41B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38A82-15A1-8F59-9F08-AE438537D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52723-95FD-C06C-A748-B074CC4BA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90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DA385-2ACB-488F-A799-D3BEC8D73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94581-3C7D-0BB0-022F-72A84E3A2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F71A9-9413-DD5B-E770-989C7199C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4FFE82-93F3-9F30-F70B-377EDED13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22C0D-489E-57E6-9621-196BD1F9A3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770749-04E6-AB4C-48E6-0B8DBF9C9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44E52-C298-12F5-BD6F-D813640AD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D8B63-023D-A95F-2D33-9D48A0EBA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52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69925-47E7-965E-6B51-AC94A1B83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2D5D9-C950-3983-A429-7470325A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95F145-4133-AC83-ABBE-1A1335FD4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BEAC11-94BC-0890-56A3-08821C1F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941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217599-1844-DA42-F78D-9863CE00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4B8E84-F4F2-E980-1305-CBC16450E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6C263-6825-BF57-338D-C035A6BFF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22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1D025-A3E8-B7E0-73C9-CB6571EFD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21B71-7DEA-AB2F-7E38-4695577ED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DA47B-9894-33E6-1D87-EF9A591098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665419-D56F-70B7-61DF-430708C0E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88F9E-6B09-668F-08D8-838712A63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098D0-C7D2-0794-2F77-866BC1FF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707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2661-A79F-3638-50AF-01BB6AAC6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52AC3D-042E-9D13-3010-B60559B7B9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50DF87-3595-73CF-BB80-4E74F34F8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B50E8B-9280-4376-A417-6F1849A8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33A85D-9EA2-793A-F544-1A69DAAFB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7C454A-9AA4-5E0C-60CF-BBA3BE628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099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1F9F6-00B5-4A84-EED7-83711AF27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E605E-9D72-A9EF-8CC4-55B1189FFC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7469C-40AF-D57E-B7D1-49AEF92E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F8D4FC-6D57-538E-D65C-684906C7F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72B775-C04C-4B7C-D5BA-062164820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78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E734FA-9A92-13D2-6220-A85DB4BFE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E8C680-B69E-CB37-C046-56D60BAA12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2DD93-995C-6298-5CAA-534D736F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60E35-03A8-A1DD-FDCB-D469A3DD8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1E773-6A5F-6291-1CA5-2EF04C8FB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862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B88D43-27D0-A88B-732C-94659E800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EBA75F-8AFD-59D8-769C-70996F1A2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2C6B7-49EA-97EE-47DB-DCCD92575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BA8DB3-CFB6-4D35-BBC9-A5623B92D3C6}" type="datetimeFigureOut">
              <a:rPr lang="en-US" smtClean="0"/>
              <a:t>05/27/2026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0095D-4E04-6053-6F7D-B97B6FF26B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4A75-F078-19ED-AB76-30D4B1CF7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EB7EAA-3997-493D-BD99-B3AEFCE2F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66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9EE6F14-0B0C-DF30-381A-C5B95B367F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6256" y="3556318"/>
            <a:ext cx="9144000" cy="1655762"/>
          </a:xfrm>
        </p:spPr>
        <p:txBody>
          <a:bodyPr/>
          <a:lstStyle/>
          <a:p>
            <a:r>
              <a:rPr lang="en-US" dirty="0"/>
              <a:t>Chen </a:t>
            </a:r>
            <a:r>
              <a:rPr lang="en-US" dirty="0" err="1"/>
              <a:t>Shmila</a:t>
            </a:r>
            <a:r>
              <a:rPr lang="en-US" dirty="0"/>
              <a:t>, Alma Hova, Ohad Lavie</a:t>
            </a:r>
          </a:p>
          <a:p>
            <a:r>
              <a:rPr lang="en-US" dirty="0"/>
              <a:t>May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5C349F-2F6F-B15B-8C1D-77203C1A5A77}"/>
              </a:ext>
            </a:extLst>
          </p:cNvPr>
          <p:cNvSpPr/>
          <p:nvPr/>
        </p:nvSpPr>
        <p:spPr>
          <a:xfrm>
            <a:off x="532617" y="1279928"/>
            <a:ext cx="11126765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IEMOCAP Emotion Recognition </a:t>
            </a:r>
          </a:p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Data Science Project</a:t>
            </a:r>
          </a:p>
        </p:txBody>
      </p:sp>
    </p:spTree>
    <p:extLst>
      <p:ext uri="{BB962C8B-B14F-4D97-AF65-F5344CB8AC3E}">
        <p14:creationId xmlns:p14="http://schemas.microsoft.com/office/powerpoint/2010/main" val="988035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3DFF8-8AE8-9678-6D7D-26A7F337E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E6CC149-6CAD-7C74-3AFC-19295E21BEF4}"/>
              </a:ext>
            </a:extLst>
          </p:cNvPr>
          <p:cNvSpPr txBox="1"/>
          <p:nvPr/>
        </p:nvSpPr>
        <p:spPr>
          <a:xfrm>
            <a:off x="526542" y="1345264"/>
            <a:ext cx="11400282" cy="381642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en-US" sz="2400" i="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IEMOCAP — Interactive Emotional Dyadic Motion Capture corpus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10,039 utterances from 10 speakers (5 female, 5 male) across 5 dyadic sessions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Each session contains both improvised and scripted scenarios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Features include soft-label emotion scores, dimensional emotion ratings (activation, valence, dominance), and acoustic features (pitch, speaking rate, RMS energy)</a:t>
            </a:r>
          </a:p>
          <a:p>
            <a:pPr lvl="1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 10 emotion classes: </a:t>
            </a:r>
            <a:r>
              <a:rPr lang="en-GB" sz="2400" i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Mona Sans VF"/>
              </a:rPr>
              <a:t>neutral, frustrated, angry, sad, happy, excited, surprise, fear, disgust, other</a:t>
            </a:r>
            <a:endParaRPr lang="en-US" sz="2400" i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ona Sans VF"/>
            </a:endParaRPr>
          </a:p>
          <a:p>
            <a:pPr lvl="1">
              <a:spcAft>
                <a:spcPts val="1200"/>
              </a:spcAft>
            </a:pPr>
            <a:endParaRPr lang="en-US" sz="2400" i="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077103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F3BF3-8C12-7192-900E-62960D6C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DE7E17-9280-6525-8273-C7C71FA02199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5A9071-6E4E-FA1A-E1B3-BDCC5F63BE2A}"/>
              </a:ext>
            </a:extLst>
          </p:cNvPr>
          <p:cNvSpPr txBox="1"/>
          <p:nvPr/>
        </p:nvSpPr>
        <p:spPr>
          <a:xfrm>
            <a:off x="441071" y="950717"/>
            <a:ext cx="7388352" cy="2127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Dataset overview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 dataset contains no missing values, so no imputation is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 The numerical values in the data are consistent.</a:t>
            </a:r>
            <a:r>
              <a:rPr lang="en-GB" dirty="0"/>
              <a:t>  </a:t>
            </a:r>
            <a:endParaRPr lang="he-IL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The dataset is heavily imbalanced. frustrated and excited are the two most common classes – nearly half the data</a:t>
            </a:r>
            <a:r>
              <a:rPr lang="he-IL" dirty="0"/>
              <a:t>   </a:t>
            </a:r>
            <a:endParaRPr lang="en-GB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9058EC1-91D0-3705-38EF-9F15FADADB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668075"/>
              </p:ext>
            </p:extLst>
          </p:nvPr>
        </p:nvGraphicFramePr>
        <p:xfrm>
          <a:off x="8711437" y="950717"/>
          <a:ext cx="3242819" cy="43535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8571">
                  <a:extLst>
                    <a:ext uri="{9D8B030D-6E8A-4147-A177-3AD203B41FA5}">
                      <a16:colId xmlns:a16="http://schemas.microsoft.com/office/drawing/2014/main" val="60315916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3169171020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762776706"/>
                    </a:ext>
                  </a:extLst>
                </a:gridCol>
              </a:tblGrid>
              <a:tr h="343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 err="1"/>
                        <a:t>major_emotion</a:t>
                      </a:r>
                      <a:r>
                        <a:rPr lang="en-GB" sz="1200" dirty="0"/>
                        <a:t>            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Count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Percentage (%)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8637540"/>
                  </a:ext>
                </a:extLst>
              </a:tr>
              <a:tr h="3251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frustrated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2917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29.1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3923908"/>
                  </a:ext>
                </a:extLst>
              </a:tr>
              <a:tr h="4071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excited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789082"/>
                  </a:ext>
                </a:extLst>
              </a:tr>
              <a:tr h="3191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neutral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1726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458551"/>
                  </a:ext>
                </a:extLst>
              </a:tr>
              <a:tr h="38296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angry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12.6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36764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sad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1250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12.5</a:t>
                      </a:r>
                      <a:endParaRPr kumimoji="0" lang="en-GB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9089744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happy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656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617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surprise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3013007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fear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914565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4242153"/>
                  </a:ext>
                </a:extLst>
              </a:tr>
              <a:tr h="4103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disgust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2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0.0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1100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714625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7C5EF86F-F0E0-D2DD-1A3E-D53E2519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664" y="3135071"/>
            <a:ext cx="3454298" cy="35072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30139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5ADCF-F60C-03C9-D1EF-B510F4271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FA544F-B1FC-632A-8FF6-7E8947EC4AC4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A6B82-ABE0-850C-BEEF-FA830E590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78" y="1024128"/>
            <a:ext cx="9927243" cy="525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81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D669-FCB1-8E39-6311-9111ED38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3DD959-9B53-05B6-B4C0-758BB98A8FDF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654A9E-8554-865B-0E54-903301C1B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91" y="2195734"/>
            <a:ext cx="11480017" cy="32358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7D21D9-1548-72B9-94A7-D0F2F6339EF7}"/>
              </a:ext>
            </a:extLst>
          </p:cNvPr>
          <p:cNvSpPr txBox="1"/>
          <p:nvPr/>
        </p:nvSpPr>
        <p:spPr>
          <a:xfrm>
            <a:off x="1709928" y="1514386"/>
            <a:ext cx="891540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>
                <a:effectLst/>
                <a:latin typeface="Consolas" panose="020B0609020204030204" pitchFamily="49" charset="0"/>
              </a:rPr>
              <a:t>Acoustic Profile to maps how different emotions physically sound</a:t>
            </a:r>
          </a:p>
        </p:txBody>
      </p:sp>
    </p:spTree>
    <p:extLst>
      <p:ext uri="{BB962C8B-B14F-4D97-AF65-F5344CB8AC3E}">
        <p14:creationId xmlns:p14="http://schemas.microsoft.com/office/powerpoint/2010/main" val="2176527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AE2E5-BE2F-4F43-69A7-F315690FB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B78755-F35E-74BE-EA48-0827BB8F3EE4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9AA0B3-C94A-134B-2A42-7888A996C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045" y="1212790"/>
            <a:ext cx="5786651" cy="5130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BF383C4-9EE2-69F7-71B0-ADE251FEF41E}"/>
              </a:ext>
            </a:extLst>
          </p:cNvPr>
          <p:cNvSpPr txBox="1"/>
          <p:nvPr/>
        </p:nvSpPr>
        <p:spPr>
          <a:xfrm>
            <a:off x="146304" y="1150463"/>
            <a:ext cx="6217920" cy="4904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u="sng" dirty="0"/>
              <a:t>Conclusions</a:t>
            </a:r>
            <a:endParaRPr lang="en-US" sz="1600" b="0" u="sng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>
                <a:effectLst/>
              </a:rPr>
              <a:t>The strongest correlation in the matrix is between </a:t>
            </a:r>
            <a:r>
              <a:rPr lang="en-US" sz="1600" b="0" dirty="0" err="1">
                <a:effectLst/>
              </a:rPr>
              <a:t>EmoAct</a:t>
            </a:r>
            <a:r>
              <a:rPr lang="en-US" sz="1600" b="0" dirty="0">
                <a:effectLst/>
              </a:rPr>
              <a:t> and </a:t>
            </a:r>
            <a:r>
              <a:rPr lang="en-US" sz="1600" b="0" dirty="0" err="1">
                <a:effectLst/>
              </a:rPr>
              <a:t>EmoDom</a:t>
            </a:r>
            <a:r>
              <a:rPr lang="en-US" sz="1600" dirty="0"/>
              <a:t>.</a:t>
            </a:r>
            <a:r>
              <a:rPr lang="en-US" sz="1600" b="0" dirty="0">
                <a:effectLst/>
              </a:rPr>
              <a:t> </a:t>
            </a:r>
            <a:r>
              <a:rPr lang="en-US" sz="1600" b="1" dirty="0">
                <a:effectLst/>
              </a:rPr>
              <a:t>high activation emotions also tend to feel dominant. </a:t>
            </a:r>
            <a:endParaRPr lang="en-US" sz="1600" b="0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EmoAct</a:t>
            </a:r>
            <a:r>
              <a:rPr lang="en-US" sz="1600" b="0" dirty="0">
                <a:effectLst/>
              </a:rPr>
              <a:t> shows positive correlations with several acoustic features: rms, </a:t>
            </a:r>
            <a:r>
              <a:rPr lang="en-US" sz="1600" b="0" dirty="0" err="1">
                <a:effectLst/>
              </a:rPr>
              <a:t>pitch_std</a:t>
            </a:r>
            <a:r>
              <a:rPr lang="en-US" sz="1600" b="0" dirty="0">
                <a:effectLst/>
              </a:rPr>
              <a:t> , </a:t>
            </a:r>
            <a:r>
              <a:rPr lang="en-US" sz="1600" b="0" dirty="0" err="1">
                <a:effectLst/>
              </a:rPr>
              <a:t>pitch_mean</a:t>
            </a:r>
            <a:r>
              <a:rPr lang="en-US" sz="1600" b="0" dirty="0">
                <a:effectLst/>
              </a:rPr>
              <a:t>, and </a:t>
            </a:r>
            <a:r>
              <a:rPr lang="en-US" sz="1600" b="0" dirty="0" err="1">
                <a:effectLst/>
              </a:rPr>
              <a:t>speaking_rate</a:t>
            </a:r>
            <a:r>
              <a:rPr lang="en-US" sz="1600" b="0" dirty="0">
                <a:effectLst/>
              </a:rPr>
              <a:t>. </a:t>
            </a:r>
            <a:r>
              <a:rPr lang="en-US" sz="1600" b="1" dirty="0">
                <a:effectLst/>
              </a:rPr>
              <a:t>Energetic emotions being louder, higher pitched, and faster. 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pitch_mean</a:t>
            </a:r>
            <a:r>
              <a:rPr lang="en-US" sz="1600" b="0" dirty="0">
                <a:effectLst/>
              </a:rPr>
              <a:t> and </a:t>
            </a:r>
            <a:r>
              <a:rPr lang="en-US" sz="1600" b="0" dirty="0" err="1">
                <a:effectLst/>
              </a:rPr>
              <a:t>pitch_std</a:t>
            </a:r>
            <a:r>
              <a:rPr lang="en-US" sz="1600" b="0" dirty="0">
                <a:effectLst/>
              </a:rPr>
              <a:t> are also correlated. </a:t>
            </a:r>
            <a:r>
              <a:rPr lang="en-US" sz="1600" b="1" dirty="0">
                <a:effectLst/>
              </a:rPr>
              <a:t>Speakers with higher average pitch also vary their pitch more</a:t>
            </a:r>
            <a:r>
              <a:rPr lang="en-US" sz="1600" b="0" dirty="0">
                <a:effectLst/>
              </a:rPr>
              <a:t>.</a:t>
            </a:r>
            <a:endParaRPr lang="en-US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 err="1">
                <a:effectLst/>
              </a:rPr>
              <a:t>EmoVal</a:t>
            </a:r>
            <a:r>
              <a:rPr lang="en-US" sz="1600" dirty="0"/>
              <a:t> </a:t>
            </a:r>
            <a:r>
              <a:rPr lang="en-US" sz="1600" b="0" dirty="0">
                <a:effectLst/>
              </a:rPr>
              <a:t>is largely uncorrelated with all acoustic features</a:t>
            </a:r>
            <a:r>
              <a:rPr lang="en-US" sz="1600" dirty="0"/>
              <a:t>. </a:t>
            </a:r>
            <a:r>
              <a:rPr lang="en-US" sz="1600" b="1" dirty="0"/>
              <a:t>Di</a:t>
            </a:r>
            <a:r>
              <a:rPr lang="en-US" sz="1600" b="1" dirty="0">
                <a:effectLst/>
              </a:rPr>
              <a:t>fficulty of predicting valence from acoustics alone</a:t>
            </a:r>
            <a:r>
              <a:rPr lang="en-US" sz="1600" b="0" dirty="0">
                <a:effectLst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0" dirty="0">
                <a:effectLst/>
              </a:rPr>
              <a:t>rms and </a:t>
            </a:r>
            <a:r>
              <a:rPr lang="en-US" sz="1600" b="0" dirty="0" err="1">
                <a:effectLst/>
              </a:rPr>
              <a:t>relative_db</a:t>
            </a:r>
            <a:r>
              <a:rPr lang="en-US" sz="1600" b="0" dirty="0">
                <a:effectLst/>
              </a:rPr>
              <a:t> show near zero correlation, indicating they capture different aspects of loudness. </a:t>
            </a:r>
            <a:r>
              <a:rPr lang="en-US" sz="1600" b="1" dirty="0">
                <a:effectLst/>
              </a:rPr>
              <a:t>Should be treated as independent features rather than redundant ones.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73BC80-7160-0214-E571-307A56DCE527}"/>
              </a:ext>
            </a:extLst>
          </p:cNvPr>
          <p:cNvSpPr/>
          <p:nvPr/>
        </p:nvSpPr>
        <p:spPr>
          <a:xfrm>
            <a:off x="7004304" y="2566416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A05D23-0602-BEE0-ED28-157B0AFBECC4}"/>
              </a:ext>
            </a:extLst>
          </p:cNvPr>
          <p:cNvSpPr/>
          <p:nvPr/>
        </p:nvSpPr>
        <p:spPr>
          <a:xfrm>
            <a:off x="7013448" y="4669251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186BCB-C24A-9DE8-1C36-5E8266B19334}"/>
              </a:ext>
            </a:extLst>
          </p:cNvPr>
          <p:cNvSpPr/>
          <p:nvPr/>
        </p:nvSpPr>
        <p:spPr>
          <a:xfrm>
            <a:off x="9115794" y="4131279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9E5C89-9F8E-5AD9-F162-01CBC5D715F8}"/>
              </a:ext>
            </a:extLst>
          </p:cNvPr>
          <p:cNvSpPr/>
          <p:nvPr/>
        </p:nvSpPr>
        <p:spPr>
          <a:xfrm>
            <a:off x="9618714" y="4678395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DF4AC2-E12C-38FF-4EDB-0B7CF3BE1F53}"/>
              </a:ext>
            </a:extLst>
          </p:cNvPr>
          <p:cNvSpPr/>
          <p:nvPr/>
        </p:nvSpPr>
        <p:spPr>
          <a:xfrm>
            <a:off x="7534656" y="4669251"/>
            <a:ext cx="521208" cy="502920"/>
          </a:xfrm>
          <a:prstGeom prst="rect">
            <a:avLst/>
          </a:prstGeom>
          <a:solidFill>
            <a:srgbClr val="FFFF00">
              <a:alpha val="49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077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24DCE-B83B-F3F9-35F2-9F1E23ABD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7E5B31-0CC3-CC44-90C5-3E77AEF11C1F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04EEF3-1DFA-0C3B-86F1-F4B792CFC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59" y="824696"/>
            <a:ext cx="11237682" cy="33175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6CB8B-24D2-E80A-74DB-D0547F161A1D}"/>
              </a:ext>
            </a:extLst>
          </p:cNvPr>
          <p:cNvSpPr txBox="1"/>
          <p:nvPr/>
        </p:nvSpPr>
        <p:spPr>
          <a:xfrm>
            <a:off x="367137" y="4261104"/>
            <a:ext cx="11347704" cy="212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u="sng" dirty="0"/>
              <a:t>Conclusions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Angry scores highest on </a:t>
            </a:r>
            <a:r>
              <a:rPr lang="en-US" u="sng" dirty="0"/>
              <a:t>Activation</a:t>
            </a:r>
            <a:r>
              <a:rPr lang="en-US" dirty="0"/>
              <a:t>. followed by excited, both are high energy emotions. Sad and neutral score lowest.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On </a:t>
            </a:r>
            <a:r>
              <a:rPr lang="en-US" u="sng" dirty="0"/>
              <a:t>Valence</a:t>
            </a:r>
            <a:r>
              <a:rPr lang="en-US" dirty="0"/>
              <a:t>, happy and excited are the most positive, while angry, sad, and frustrated are the most negative.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Angry also scores highest on </a:t>
            </a:r>
            <a:r>
              <a:rPr lang="en-US" u="sng" dirty="0"/>
              <a:t>Dominance</a:t>
            </a:r>
            <a:r>
              <a:rPr lang="en-US" dirty="0"/>
              <a:t>, while fear and sad score low. </a:t>
            </a:r>
          </a:p>
        </p:txBody>
      </p:sp>
    </p:spTree>
    <p:extLst>
      <p:ext uri="{BB962C8B-B14F-4D97-AF65-F5344CB8AC3E}">
        <p14:creationId xmlns:p14="http://schemas.microsoft.com/office/powerpoint/2010/main" val="1823504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7AB84-5F65-8138-3671-FEA816749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06E7CC-E273-09C8-4BFE-B243454C07A1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Exploratory Data Analysis of the IEMOCAP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EA3EC-9A6F-4F01-2BE7-166781FD3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334" y="1246030"/>
            <a:ext cx="10756392" cy="35594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3E3739C-02C4-69E7-90EC-A0E3AACC2216}"/>
              </a:ext>
            </a:extLst>
          </p:cNvPr>
          <p:cNvSpPr txBox="1"/>
          <p:nvPr/>
        </p:nvSpPr>
        <p:spPr>
          <a:xfrm>
            <a:off x="339852" y="4755416"/>
            <a:ext cx="7286244" cy="1160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u="sng" dirty="0"/>
              <a:t>Conclusions</a:t>
            </a:r>
            <a:r>
              <a:rPr lang="en-GB" dirty="0"/>
              <a:t>:</a:t>
            </a:r>
          </a:p>
          <a:p>
            <a:pPr>
              <a:lnSpc>
                <a:spcPct val="150000"/>
              </a:lnSpc>
            </a:pPr>
            <a:r>
              <a:rPr lang="en-GB" dirty="0"/>
              <a:t>Female speakers have a higher mean pitch than male speakers.</a:t>
            </a:r>
          </a:p>
          <a:p>
            <a:pPr>
              <a:lnSpc>
                <a:spcPct val="150000"/>
              </a:lnSpc>
            </a:pPr>
            <a:r>
              <a:rPr lang="en-GB" dirty="0"/>
              <a:t>Speaking rate and RMS energy distributions are similar across genders.</a:t>
            </a:r>
          </a:p>
        </p:txBody>
      </p:sp>
    </p:spTree>
    <p:extLst>
      <p:ext uri="{BB962C8B-B14F-4D97-AF65-F5344CB8AC3E}">
        <p14:creationId xmlns:p14="http://schemas.microsoft.com/office/powerpoint/2010/main" val="42674804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55C1-76BB-FC1D-A7B8-8447ECB8D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4CE6B0-4905-0864-E89A-74B25CBF514A}"/>
              </a:ext>
            </a:extLst>
          </p:cNvPr>
          <p:cNvSpPr txBox="1"/>
          <p:nvPr/>
        </p:nvSpPr>
        <p:spPr>
          <a:xfrm>
            <a:off x="2803779" y="1656576"/>
            <a:ext cx="62640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Research Question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2B5AFE-E10D-4231-A2BF-E4B2999E5817}"/>
              </a:ext>
            </a:extLst>
          </p:cNvPr>
          <p:cNvSpPr txBox="1"/>
          <p:nvPr/>
        </p:nvSpPr>
        <p:spPr>
          <a:xfrm>
            <a:off x="779525" y="2579906"/>
            <a:ext cx="1122311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dirty="0"/>
              <a:t>Can we predict  the </a:t>
            </a:r>
            <a:r>
              <a:rPr lang="en-GB" sz="4000" dirty="0">
                <a:solidFill>
                  <a:schemeClr val="accent2">
                    <a:lumMod val="75000"/>
                  </a:schemeClr>
                </a:solidFill>
              </a:rPr>
              <a:t>emotion</a:t>
            </a:r>
            <a:r>
              <a:rPr lang="en-GB" sz="4000" dirty="0"/>
              <a:t> of the speaker based only on his </a:t>
            </a:r>
            <a:r>
              <a:rPr lang="en-GB" sz="4000" dirty="0">
                <a:solidFill>
                  <a:schemeClr val="accent2">
                    <a:lumMod val="75000"/>
                  </a:schemeClr>
                </a:solidFill>
              </a:rPr>
              <a:t>acoustic-speech characteristics</a:t>
            </a:r>
            <a:r>
              <a:rPr lang="en-GB" sz="4000" dirty="0"/>
              <a:t>?</a:t>
            </a:r>
          </a:p>
          <a:p>
            <a:r>
              <a:rPr lang="en-GB" sz="4000" dirty="0"/>
              <a:t> </a:t>
            </a:r>
          </a:p>
          <a:p>
            <a:r>
              <a:rPr lang="en-GB" dirty="0"/>
              <a:t>(Characteristics: </a:t>
            </a:r>
            <a:r>
              <a:rPr lang="en-GB" dirty="0" err="1"/>
              <a:t>speaking_rate</a:t>
            </a:r>
            <a:r>
              <a:rPr lang="en-GB" dirty="0"/>
              <a:t>, </a:t>
            </a:r>
            <a:r>
              <a:rPr lang="en-GB" dirty="0" err="1"/>
              <a:t>pitch_mean</a:t>
            </a:r>
            <a:r>
              <a:rPr lang="en-GB" dirty="0"/>
              <a:t>, </a:t>
            </a:r>
            <a:r>
              <a:rPr lang="en-GB" dirty="0" err="1"/>
              <a:t>pitch_std</a:t>
            </a:r>
            <a:r>
              <a:rPr lang="en-GB" dirty="0"/>
              <a:t>, rms, </a:t>
            </a:r>
            <a:r>
              <a:rPr lang="en-GB" dirty="0" err="1"/>
              <a:t>relative_db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1504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89A84-D4A6-142E-78F4-5C2773171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B24C7-B281-F366-F765-706F61BCC050}"/>
              </a:ext>
            </a:extLst>
          </p:cNvPr>
          <p:cNvSpPr txBox="1"/>
          <p:nvPr/>
        </p:nvSpPr>
        <p:spPr>
          <a:xfrm>
            <a:off x="146304" y="215651"/>
            <a:ext cx="113477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PI</a:t>
            </a:r>
            <a:r>
              <a:rPr lang="he-IL" sz="36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endParaRPr lang="en-US" sz="36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7C06703-7784-523D-E646-B4961939DE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025090"/>
              </p:ext>
            </p:extLst>
          </p:nvPr>
        </p:nvGraphicFramePr>
        <p:xfrm>
          <a:off x="2032000" y="1338791"/>
          <a:ext cx="8127999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4538342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32641605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644735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</a:t>
                      </a:r>
                      <a:r>
                        <a:rPr lang="de-DE" dirty="0" err="1"/>
                        <a:t>print</a:t>
                      </a:r>
                      <a:r>
                        <a:rPr lang="de-DE" dirty="0"/>
                        <a:t> </a:t>
                      </a:r>
                      <a:r>
                        <a:rPr lang="en-US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Explanation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Sprint Leader</a:t>
                      </a:r>
                      <a:r>
                        <a:rPr lang="he-IL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651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Sprint 1 - 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השלמת </a:t>
                      </a:r>
                      <a:r>
                        <a:rPr lang="en-US" dirty="0"/>
                        <a:t>EDA</a:t>
                      </a:r>
                      <a:r>
                        <a:rPr lang="he-IL" dirty="0"/>
                        <a:t>, מסקנות, איתור בעיות </a:t>
                      </a:r>
                      <a:r>
                        <a:rPr lang="he-IL" dirty="0" err="1"/>
                        <a:t>בדאטא</a:t>
                      </a:r>
                      <a:r>
                        <a:rPr lang="he-IL" dirty="0"/>
                        <a:t>, בחירת שאלת מחקר.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Alma Hova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654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Sprint 2 </a:t>
                      </a:r>
                      <a:r>
                        <a:rPr lang="en-US" dirty="0"/>
                        <a:t>– 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מימוש אלגוריתמים, פתרונות לבעיות שאותרו בספרינט 1.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Chen Smila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9146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Sprint 3 – Final 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/>
                      <a:r>
                        <a:rPr lang="he-IL" dirty="0"/>
                        <a:t>מסקנות, מצגת סופית, מאמר, תיקונים.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Ohad Lavie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28725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45AFA5B-9EDB-182E-3641-2FF79DDAF0CC}"/>
              </a:ext>
            </a:extLst>
          </p:cNvPr>
          <p:cNvSpPr txBox="1"/>
          <p:nvPr/>
        </p:nvSpPr>
        <p:spPr>
          <a:xfrm>
            <a:off x="409575" y="4614155"/>
            <a:ext cx="4695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General</a:t>
            </a:r>
            <a:r>
              <a:rPr lang="de-DE" dirty="0"/>
              <a:t> (</a:t>
            </a:r>
            <a:r>
              <a:rPr lang="de-DE" dirty="0" err="1"/>
              <a:t>everyone‘s</a:t>
            </a:r>
            <a:r>
              <a:rPr lang="de-DE" dirty="0"/>
              <a:t> </a:t>
            </a:r>
            <a:r>
              <a:rPr lang="de-DE" dirty="0" err="1"/>
              <a:t>responsible</a:t>
            </a:r>
            <a:r>
              <a:rPr lang="de-DE" dirty="0"/>
              <a:t>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git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Presentations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Sync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2391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F65A6-7FA9-0F1D-B11B-2F442A9B5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985EB1-1172-E467-9EC1-659033D5968D}"/>
              </a:ext>
            </a:extLst>
          </p:cNvPr>
          <p:cNvSpPr/>
          <p:nvPr/>
        </p:nvSpPr>
        <p:spPr>
          <a:xfrm>
            <a:off x="2066404" y="2413337"/>
            <a:ext cx="8249694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60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2080171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555</Words>
  <Application>Microsoft Office PowerPoint</Application>
  <PresentationFormat>Widescreen</PresentationFormat>
  <Paragraphs>88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Mona Sans VF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Alma Hova</dc:creator>
  <cp:lastModifiedBy>Alma Hova</cp:lastModifiedBy>
  <cp:revision>3</cp:revision>
  <dcterms:created xsi:type="dcterms:W3CDTF">2026-05-27T07:37:11Z</dcterms:created>
  <dcterms:modified xsi:type="dcterms:W3CDTF">2026-05-27T10:02:10Z</dcterms:modified>
</cp:coreProperties>
</file>