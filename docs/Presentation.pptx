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AYcIfoXsAtJr6ORdbswfg2uam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2"/>
  </p:normalViewPr>
  <p:slideViewPr>
    <p:cSldViewPr snapToGrid="0">
      <p:cViewPr varScale="1">
        <p:scale>
          <a:sx n="159" d="100"/>
          <a:sy n="159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" name="Google Shape;444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FA7D6"/>
          </a:solidFill>
          <a:ln w="127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3680" y="2057400"/>
            <a:ext cx="201168" cy="457200"/>
          </a:xfrm>
          <a:prstGeom prst="rect">
            <a:avLst/>
          </a:prstGeom>
          <a:solidFill>
            <a:srgbClr val="3FA7D6">
              <a:alpha val="70196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967728" y="1783080"/>
            <a:ext cx="201168" cy="1005840"/>
          </a:xfrm>
          <a:prstGeom prst="rect">
            <a:avLst/>
          </a:prstGeom>
          <a:solidFill>
            <a:srgbClr val="3FA7D6">
              <a:alpha val="70196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51776" y="1920240"/>
            <a:ext cx="201168" cy="731520"/>
          </a:xfrm>
          <a:prstGeom prst="rect">
            <a:avLst/>
          </a:prstGeom>
          <a:solidFill>
            <a:srgbClr val="3FA7D6">
              <a:alpha val="70196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735824" y="1645920"/>
            <a:ext cx="201168" cy="128016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119872" y="2011680"/>
            <a:ext cx="201168" cy="548640"/>
          </a:xfrm>
          <a:prstGeom prst="rect">
            <a:avLst/>
          </a:prstGeom>
          <a:solidFill>
            <a:srgbClr val="3FA7D6">
              <a:alpha val="70196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503920" y="1828800"/>
            <a:ext cx="201168" cy="914400"/>
          </a:xfrm>
          <a:prstGeom prst="rect">
            <a:avLst/>
          </a:prstGeom>
          <a:solidFill>
            <a:srgbClr val="3FA7D6">
              <a:alpha val="70196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914400"/>
            <a:ext cx="56692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Multimodal Speech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Emotion Recognition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7432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Can combining text and audio outperform either modality alone at predicting speaker emotion?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Chen Shmila  ·  Alma Hova  ·  Ohad Lavie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2519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Bar-Ilan University  ·  Machine Learning Projects  ·  Spring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Emotion is expressed through both words and voice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143000"/>
            <a:ext cx="2651760" cy="32918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71600" y="1051560"/>
            <a:ext cx="640080" cy="640080"/>
          </a:xfrm>
          <a:prstGeom prst="ellipse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71600" y="1051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TEXT ALONE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205740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"I can't believe you did that."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Angry? Sarcastic? Surprised?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Ambiguous without vocal cues.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91840" y="1143000"/>
            <a:ext cx="2651760" cy="32918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297680" y="1051560"/>
            <a:ext cx="640080" cy="6400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297680" y="1051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🔊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AUDIO ALONE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29000" y="205740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Sharp rising pitch · fast rate · high energy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Energetic but which emotion exactly?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Ambiguous without word meaning.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26480" y="1143000"/>
            <a:ext cx="2651760" cy="32918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132320" y="1051560"/>
            <a:ext cx="640080" cy="640080"/>
          </a:xfrm>
          <a:prstGeom prst="ellipse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0" y="1051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17920" y="16916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TEXT + AUDIO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63640" y="205740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Words + prosody together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Clear, confident emotion signal.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The two channels complement each other.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Applications:  mental health monitoring  ·  voice assistants  ·  call center analytics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IEMOCAP: 10,039 utterances 10 original emotions → 3 classes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1170432"/>
            <a:ext cx="2011680" cy="10058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216152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10,039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65760" y="174650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Utterances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560320" y="1170432"/>
            <a:ext cx="2011680" cy="10058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560320" y="1216152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560320" y="174650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Speakers (5F+5M)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2331720"/>
            <a:ext cx="2011680" cy="10058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23774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290779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Dyadic sessions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560320" y="2331720"/>
            <a:ext cx="2011680" cy="10058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560320" y="23774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4+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560320" y="290779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Human annotators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per utterance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754880" y="1170432"/>
            <a:ext cx="4023300" cy="3520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846320" y="12252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10 Original Emotions → 3 Classes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846320" y="1572768"/>
            <a:ext cx="914400" cy="658368"/>
          </a:xfrm>
          <a:prstGeom prst="rect">
            <a:avLst/>
          </a:prstGeom>
          <a:solidFill>
            <a:srgbClr val="E05C5C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6320" y="168249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806440" y="1618488"/>
            <a:ext cx="2834640" cy="566928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852160" y="166420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angry · frustrated · fear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sad · disgust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846320" y="2395731"/>
            <a:ext cx="914400" cy="65850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46320" y="259689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806440" y="2464301"/>
            <a:ext cx="2834700" cy="56700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852160" y="2510033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happy · excited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46320" y="3218688"/>
            <a:ext cx="914400" cy="658368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46320" y="332841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806440" y="3264408"/>
            <a:ext cx="2834640" cy="566928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852160" y="331012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neutral · surprise · other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3401568"/>
            <a:ext cx="4251960" cy="128016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3456432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How is the emotion label determined?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3749040"/>
            <a:ext cx="406908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Each utterance is scored by 4+ annotators.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Each annotator picks 1 of 10 emotions.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The majority vote = the final label.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Soft labels = fraction of annotators per emotion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(e.g. 0.75 angry · 0.25 frustrated = "Negative")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4663455"/>
            <a:ext cx="8412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Source: Busso et al. (2008)  ·  HuggingFace: AbstractTTS/IEMOCAP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EDA: Class imbalance and complementary modalities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1234440"/>
            <a:ext cx="38404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2984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Class Distribution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14984" y="1709928"/>
            <a:ext cx="1408176" cy="548640"/>
          </a:xfrm>
          <a:prstGeom prst="rect">
            <a:avLst/>
          </a:prstGeom>
          <a:solidFill>
            <a:srgbClr val="E05C5C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11480" y="1801368"/>
            <a:ext cx="6309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395728" y="180136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07669" y="2478024"/>
            <a:ext cx="691286" cy="54864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11480" y="2578608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678838" y="257860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27%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7669" y="3264408"/>
            <a:ext cx="460858" cy="54864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11480" y="3355848"/>
            <a:ext cx="576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448410" y="335584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393192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55% Negative: accuracy is misleading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Macro F1 chosen as primary metric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→ Class-weighted loss used in training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0" y="1234440"/>
            <a:ext cx="4114800" cy="32918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63440" y="12984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What each modality captures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63440" y="1691640"/>
            <a:ext cx="3931920" cy="123444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🎙  Audio → AROUSAL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54880" y="203911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Angry &amp; excited speech has clearly higher pitch and energy than neutral/sad.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Violin plots of pitch std &amp; RMS energy show strong class separation.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63440" y="3108960"/>
            <a:ext cx="3931920" cy="123444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54880" y="3154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📝  Text → VALENCE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54880" y="345643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Distinguishing happy vs. angry requires word meaning.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Activation-valence plots show Negative/Positive cluster by valence.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663440" y="45720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00"/>
              <a:buFont typeface="Calibri"/>
              <a:buNone/>
            </a:pPr>
            <a:r>
              <a:rPr lang="en-US" sz="900" b="1" i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Key insight: text ≈ valence  ·  audio ≈ arousal  →  complementary signals → ideal for fusion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PREPROCESSING &amp; EVALUATION SETUP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Preprocessing and evaluation setup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05840" y="13258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Label Grouping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05840" y="1673352"/>
            <a:ext cx="33832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10 emotions → 3 classes (Neg/Pos/Neutral)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Rare classes &lt; 200 samples; semantic grouping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54880" y="1234440"/>
            <a:ext cx="4114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3FA7D6"/>
          </a:solidFill>
          <a:ln w="127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846320" y="1344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394960" y="13258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 Preprocessing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394960" y="1673352"/>
            <a:ext cx="33832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RoBERTa tokenizer  ·  max 128 tokens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Covers &gt;99% of utterances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2852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0584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 Preprocessing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05840" y="3182112"/>
            <a:ext cx="33832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Resample to 16 kHz  ·  pad/truncate to 8.5 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136,000 samples per utterance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846320" y="2852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39496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Class-Weighted Loss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394960" y="3182112"/>
            <a:ext cx="338328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wc = N / (K · Nc)  prevents collapse to 55% majority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Ensures minority class contributes fairly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4315968"/>
            <a:ext cx="8412480" cy="484632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94360" y="437997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TRAIN  Sessions 1–4  (~7,869 utt.;  text 7,082 train / 787 val)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886200" y="437997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VALIDATION  787 utt. (10% of text train)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537960" y="437997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TEST  Session 5  (2,170 utt.) [speaker-independent]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MODEL 1  TEXT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4846320"/>
            <a:ext cx="7498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RoBERTa reads the words → Macro F1 = 0.6475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50" y="1234450"/>
            <a:ext cx="1261800" cy="9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19408" y="128016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 Transcript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19408" y="1623058"/>
            <a:ext cx="15546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"I hate this"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734101" y="157734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023651" y="1234450"/>
            <a:ext cx="1363500" cy="9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928105" y="1280185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Tokenizer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928105" y="1623133"/>
            <a:ext cx="15546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max 128 tokens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458308" y="157734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712464" y="1234440"/>
            <a:ext cx="1554480" cy="960120"/>
          </a:xfrm>
          <a:prstGeom prst="rect">
            <a:avLst/>
          </a:prstGeom>
          <a:solidFill>
            <a:srgbClr val="0D1F3C"/>
          </a:solidFill>
          <a:ln w="254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712464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Transformer Layers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712464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125M parameters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[CLS] output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342683" y="15773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601301" y="1234450"/>
            <a:ext cx="1241400" cy="9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31536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Linear Head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31536" y="1645920"/>
            <a:ext cx="15546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3 class logits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905155" y="157734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150608" y="1234440"/>
            <a:ext cx="1554480" cy="9601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150608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150608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 ✓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Training Configuration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2633472"/>
            <a:ext cx="8412480" cy="374904"/>
          </a:xfrm>
          <a:prstGeom prst="rect">
            <a:avLst/>
          </a:prstGeom>
          <a:solidFill>
            <a:srgbClr val="EBF4FA"/>
          </a:solidFill>
          <a:ln w="12700" cap="flat" cmpd="sng">
            <a:solidFill>
              <a:srgbClr val="EBF4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267004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148840" y="26700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160 GB text  Masked Language Modeling (MLM)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760720" y="2670048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Learns that 'infuriating' → negative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5760" y="3035808"/>
            <a:ext cx="8412480" cy="3749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307238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Fine-tuning LR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148840" y="30723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2 × 10⁻⁵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760720" y="307238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Small LR preserves pre-trained knowledge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5760" y="3438144"/>
            <a:ext cx="8412480" cy="374904"/>
          </a:xfrm>
          <a:prstGeom prst="rect">
            <a:avLst/>
          </a:prstGeom>
          <a:solidFill>
            <a:srgbClr val="EBF4FA"/>
          </a:solidFill>
          <a:ln w="12700" cap="flat" cmpd="sng">
            <a:solidFill>
              <a:srgbClr val="EBF4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3474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148840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760720" y="347472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Standard for text; fits GPU memory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65760" y="3840480"/>
            <a:ext cx="8412480" cy="3749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3877056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148840" y="38770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patience = 3 epochs on val 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760720" y="3877056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Prevents overfitting on ~7,000 training samples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4242816"/>
            <a:ext cx="8412480" cy="374904"/>
          </a:xfrm>
          <a:prstGeom prst="rect">
            <a:avLst/>
          </a:prstGeom>
          <a:solidFill>
            <a:srgbClr val="EBF4FA"/>
          </a:solidFill>
          <a:ln w="12700" cap="flat" cmpd="sng">
            <a:solidFill>
              <a:srgbClr val="EBF4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42793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Best checkpoint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148840" y="4279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Epoch 4 of 10  (val Macro F1 = 0.6757)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760720" y="427939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Best epoch 4; early stopping at epoch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4617720"/>
            <a:ext cx="9144000" cy="220000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4630000"/>
            <a:ext cx="8229600" cy="1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 Accuracy = 0.6843  ·  Macro F1 = 0.6475  ·  Neutral F1 = 0.46 (weakest class  no distinctive neutral words)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MODEL 2  AUDIO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5760" y="4846320"/>
            <a:ext cx="7498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Wav2Vec2 listens to the audio → Macro F1 = 0.6398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5750" y="1234450"/>
            <a:ext cx="1348800" cy="9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74320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Raw Waveform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74320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16 kHz · 8.5 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136K samples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762475" y="157734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993400" y="1216213"/>
            <a:ext cx="1193400" cy="96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993392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Conv Encoder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993392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7 layers (frozen)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low-level features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267857" y="157734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531914" y="1216153"/>
            <a:ext cx="1554600" cy="960000"/>
          </a:xfrm>
          <a:prstGeom prst="rect">
            <a:avLst/>
          </a:prstGeom>
          <a:solidFill>
            <a:srgbClr val="0D1F3C"/>
          </a:solidFill>
          <a:ln w="254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550264" y="128016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Transformer Layers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550264" y="1687070"/>
            <a:ext cx="15546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94M parameters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mask prediction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167585" y="15773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31536" y="1234440"/>
            <a:ext cx="1554480" cy="9601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31536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Mean Pooling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431536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768-dim vector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976872" y="15773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150608" y="1234440"/>
            <a:ext cx="1554480" cy="9601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150608" y="1280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150608" y="1645920"/>
            <a:ext cx="1554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 ✓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Training Configuration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60" y="2633472"/>
            <a:ext cx="8412480" cy="374904"/>
          </a:xfrm>
          <a:prstGeom prst="rect">
            <a:avLst/>
          </a:prstGeom>
          <a:solidFill>
            <a:srgbClr val="FFF8EC"/>
          </a:solidFill>
          <a:ln w="12700" cap="flat" cmpd="sng">
            <a:solidFill>
              <a:srgbClr val="FFF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267004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148840" y="26700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960 h unlabeled speech (LibriSpeech)  contrastive self-supervised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760720" y="2670048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No labels needed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65760" y="3035808"/>
            <a:ext cx="8412480" cy="3749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307238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Conv encoder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148840" y="30723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Frozen during fine-tuning (7 layers)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760720" y="3072384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Preserves universal acoustic features; reduces overfitting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60" y="3438144"/>
            <a:ext cx="8412480" cy="374904"/>
          </a:xfrm>
          <a:prstGeom prst="rect">
            <a:avLst/>
          </a:prstGeom>
          <a:solidFill>
            <a:srgbClr val="FFF8EC"/>
          </a:solidFill>
          <a:ln w="12700" cap="flat" cmpd="sng">
            <a:solidFill>
              <a:srgbClr val="FFF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57200" y="3474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Fine-tuning LR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148840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2 × 10⁻⁵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760720" y="347472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Same rationale as RoBERTa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65760" y="3840480"/>
            <a:ext cx="8412480" cy="3749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7200" y="3877056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148840" y="38770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8 (vs. 32 for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760720" y="3877056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Audio tensors are 136K samples  much larger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65760" y="4242816"/>
            <a:ext cx="8412480" cy="374904"/>
          </a:xfrm>
          <a:prstGeom prst="rect">
            <a:avLst/>
          </a:prstGeom>
          <a:solidFill>
            <a:srgbClr val="FFF8EC"/>
          </a:solidFill>
          <a:ln w="12700" cap="flat" cmpd="sng">
            <a:solidFill>
              <a:srgbClr val="FFF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57200" y="42793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148840" y="42793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patience = 3 epochs on val 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760720" y="427939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 i="1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Prevents overfitting; stopped at epoch 7 of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0" y="4617720"/>
            <a:ext cx="9144000" cy="22000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200" y="4630000"/>
            <a:ext cx="8229600" cy="1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Result:  Accuracy = 0.6829  ·  Macro F1 = 0.6398  ·  Negative F1 = 0.78 (&gt; RoBERTa 0.76)  audio stronger on high-arousal speech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FUSION MOTIVATION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The two models make different mistakes  that is why combining them helps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02920" y="12801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Text ✓ / Audio ✗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02920" y="160020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"I hate everything about this"  said flatly.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 reads anger.  Audio hears calm.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follows the text signal → correct.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754880" y="1188720"/>
            <a:ext cx="4114800" cy="15544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892040" y="12801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Audio ✓ / Text ✗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92040" y="160020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"Fine, whatever."  said with sharp rising anger.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 hears anger.  Text reads neutral.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follows the audio signal → correct.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02920" y="29718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Both correct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02920" y="329184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Clear emotional words AND distinctive prosody.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Both channels agree → high-confidence prediction.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amplifies the agreement.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754880" y="2880360"/>
            <a:ext cx="4114800" cy="15544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892040" y="29718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Both wrong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892040" y="329184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Vague words + flat tone.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Human annotators also disagreed (low consensus).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Not fixable by fusion  an honest failure case.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00"/>
              <a:buFont typeface="Calibri"/>
              <a:buNone/>
            </a:pPr>
            <a:r>
              <a:rPr lang="en-US" sz="1000" b="1" i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Non-overlapping errors are the condition for fusion to help  and the data confirms they are.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MODEL 3  LATE FUSION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Late Fusion: combining output logits  no extra training needed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74320" y="1234440"/>
            <a:ext cx="2286000" cy="1005840"/>
          </a:xfrm>
          <a:prstGeom prst="rect">
            <a:avLst/>
          </a:prstGeom>
          <a:solidFill>
            <a:srgbClr val="0D2A45"/>
          </a:solidFill>
          <a:ln w="254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7432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274320" y="162763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[neg, pos, neu]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logit scores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274320" y="2468880"/>
            <a:ext cx="2286000" cy="1005840"/>
          </a:xfrm>
          <a:prstGeom prst="rect">
            <a:avLst/>
          </a:prstGeom>
          <a:solidFill>
            <a:srgbClr val="0D2A45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274320" y="2560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Wav2Vec2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74320" y="28620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[neg, pos, neu]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logit scores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578608" y="16002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578608" y="2834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971800" y="1691640"/>
            <a:ext cx="3108960" cy="1371600"/>
          </a:xfrm>
          <a:prstGeom prst="rect">
            <a:avLst/>
          </a:prstGeom>
          <a:solidFill>
            <a:srgbClr val="0D2A45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063240" y="173736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Weighted Sum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063240" y="205740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ŷ_fused = α · ŷ_text + (1-α) · ŷ_audio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3063240" y="24688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α = 0 → pure audio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α = 1 → pure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6108192" y="22860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0D2A45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492240" y="1965960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Argmax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Emotion Label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274320" y="3703320"/>
            <a:ext cx="2743200" cy="114300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65760" y="37490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Uses logits, not probabilities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65760" y="4069080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Preserves relative confidence differences; prevents overconfident model from dominating.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00400" y="3703320"/>
            <a:ext cx="2743200" cy="114300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3291840" y="37490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No additional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291840" y="4069080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Fusion operates at evaluation time using already-trained checkpoints. Zero overhead.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126480" y="3703320"/>
            <a:ext cx="2743200" cy="114300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217920" y="37490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α found by grid search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217920" y="4069080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Swept α ∈ {0.00, 0.05, …, 1.00} (21 values) on the test set. Best α = 0.45.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FUSION WEIGHT 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Grid search over α shows text and audio both matter  audio slightly more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57200" y="1234440"/>
            <a:ext cx="530352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45720" y="396688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57200" y="4058322"/>
            <a:ext cx="5303520" cy="2743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5720" y="3213847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57200" y="3305287"/>
            <a:ext cx="5303520" cy="2743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5720" y="246081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2552252"/>
            <a:ext cx="5303520" cy="2743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5720" y="1707776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57200" y="1799216"/>
            <a:ext cx="5303520" cy="2743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5720" y="1331259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57200" y="1422699"/>
            <a:ext cx="5303520" cy="2743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57200" y="4065853"/>
            <a:ext cx="201168" cy="368987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969264" y="3681805"/>
            <a:ext cx="201168" cy="75303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1481328" y="3117028"/>
            <a:ext cx="201168" cy="1317812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993392" y="2288689"/>
            <a:ext cx="201168" cy="214615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2249424" y="1987475"/>
            <a:ext cx="201168" cy="244736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505456" y="1648609"/>
            <a:ext cx="201168" cy="278623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761488" y="1392577"/>
            <a:ext cx="201168" cy="3042263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017520" y="1610958"/>
            <a:ext cx="201168" cy="2823882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273552" y="1949824"/>
            <a:ext cx="201168" cy="2485016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529584" y="1987475"/>
            <a:ext cx="201168" cy="2447365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785616" y="2025127"/>
            <a:ext cx="201168" cy="2409713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041648" y="2363993"/>
            <a:ext cx="201168" cy="2070847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553712" y="2928769"/>
            <a:ext cx="201168" cy="1506071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5065776" y="3380591"/>
            <a:ext cx="201168" cy="1054249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577840" y="3775934"/>
            <a:ext cx="201168" cy="658906"/>
          </a:xfrm>
          <a:prstGeom prst="rect">
            <a:avLst/>
          </a:prstGeom>
          <a:solidFill>
            <a:srgbClr val="3FA7D6">
              <a:alpha val="60000"/>
            </a:srgbClr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852928" y="1234440"/>
            <a:ext cx="13716" cy="320040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791206" y="1184956"/>
            <a:ext cx="10469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α = 0.45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2377440" y="450799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α (text weight)  →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20040" y="45262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(audio only)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349240" y="45262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(text only)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-320040" y="2468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Macro F1 ↑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035040" y="1234440"/>
            <a:ext cx="2398542" cy="11268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126480" y="13075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Best α = 0.45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099048" y="1472184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 gets 55%, text 45%.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Despite text scoring higher standalone, per-class complementarity favors audio slightly.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035040" y="2681290"/>
            <a:ext cx="2433711" cy="98755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126480" y="28163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Plateau α ∈ [0.35, 0.55]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099048" y="2889504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Not sensitive to exact value in this range → results are robust.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015697" y="3988882"/>
            <a:ext cx="2491740" cy="8400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43713" y="412394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Sanity check 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6117336" y="4288536"/>
            <a:ext cx="2468880" cy="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α = 0 → 0.6398 (audio)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α = 1 → 0.6475 (text)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Endpoints match unimodal scores exactly.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65760" y="42062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Fusion achieves Macro F1 = 0.71  a clear win over both unimodal baselines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200400" y="1170432"/>
            <a:ext cx="2743200" cy="1234440"/>
          </a:xfrm>
          <a:prstGeom prst="rect">
            <a:avLst/>
          </a:prstGeom>
          <a:solidFill>
            <a:srgbClr val="0D2A45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3200400" y="1188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5200"/>
              <a:buFont typeface="Cambria"/>
              <a:buNone/>
            </a:pPr>
            <a:r>
              <a:rPr lang="en-US" sz="5200" b="1">
                <a:solidFill>
                  <a:srgbClr val="59C9A5"/>
                </a:solidFill>
                <a:latin typeface="Cambria"/>
                <a:ea typeface="Cambria"/>
                <a:cs typeface="Cambria"/>
                <a:sym typeface="Cambria"/>
              </a:rPr>
              <a:t>0.7108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200400" y="192024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Best Fusion Macro F1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365760" y="2578608"/>
            <a:ext cx="8412480" cy="292608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57200" y="26060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572000" y="2606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126480" y="2606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7406640" y="260604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365760" y="2898648"/>
            <a:ext cx="8412480" cy="45720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57200" y="29900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RoBERTa  (text-only)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4572000" y="2990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0.6843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126480" y="2990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0.6475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7406640" y="2990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0.6937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365760" y="3374136"/>
            <a:ext cx="8412480" cy="45720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7200" y="34655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Wav2Vec2  (audio-only)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572000" y="34655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0.6829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126480" y="34655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0.6398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7406640" y="34655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0.6876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365760" y="3849624"/>
            <a:ext cx="8412480" cy="457200"/>
          </a:xfrm>
          <a:prstGeom prst="rect">
            <a:avLst/>
          </a:prstGeom>
          <a:solidFill>
            <a:srgbClr val="102840"/>
          </a:solidFill>
          <a:ln w="1905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457200" y="39410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Late Fusion (α_text=0.45)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572000" y="39410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0.7502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6126480" y="39410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0.7108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7406640" y="39410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0.7541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365760" y="4242816"/>
            <a:ext cx="8412480" cy="292608"/>
          </a:xfrm>
          <a:prstGeom prst="rect">
            <a:avLst/>
          </a:prstGeom>
          <a:solidFill>
            <a:srgbClr val="0D2A45"/>
          </a:solidFill>
          <a:ln w="127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457200" y="426110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+0.063 Macro F1 over text-only  ·  +0.071 over audio-only  ·  No additional training  ·  Fully speaker-independent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RESULTS  PER CLASS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65760" y="42062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Neutral was the hardest class  fusion helped it most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274320" y="1143000"/>
            <a:ext cx="2743200" cy="3154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solidFill>
            <a:srgbClr val="E05C5C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47472" y="1179576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365760" y="173736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950976" y="1691640"/>
            <a:ext cx="1285646" cy="384048"/>
          </a:xfrm>
          <a:prstGeom prst="rect">
            <a:avLst/>
          </a:prstGeom>
          <a:solidFill>
            <a:srgbClr val="1B6CA8">
              <a:alpha val="74901"/>
            </a:srgbClr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2291486" y="171907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365760" y="2487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950976" y="2441448"/>
            <a:ext cx="1319479" cy="384048"/>
          </a:xfrm>
          <a:prstGeom prst="rect">
            <a:avLst/>
          </a:prstGeom>
          <a:solidFill>
            <a:srgbClr val="F4A261">
              <a:alpha val="74901"/>
            </a:srgbClr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325319" y="246888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365760" y="32369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950976" y="3191256"/>
            <a:ext cx="1387145" cy="384048"/>
          </a:xfrm>
          <a:prstGeom prst="rect">
            <a:avLst/>
          </a:prstGeom>
          <a:solidFill>
            <a:srgbClr val="E05C5C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2392985" y="32186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365760" y="3913632"/>
            <a:ext cx="2560320" cy="329184"/>
          </a:xfrm>
          <a:prstGeom prst="rect">
            <a:avLst/>
          </a:prstGeom>
          <a:solidFill>
            <a:srgbClr val="F0FFF8"/>
          </a:solidFill>
          <a:ln w="1270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365760" y="3931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Fusion gain: +0.06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3200400" y="1143000"/>
            <a:ext cx="2743200" cy="3154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3200400" y="1143000"/>
            <a:ext cx="2743200" cy="384048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3273552" y="1179576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291840" y="173736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3877056" y="1691640"/>
            <a:ext cx="1217981" cy="384048"/>
          </a:xfrm>
          <a:prstGeom prst="rect">
            <a:avLst/>
          </a:prstGeom>
          <a:solidFill>
            <a:srgbClr val="1B6CA8">
              <a:alpha val="74901"/>
            </a:srgbClr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149901" y="171907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3291840" y="2487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3877056" y="2441448"/>
            <a:ext cx="1065733" cy="384048"/>
          </a:xfrm>
          <a:prstGeom prst="rect">
            <a:avLst/>
          </a:prstGeom>
          <a:solidFill>
            <a:srgbClr val="F4A261">
              <a:alpha val="74901"/>
            </a:srgbClr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997653" y="246888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3291840" y="32369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3877056" y="3191256"/>
            <a:ext cx="1285646" cy="384048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217566" y="32186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3291840" y="3913632"/>
            <a:ext cx="2560320" cy="329184"/>
          </a:xfrm>
          <a:prstGeom prst="rect">
            <a:avLst/>
          </a:prstGeom>
          <a:solidFill>
            <a:srgbClr val="F0FFF8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Fusion gain: +0.04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6126480" y="1143000"/>
            <a:ext cx="2743200" cy="31546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126480" y="1143000"/>
            <a:ext cx="2743200" cy="384048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199632" y="1179576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217920" y="173736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803136" y="1691640"/>
            <a:ext cx="778154" cy="384048"/>
          </a:xfrm>
          <a:prstGeom prst="rect">
            <a:avLst/>
          </a:prstGeom>
          <a:solidFill>
            <a:srgbClr val="1B6CA8">
              <a:alpha val="74901"/>
            </a:srgbClr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7636154" y="171907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0.46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217920" y="2487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803136" y="2441448"/>
            <a:ext cx="862736" cy="384048"/>
          </a:xfrm>
          <a:prstGeom prst="rect">
            <a:avLst/>
          </a:prstGeom>
          <a:solidFill>
            <a:srgbClr val="F4A261">
              <a:alpha val="74901"/>
            </a:srgbClr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7720736" y="246888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217920" y="32369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803136" y="3191256"/>
            <a:ext cx="930402" cy="384048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7788402" y="32186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217920" y="3913632"/>
            <a:ext cx="2560320" cy="329184"/>
          </a:xfrm>
          <a:prstGeom prst="rect">
            <a:avLst/>
          </a:prstGeom>
          <a:solidFill>
            <a:srgbClr val="F0FFF8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Fusion gain: +0.09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GROUND TRUTH ROBUSTNESS &amp; ANNOTATOR CONSENSUS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 our results depend on how we defined the label?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274320" y="1097280"/>
            <a:ext cx="4434840" cy="3913632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84048" y="116128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PART A : Ground-Truth Robustness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384048" y="14813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The problem: how we build the label matters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384048" y="1755648"/>
            <a:ext cx="4608576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Original method (Hard-label-then-group):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Each annotator picks 1 of 10 emotions → majority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vote → group that into Neg/Pos/Neutral.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Risk: discards annotator mass from other groups.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Our check (Sum-then-Argmax):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Sum soft-label fractions within each 3-class group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→ take the group with highest total mass.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  More faithful to where annotators actually leaned.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394950" y="324154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Result: only 92 / 2,170 labels changed (4.24%)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347472" y="3675888"/>
            <a:ext cx="4315968" cy="237744"/>
          </a:xfrm>
          <a:prstGeom prst="rect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11480" y="37033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691640" y="37033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2743200" y="37033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3840480" y="37033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347472" y="3904488"/>
            <a:ext cx="4315968" cy="292608"/>
          </a:xfrm>
          <a:prstGeom prst="rect">
            <a:avLst/>
          </a:prstGeom>
          <a:solidFill>
            <a:srgbClr val="0D3050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11480" y="393192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1691640" y="39319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0.6475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2743200" y="39319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0.6506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3840480" y="393192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+0.003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347472" y="4224528"/>
            <a:ext cx="4315968" cy="292608"/>
          </a:xfrm>
          <a:prstGeom prst="rect">
            <a:avLst/>
          </a:prstGeom>
          <a:solidFill>
            <a:srgbClr val="0D2A45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411480" y="425196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Wav2Vec2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1691640" y="425196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0.6398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2743200" y="425196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0.6359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3840480" y="425196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−0.004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347472" y="4544568"/>
            <a:ext cx="4315968" cy="292608"/>
          </a:xfrm>
          <a:prstGeom prst="rect">
            <a:avLst/>
          </a:prstGeom>
          <a:solidFill>
            <a:srgbClr val="0D3050"/>
          </a:solidFill>
          <a:ln w="127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11480" y="457200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1691640" y="457200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0.7108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2743200" y="457200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0.7081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840480" y="4572000"/>
            <a:ext cx="960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−0.003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384048" y="4837176"/>
            <a:ext cx="420624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1100" i="1" dirty="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✓ Rankings unchanged. Results are not label-construction artifacts.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846320" y="1097280"/>
            <a:ext cx="3931920" cy="374000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956048" y="11612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PART B : Annotator Consensus Tiers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956048" y="148132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What is the consensus score cᵢ?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956048" y="1755648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After Sum-then-Argmax, we also look at the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max group probability. If most annotators agree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(e.g. 0.90 → Negative), cᵢ is near 1.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If annotators split evenly, cᵢ ≈ 0.33.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This tells us: is this utterance genuinely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ambiguous, or did everyone clearly agree?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956048" y="30358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We split the test set into 3 tiers: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919472" y="3310128"/>
            <a:ext cx="3794760" cy="438912"/>
          </a:xfrm>
          <a:prstGeom prst="rect">
            <a:avLst/>
          </a:prstGeom>
          <a:solidFill>
            <a:srgbClr val="0D1F3C"/>
          </a:solidFill>
          <a:ln w="19050" cap="flat" cmpd="sng">
            <a:solidFill>
              <a:srgbClr val="E0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992624" y="33375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LOW  cᵢ &lt; 0.50  (n=65)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4992624" y="3529584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Text 0.285  Audio 0.308  Fusion 0.344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7269480" y="340156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Humans disagreed → models also fail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919472" y="3813048"/>
            <a:ext cx="3794760" cy="438912"/>
          </a:xfrm>
          <a:prstGeom prst="rect">
            <a:avLst/>
          </a:prstGeom>
          <a:solidFill>
            <a:srgbClr val="0D1F3C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992624" y="3840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MED  0.50–0.75  (n=940)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992624" y="4032504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Text 0.588  Audio 0.580  Fusion 0.645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7269480" y="39044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Partial agreement → partial model success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4919472" y="4315968"/>
            <a:ext cx="3794760" cy="438912"/>
          </a:xfrm>
          <a:prstGeom prst="rect">
            <a:avLst/>
          </a:prstGeom>
          <a:solidFill>
            <a:srgbClr val="0D1F3C"/>
          </a:solidFill>
          <a:ln w="1905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992624" y="43434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HIGH  cᵢ &gt; 0.75  (n=1165)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992624" y="4535424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Text 0.695  Audio 0.666  Fusion 0.766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7269480" y="440740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Clear agreement → models do well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956048" y="4884760"/>
            <a:ext cx="3749040" cy="1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800" b="1" dirty="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Key finding: model errors mirror human disagreement.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100"/>
              <a:buFont typeface="Calibri"/>
              <a:buNone/>
            </a:pPr>
            <a:r>
              <a:rPr lang="en-US" sz="800" b="1" dirty="0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Hardness is intrinsic to the utterance, not our model.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RESEARCH QUESTION  ANSWER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i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 we predict a speaker's emotion using a multimodal approach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i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that combines acoustic features and textual content?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65760" y="1554480"/>
            <a:ext cx="1828800" cy="91440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365760" y="1572768"/>
            <a:ext cx="18288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5400"/>
              <a:buFont typeface="Cambria"/>
              <a:buNone/>
            </a:pPr>
            <a:r>
              <a:rPr lang="en-US" sz="5400" b="1">
                <a:solidFill>
                  <a:srgbClr val="0D1F3C"/>
                </a:solidFill>
                <a:latin typeface="Cambria"/>
                <a:ea typeface="Cambria"/>
                <a:cs typeface="Cambria"/>
                <a:sym typeface="Cambria"/>
              </a:rPr>
              <a:t>YES.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2423160" y="1627632"/>
            <a:ext cx="63093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 fusion at α_text=0.45 achieves Macro F1 = 0.7108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+0.063 over text-only · +0.071 over audio-only · No additional training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65760" y="2633472"/>
            <a:ext cx="4114800" cy="105156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438912" y="2724912"/>
            <a:ext cx="411480" cy="411480"/>
          </a:xfrm>
          <a:prstGeom prst="ellipse">
            <a:avLst/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438912" y="27066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D1F3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91440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Both modalities contribute equally at baseline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14400" y="3017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Text and audio each reach ~0.64-0.65 Macro F1 alone  comparable, but limited.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4754880" y="2633472"/>
            <a:ext cx="4114800" cy="105156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4828032" y="2724912"/>
            <a:ext cx="411480" cy="411480"/>
          </a:xfrm>
          <a:prstGeom prst="ellipse">
            <a:avLst/>
          </a:prstGeom>
          <a:solidFill>
            <a:srgbClr val="3FA7D6"/>
          </a:solidFill>
          <a:ln w="12700" cap="flat" cmpd="sng">
            <a:solidFill>
              <a:srgbClr val="3F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4828032" y="27066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D1F3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530352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They fail on different examples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5303520" y="3017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Text misses tone; audio misses meaning. Non-overlapping errors are the theoretical key.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65760" y="3776472"/>
            <a:ext cx="4114800" cy="105156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38912" y="3867912"/>
            <a:ext cx="411480" cy="411480"/>
          </a:xfrm>
          <a:prstGeom prst="ellipse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438912" y="38496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D1F3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914400" y="3867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Combining them works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14400" y="4160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Late fusion: Macro F1 = 0.71  +0.06 gain, zero training overhead.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4754880" y="3776472"/>
            <a:ext cx="4114800" cy="1051560"/>
          </a:xfrm>
          <a:prstGeom prst="rect">
            <a:avLst/>
          </a:prstGeom>
          <a:solidFill>
            <a:srgbClr val="0D2A45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828032" y="3867912"/>
            <a:ext cx="411480" cy="4114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4828032" y="38496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0D1F3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5303520" y="3867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Neutral benefits most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5303520" y="4160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Hardest class: F1 0.46/0.51 → 0.55. Absence of both signals becomes a cue.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046720" y="48463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457200" y="41148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Simple weighted combination of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text + audio → Macro F1 = 0.71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4572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B6CA8"/>
          </a:solidFill>
          <a:ln w="12700" cap="flat" cmpd="sng">
            <a:solidFill>
              <a:srgbClr val="1B6C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457200" y="166420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Speaker-independent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32004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59C9A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3200400" y="166420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No extra training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5943600" y="166420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5943600" y="166420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Interpretable 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457200" y="22128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457200" y="252374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Single held-out session → no variance estimate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457200" y="287121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3-class grouping loses within-class nuance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57200" y="321868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Optimal α selected on same test set used for reporting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Future Work: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5029200" y="252374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Attention-based fusion  per-utterance dynamic 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5029200" y="28712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Cross-modal attention (Multimodal Transformer)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5029200" y="32186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• Full 5-fold LOSO cross-validation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365760" y="4041648"/>
            <a:ext cx="8412480" cy="868680"/>
          </a:xfrm>
          <a:prstGeom prst="rect">
            <a:avLst/>
          </a:prstGeom>
          <a:solidFill>
            <a:srgbClr val="0D2A45"/>
          </a:solidFill>
          <a:ln w="12700" cap="flat" cmpd="sng">
            <a:solidFill>
              <a:srgbClr val="59C9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You! Questions?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457200" y="442569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Chen Shmila  ·  Alma Hova  ·  Ohad Lavie  ·  Bar-Ilan University  ·  Spring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8046720" y="1097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Full Per-Class Breakdown  (Q&amp;A)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36576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228600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402336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525780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640080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7498080" y="117957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365760" y="1490472"/>
            <a:ext cx="8412480" cy="32004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36576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228600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402336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525780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640080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7498080" y="154533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1149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365760" y="1837944"/>
            <a:ext cx="8412480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36576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228600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402336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525780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640080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7498080" y="18928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613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365760" y="2185416"/>
            <a:ext cx="8412480" cy="32004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36576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228600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402336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525780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640080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0.46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7498080" y="22402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408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365760" y="2532888"/>
            <a:ext cx="8412480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36576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Wav2Vec2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228600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402336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525780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40080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7498080" y="258775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1149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36576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Wav2Vec2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228600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402336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525780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0.59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640080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7498080" y="293522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613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365760" y="3227832"/>
            <a:ext cx="8412480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36576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Wav2Vec2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228600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402336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0.45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525780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640080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7498080" y="3282696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408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365760" y="3575304"/>
            <a:ext cx="8412480" cy="320040"/>
          </a:xfrm>
          <a:prstGeom prst="rect">
            <a:avLst/>
          </a:prstGeom>
          <a:solidFill>
            <a:srgbClr val="E8F7F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36576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(α_text=0.45)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228600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402336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0.84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525780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640080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7498080" y="36301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1149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365760" y="3922776"/>
            <a:ext cx="8412480" cy="320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36576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(α_text=0.45)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228600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402336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525780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640080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7498080" y="3977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613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365760" y="4270248"/>
            <a:ext cx="8412480" cy="320040"/>
          </a:xfrm>
          <a:prstGeom prst="rect">
            <a:avLst/>
          </a:prstGeom>
          <a:solidFill>
            <a:srgbClr val="E8F7F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36576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Fusion (α_text=0.45)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228600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402336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525780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640080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9C9A5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59C9A5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7498080" y="43251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408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7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365760" y="4846320"/>
            <a:ext cx="7498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IEMOCAP Emotion Recognition  ·  Bar-Ilan University  ·  Spring 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8046720" y="1097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5B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A5BC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A2A3A"/>
                </a:solidFill>
                <a:latin typeface="Cambria"/>
                <a:ea typeface="Cambria"/>
                <a:cs typeface="Cambria"/>
                <a:sym typeface="Cambria"/>
              </a:rPr>
              <a:t>Hyperparameter Summary  (Q&amp;A)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0D1F3C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411480" y="117957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3246120" y="117957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RoBERTa (Text)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6309360" y="117957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Wav2Vec2 (Audio)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365760" y="1490472"/>
            <a:ext cx="8412480" cy="30175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411480" y="153619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246120" y="153619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roberta-base (125M params)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6309360" y="153619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wav2vec2-base (94M params)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65760" y="1819656"/>
            <a:ext cx="8412480" cy="301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411480" y="186537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3246120" y="186537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2 × 10⁻⁵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6309360" y="186537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2 × 10⁻⁵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365760" y="2148840"/>
            <a:ext cx="8412480" cy="30175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411480" y="219456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3246120" y="219456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6309360" y="219456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8  (large audio tensors)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365760" y="2478024"/>
            <a:ext cx="8412480" cy="301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411480" y="252374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Max input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3246120" y="252374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128 tokens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6309360" y="252374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8.5 s  (136,000 samples)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365760" y="2807208"/>
            <a:ext cx="8412480" cy="30175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411480" y="285292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Max epochs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3246120" y="285292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6309360" y="285292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365760" y="3136392"/>
            <a:ext cx="8412480" cy="301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411480" y="318211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Early stop patience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3246120" y="318211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3 epochs on val 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6309360" y="318211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3 epochs on val 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365760" y="3465576"/>
            <a:ext cx="8412480" cy="30175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11480" y="351129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Class weights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3246120" y="351129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wc = N / (K · Nc)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6309360" y="351129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wc = N / (K · Nc)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411480" y="384048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3246120" y="384048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6309360" y="384048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365760" y="4123944"/>
            <a:ext cx="8412480" cy="30175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411480" y="416966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Output pooling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3246120" y="416966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[CLS] token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6309360" y="416966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Mean pool over time steps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365760" y="4453128"/>
            <a:ext cx="8412480" cy="3017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7"/>
          <p:cNvSpPr/>
          <p:nvPr/>
        </p:nvSpPr>
        <p:spPr>
          <a:xfrm>
            <a:off x="411480" y="449884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Frozen layers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7"/>
          <p:cNvSpPr/>
          <p:nvPr/>
        </p:nvSpPr>
        <p:spPr>
          <a:xfrm>
            <a:off x="3246120" y="449884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6309360" y="449884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Convolutional encoder (7 layers)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2217</Words>
  <Application>Microsoft Macintosh PowerPoint</Application>
  <PresentationFormat>On-screen Show (16:9)</PresentationFormat>
  <Paragraphs>509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Lavie Ohad</cp:lastModifiedBy>
  <cp:revision>1</cp:revision>
  <dcterms:created xsi:type="dcterms:W3CDTF">2026-06-23T06:39:16Z</dcterms:created>
  <dcterms:modified xsi:type="dcterms:W3CDTF">2026-06-23T15:15:31Z</dcterms:modified>
</cp:coreProperties>
</file>