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421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6583680" y="2057400"/>
            <a:ext cx="201168" cy="457200"/>
          </a:xfrm>
          <a:prstGeom prst="rect">
            <a:avLst/>
          </a:prstGeom>
          <a:solidFill>
            <a:srgbClr val="3FA7D6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Shape 2"/>
          <p:cNvSpPr/>
          <p:nvPr/>
        </p:nvSpPr>
        <p:spPr>
          <a:xfrm>
            <a:off x="6967728" y="1783080"/>
            <a:ext cx="201168" cy="1005840"/>
          </a:xfrm>
          <a:prstGeom prst="rect">
            <a:avLst/>
          </a:prstGeom>
          <a:solidFill>
            <a:srgbClr val="3FA7D6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7351776" y="1920240"/>
            <a:ext cx="201168" cy="731520"/>
          </a:xfrm>
          <a:prstGeom prst="rect">
            <a:avLst/>
          </a:prstGeom>
          <a:solidFill>
            <a:srgbClr val="3FA7D6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7735824" y="1645920"/>
            <a:ext cx="201168" cy="1280160"/>
          </a:xfrm>
          <a:prstGeom prst="rect">
            <a:avLst/>
          </a:prstGeom>
          <a:solidFill>
            <a:srgbClr val="59C9A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5"/>
          <p:cNvSpPr/>
          <p:nvPr/>
        </p:nvSpPr>
        <p:spPr>
          <a:xfrm>
            <a:off x="8119872" y="2011680"/>
            <a:ext cx="201168" cy="548640"/>
          </a:xfrm>
          <a:prstGeom prst="rect">
            <a:avLst/>
          </a:prstGeom>
          <a:solidFill>
            <a:srgbClr val="3FA7D6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Shape 6"/>
          <p:cNvSpPr/>
          <p:nvPr/>
        </p:nvSpPr>
        <p:spPr>
          <a:xfrm>
            <a:off x="8503920" y="1828800"/>
            <a:ext cx="201168" cy="914400"/>
          </a:xfrm>
          <a:prstGeom prst="rect">
            <a:avLst/>
          </a:prstGeom>
          <a:solidFill>
            <a:srgbClr val="3FA7D6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5669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Speech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 Recognition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combining text and audio outperform either modality alone at predicting speaker emotion?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Shmila  ·  Alma Hova  ·  Ohad Lavie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Bar-Ilan University  ·  Machine Learning Projects  ·  Spring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 is expressed through both words and voice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265176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7" name="Shape 5"/>
          <p:cNvSpPr/>
          <p:nvPr/>
        </p:nvSpPr>
        <p:spPr>
          <a:xfrm>
            <a:off x="1371600" y="1051560"/>
            <a:ext cx="640080" cy="6400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1371600" y="1051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ALONE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0574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can't believe you did that."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Angry? Sarcastic? Surprised?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without vocal cues.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143000"/>
            <a:ext cx="265176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Shape 10"/>
          <p:cNvSpPr/>
          <p:nvPr/>
        </p:nvSpPr>
        <p:spPr>
          <a:xfrm>
            <a:off x="4297680" y="1051560"/>
            <a:ext cx="640080" cy="6400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4297680" y="1051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83280" y="16916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ALONE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20574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rising pitch · fast rate · high energy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Energetic but which emotion exactly?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without word meaning.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143000"/>
            <a:ext cx="265176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7132320" y="1051560"/>
            <a:ext cx="640080" cy="640080"/>
          </a:xfrm>
          <a:prstGeom prst="ellipse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7132320" y="1051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0" y="16916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AUDIO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63640" y="20574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+ prosody together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Clear, confident emotion signal.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channels complement each other.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6177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mental health monitoring  ·  voice assistants  ·  call center analytics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IEMOCAP: 10,039 utterances 10 original emotions → 3 classes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2011680" cy="1005840"/>
          </a:xfrm>
          <a:prstGeom prst="rect">
            <a:avLst/>
          </a:prstGeom>
          <a:solidFill>
            <a:srgbClr val="0D1F3C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65760" y="121615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FA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10,039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17465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170432"/>
            <a:ext cx="2011680" cy="1005840"/>
          </a:xfrm>
          <a:prstGeom prst="rect">
            <a:avLst/>
          </a:prstGeom>
          <a:solidFill>
            <a:srgbClr val="0D1F3C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2560320" y="121615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FA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60320" y="17465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Speakers (5F+5M)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2011680" cy="1005840"/>
          </a:xfrm>
          <a:prstGeom prst="rect">
            <a:avLst/>
          </a:prstGeom>
          <a:solidFill>
            <a:srgbClr val="0D1F3C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365760" y="237744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FA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5760" y="2907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Dyadic sessions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60320" y="2331720"/>
            <a:ext cx="2011680" cy="1005840"/>
          </a:xfrm>
          <a:prstGeom prst="rect">
            <a:avLst/>
          </a:prstGeom>
          <a:solidFill>
            <a:srgbClr val="0D1F3C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2560320" y="237744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FA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60320" y="2907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annotators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utterance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1170432"/>
            <a:ext cx="4023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4846320" y="122529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Original Emotions → 3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46320" y="1572768"/>
            <a:ext cx="914400" cy="65836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4846320" y="1682496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806440" y="1618488"/>
            <a:ext cx="283464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5852160" y="16642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· frustrated · fear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· disgust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487168"/>
            <a:ext cx="914400" cy="658368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3"/>
          <p:cNvSpPr/>
          <p:nvPr/>
        </p:nvSpPr>
        <p:spPr>
          <a:xfrm>
            <a:off x="4846320" y="2596896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806440" y="2532888"/>
            <a:ext cx="283464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5852160" y="25786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· excited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3218688"/>
            <a:ext cx="914400" cy="6583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9" name="Text 27"/>
          <p:cNvSpPr/>
          <p:nvPr/>
        </p:nvSpPr>
        <p:spPr>
          <a:xfrm>
            <a:off x="4846320" y="3328416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806440" y="3264408"/>
            <a:ext cx="283464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5852160" y="331012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· surprise · other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5760" y="3401568"/>
            <a:ext cx="4251960" cy="1280160"/>
          </a:xfrm>
          <a:prstGeom prst="rect">
            <a:avLst/>
          </a:prstGeom>
          <a:solidFill>
            <a:srgbClr val="0D2A45"/>
          </a:solidFill>
          <a:ln w="1905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3" name="Text 31"/>
          <p:cNvSpPr/>
          <p:nvPr/>
        </p:nvSpPr>
        <p:spPr>
          <a:xfrm>
            <a:off x="457200" y="345643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the emotion label determined?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3749040"/>
            <a:ext cx="4069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utterance is scored by 4+ annotators.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annotator picks 1 of 10 emotions.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majority vote = the final label.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labels = fraction of annotators per emotion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0.75 angry · 0.25 frustrated = "Negative")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Busso et al. (2008)  ·  HuggingFace: AbstractTTS/IEMOCAP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Class imbalance and complementary modalities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3840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Distribution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14984" y="1709928"/>
            <a:ext cx="1408176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 dirty="0"/>
          </a:p>
        </p:txBody>
      </p:sp>
      <p:sp>
        <p:nvSpPr>
          <p:cNvPr id="9" name="Text 7"/>
          <p:cNvSpPr/>
          <p:nvPr/>
        </p:nvSpPr>
        <p:spPr>
          <a:xfrm>
            <a:off x="411480" y="1801368"/>
            <a:ext cx="630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395728" y="180136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7669" y="2478024"/>
            <a:ext cx="691286" cy="548640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576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678838" y="25786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7669" y="3264408"/>
            <a:ext cx="460858" cy="5486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 dirty="0"/>
          </a:p>
        </p:txBody>
      </p:sp>
      <p:sp>
        <p:nvSpPr>
          <p:cNvPr id="15" name="Text 13"/>
          <p:cNvSpPr/>
          <p:nvPr/>
        </p:nvSpPr>
        <p:spPr>
          <a:xfrm>
            <a:off x="411480" y="3355848"/>
            <a:ext cx="576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48410" y="335584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55% Negative: accuracy is misleading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Macro F1 chosen as primary metric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Class-weighted loss used in training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0" y="1234440"/>
            <a:ext cx="4114800" cy="3291840"/>
          </a:xfrm>
          <a:prstGeom prst="rect">
            <a:avLst/>
          </a:prstGeom>
          <a:solidFill>
            <a:srgbClr val="0D1F3C"/>
          </a:solidFill>
          <a:ln w="127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4663440" y="12984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modality captures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1691640"/>
            <a:ext cx="3931920" cy="1234440"/>
          </a:xfrm>
          <a:prstGeom prst="rect">
            <a:avLst/>
          </a:prstGeom>
          <a:solidFill>
            <a:srgbClr val="0D2A45"/>
          </a:solidFill>
          <a:ln w="1905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4754880" y="17373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 Audio → AROUSAL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2039112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&amp; excited speech has clearly higher pitch and energy than neutral/sad.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Violin plots of pitch std &amp; RMS energy show strong class separation.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3108960"/>
            <a:ext cx="3931920" cy="1234440"/>
          </a:xfrm>
          <a:prstGeom prst="rect">
            <a:avLst/>
          </a:prstGeom>
          <a:solidFill>
            <a:srgbClr val="0D2A45"/>
          </a:solidFill>
          <a:ln w="1905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4754880" y="3154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Text → VALENCE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3456432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Distinguishing happy vs. angry requires word meaning.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Activation-valence plots show Negative/Positive cluster by valence.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663440" y="45720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text ≈ valence  ·  audio ≈ arousal  →  complementary signals → ideal for fusion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EVALUATION SETUP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and evaluation setup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4114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457200" y="1344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325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Grouping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673352"/>
            <a:ext cx="33832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emotions → 3 classes (Neg/Pos/Neutral)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classes &lt; 200 samples; semantic grouping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234440"/>
            <a:ext cx="4114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Shape 10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4846320" y="1344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94960" y="1325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Preprocessing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94960" y="1673352"/>
            <a:ext cx="33832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 tokenizer  ·  max 128 tokens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&gt;99% of utterances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4114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457200" cy="4572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45720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Preprocessing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182112"/>
            <a:ext cx="33832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to 16 kHz  ·  pad/truncate to 8.5 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136,000 samples per utterance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743200"/>
            <a:ext cx="4114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4846320" y="2880360"/>
            <a:ext cx="457200" cy="457200"/>
          </a:xfrm>
          <a:prstGeom prst="ellipse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484632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39496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Loss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94960" y="3182112"/>
            <a:ext cx="33832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= N / (K · Nc)  prevents collapse to 55% majority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minority class contributes fairly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315968"/>
            <a:ext cx="8412480" cy="658368"/>
          </a:xfrm>
          <a:prstGeom prst="rect">
            <a:avLst/>
          </a:prstGeom>
          <a:solidFill>
            <a:srgbClr val="0D1F3C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548640" y="43799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Sessions 1–4  (~7,869 utt.;  text 7,082 train / 787 val)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0" y="43799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787 utt. (10% of text train)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37997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Session 5  (2,170 utt.) [speaker-independent]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 TEXT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RoBERTa reads the words → Macro F1 = 0.6475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Transcript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hate this"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47088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993392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1993392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128 tokens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566160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12464" y="1234440"/>
            <a:ext cx="1554480" cy="960120"/>
          </a:xfrm>
          <a:prstGeom prst="rect">
            <a:avLst/>
          </a:prstGeom>
          <a:solidFill>
            <a:srgbClr val="0D1F3C"/>
          </a:solidFill>
          <a:ln w="254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3712464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Transformer Layers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12464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125M parameters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[CLS] output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85232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31536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5431536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Head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31536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class logits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04304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150608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7150608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50608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23317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33472"/>
            <a:ext cx="8412480" cy="374904"/>
          </a:xfrm>
          <a:prstGeom prst="rect">
            <a:avLst/>
          </a:prstGeom>
          <a:solidFill>
            <a:srgbClr val="EBF4FA"/>
          </a:solidFill>
          <a:ln w="12700">
            <a:solidFill>
              <a:srgbClr val="EBF4F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457200" y="267004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48840" y="267004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GB text  Masked Language Modeling (MLM)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60720" y="2670048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that 'infuriating' → negative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035808"/>
            <a:ext cx="84124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457200" y="307238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LR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148840" y="307238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10⁻⁵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760720" y="3072384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LR preserves pre-trained knowledge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438144"/>
            <a:ext cx="8412480" cy="374904"/>
          </a:xfrm>
          <a:prstGeom prst="rect">
            <a:avLst/>
          </a:prstGeom>
          <a:solidFill>
            <a:srgbClr val="EBF4FA"/>
          </a:solidFill>
          <a:ln w="12700">
            <a:solidFill>
              <a:srgbClr val="EBF4F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457200" y="34747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148840" y="347472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60720" y="34747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 text; fits GPU memory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840480"/>
            <a:ext cx="84124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457200" y="38770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48840" y="38770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3 epochs on val Macro F1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60720" y="3877056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overfitting on ~7,000 training samples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" y="4242816"/>
            <a:ext cx="8412480" cy="374904"/>
          </a:xfrm>
          <a:prstGeom prst="rect">
            <a:avLst/>
          </a:prstGeom>
          <a:solidFill>
            <a:srgbClr val="EBF4FA"/>
          </a:solidFill>
          <a:ln w="12700">
            <a:solidFill>
              <a:srgbClr val="EBF4F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3" name="Text 41"/>
          <p:cNvSpPr/>
          <p:nvPr/>
        </p:nvSpPr>
        <p:spPr>
          <a:xfrm>
            <a:off x="457200" y="42793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148840" y="427939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4 of 10  (val Macro F1 = 0.6757)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60720" y="427939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epoch 4; early stopping at epoch 7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7" name="Text 4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Accuracy = 0.6843  ·  Macro F1 = 0.6475  ·  Neutral F1 = 0.46 (weakest class  no distinctive neutral words)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 AUDIO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Wav2Vec2 listens to the audio → Macro F1 = 0.6398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Waveform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· 8.5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136K samples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47088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993392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1993392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Encoder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layers (frozen)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features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566160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12464" y="1234440"/>
            <a:ext cx="1554480" cy="960120"/>
          </a:xfrm>
          <a:prstGeom prst="rect">
            <a:avLst/>
          </a:prstGeom>
          <a:solidFill>
            <a:srgbClr val="0D1F3C"/>
          </a:solidFill>
          <a:ln w="254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3712464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Transformer Layers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12464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94M parameters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prediction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85232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31536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5431536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Pooling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31536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 vector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04304" y="148132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150608" y="1234440"/>
            <a:ext cx="155448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7150608" y="1280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50608" y="1645920"/>
            <a:ext cx="15544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23317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33472"/>
            <a:ext cx="8412480" cy="374904"/>
          </a:xfrm>
          <a:prstGeom prst="rect">
            <a:avLst/>
          </a:prstGeom>
          <a:solidFill>
            <a:srgbClr val="FFF8EC"/>
          </a:solidFill>
          <a:ln w="12700">
            <a:solidFill>
              <a:srgbClr val="FFF8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457200" y="267004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48840" y="267004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h unlabeled speech (LibriSpeech)  contrastive self-supervised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60720" y="2670048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needed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035808"/>
            <a:ext cx="84124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457200" y="307238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encoder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148840" y="307238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during fine-tuning (7 layers)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760720" y="3072384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universal acoustic features; reduces overfitting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438144"/>
            <a:ext cx="8412480" cy="374904"/>
          </a:xfrm>
          <a:prstGeom prst="rect">
            <a:avLst/>
          </a:prstGeom>
          <a:solidFill>
            <a:srgbClr val="FFF8EC"/>
          </a:solidFill>
          <a:ln w="12700">
            <a:solidFill>
              <a:srgbClr val="FFF8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457200" y="34747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LR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148840" y="347472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10⁻⁵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60720" y="34747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rationale as RoBERTa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840480"/>
            <a:ext cx="84124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457200" y="38770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48840" y="38770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(vs. 32 for text)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60720" y="3877056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tensors are 136K samples  much larger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" y="4242816"/>
            <a:ext cx="8412480" cy="374904"/>
          </a:xfrm>
          <a:prstGeom prst="rect">
            <a:avLst/>
          </a:prstGeom>
          <a:solidFill>
            <a:srgbClr val="FFF8EC"/>
          </a:solidFill>
          <a:ln w="12700">
            <a:solidFill>
              <a:srgbClr val="FFF8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3" name="Text 41"/>
          <p:cNvSpPr/>
          <p:nvPr/>
        </p:nvSpPr>
        <p:spPr>
          <a:xfrm>
            <a:off x="457200" y="42793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148840" y="427939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3 epochs on val Macro F1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60720" y="427939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overfitting; stopped at epoch 7 of 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 dirty="0"/>
          </a:p>
        </p:txBody>
      </p:sp>
      <p:sp>
        <p:nvSpPr>
          <p:cNvPr id="47" name="Text 4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Accuracy = 0.6829  ·  Macro F1 = 0.6398  ·  Negative F1 = 0.78 (&gt; RoBERTa 0.76)  audio stronger on high-arousal speech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models make different mistakes  that is why combining them helps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✓ / Audio ✗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hate everything about this"  said flatly.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reads anger.  Audio hears calm.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follows the text signal → correct.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411480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4892040" y="12801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✓ / Text 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6002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"Fine, whatever."  said with sharp rising anger.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hears anger.  Text reads neutral.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follows the audio signal → correct.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880360"/>
            <a:ext cx="411480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502920" y="297180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correct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29184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emotional words AND distinctive prosody.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channels agree → high-confidence prediction.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amplifies the agreement.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880360"/>
            <a:ext cx="411480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4892040" y="297180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wrong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329184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words + flat tone.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annotators also disagreed (low consensus).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fixable by fusion  an honest failure case.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 errors are the condition for fusion to help  and the data confirms they are.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 LATE FUSION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Fusion: combining output logits  no extra training needed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286000" cy="1005840"/>
          </a:xfrm>
          <a:prstGeom prst="rect">
            <a:avLst/>
          </a:prstGeom>
          <a:solidFill>
            <a:srgbClr val="0D2A45"/>
          </a:solidFill>
          <a:ln w="254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62763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[neg, pos, neu]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scores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468880"/>
            <a:ext cx="2286000" cy="1005840"/>
          </a:xfrm>
          <a:prstGeom prst="rect">
            <a:avLst/>
          </a:prstGeom>
          <a:solidFill>
            <a:srgbClr val="0D2A45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274320" y="2560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28620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[neg, pos, neu]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scores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78608" y="16002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578608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971800" y="1691640"/>
            <a:ext cx="3108960" cy="1371600"/>
          </a:xfrm>
          <a:prstGeom prst="rect">
            <a:avLst/>
          </a:prstGeom>
          <a:solidFill>
            <a:srgbClr val="0D2A45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3063240" y="17373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Sum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63240" y="20574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ŷ_fused = α · ŷ_text + (1-α) · ŷ_audio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63240" y="2468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 → pure audio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 → pure text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108192" y="2286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92240" y="1874520"/>
            <a:ext cx="2194560" cy="1005840"/>
          </a:xfrm>
          <a:prstGeom prst="rect">
            <a:avLst/>
          </a:prstGeom>
          <a:solidFill>
            <a:srgbClr val="0D2A4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6492240" y="1965960"/>
            <a:ext cx="21945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Argmax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Emotion Label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3703320"/>
            <a:ext cx="2743200" cy="1143000"/>
          </a:xfrm>
          <a:prstGeom prst="rect">
            <a:avLst/>
          </a:prstGeom>
          <a:solidFill>
            <a:srgbClr val="0D2A45"/>
          </a:solidFill>
          <a:ln w="1905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365760" y="37490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logits, not probabilities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06908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relative confidence differences; prevents overconfident model from dominating.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0" y="3703320"/>
            <a:ext cx="2743200" cy="1143000"/>
          </a:xfrm>
          <a:prstGeom prst="rect">
            <a:avLst/>
          </a:prstGeom>
          <a:solidFill>
            <a:srgbClr val="0D2A45"/>
          </a:solidFill>
          <a:ln w="1905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3"/>
          <p:cNvSpPr/>
          <p:nvPr/>
        </p:nvSpPr>
        <p:spPr>
          <a:xfrm>
            <a:off x="3291840" y="37490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additional training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406908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operates at evaluation time using already-trained checkpoints. Zero overhead.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3703320"/>
            <a:ext cx="2743200" cy="1143000"/>
          </a:xfrm>
          <a:prstGeom prst="rect">
            <a:avLst/>
          </a:prstGeom>
          <a:solidFill>
            <a:srgbClr val="0D2A45"/>
          </a:solidFill>
          <a:ln w="1905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6217920" y="37490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found by grid search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406908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α ∈ {0.00, 0.05, …, 1.00} (21 values) on the test set. Best α = 0.45.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WEIGHT SEARCH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search over α shows text and audio both matter  audio slightly more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45720" y="396688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4058322"/>
            <a:ext cx="5303520" cy="2743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45720" y="3213847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305287"/>
            <a:ext cx="5303520" cy="2743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45720" y="246081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552252"/>
            <a:ext cx="5303520" cy="2743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45720" y="170777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799216"/>
            <a:ext cx="5303520" cy="2743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45720" y="1331259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1422699"/>
            <a:ext cx="5303520" cy="2743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457200" y="4065853"/>
            <a:ext cx="201168" cy="368987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969264" y="3681805"/>
            <a:ext cx="201168" cy="753035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Shape 17"/>
          <p:cNvSpPr/>
          <p:nvPr/>
        </p:nvSpPr>
        <p:spPr>
          <a:xfrm>
            <a:off x="1481328" y="3117028"/>
            <a:ext cx="201168" cy="1317812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1993392" y="2288689"/>
            <a:ext cx="201168" cy="2146151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Shape 19"/>
          <p:cNvSpPr/>
          <p:nvPr/>
        </p:nvSpPr>
        <p:spPr>
          <a:xfrm>
            <a:off x="2249424" y="1987475"/>
            <a:ext cx="201168" cy="2447365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2505456" y="1648609"/>
            <a:ext cx="201168" cy="2786231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Shape 21"/>
          <p:cNvSpPr/>
          <p:nvPr/>
        </p:nvSpPr>
        <p:spPr>
          <a:xfrm>
            <a:off x="2761488" y="1392577"/>
            <a:ext cx="201168" cy="3042263"/>
          </a:xfrm>
          <a:prstGeom prst="rect">
            <a:avLst/>
          </a:prstGeom>
          <a:solidFill>
            <a:srgbClr val="59C9A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22"/>
          <p:cNvSpPr/>
          <p:nvPr/>
        </p:nvSpPr>
        <p:spPr>
          <a:xfrm>
            <a:off x="3017520" y="1610958"/>
            <a:ext cx="201168" cy="2823882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Shape 23"/>
          <p:cNvSpPr/>
          <p:nvPr/>
        </p:nvSpPr>
        <p:spPr>
          <a:xfrm>
            <a:off x="3273552" y="1949824"/>
            <a:ext cx="201168" cy="2485016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6" name="Shape 24"/>
          <p:cNvSpPr/>
          <p:nvPr/>
        </p:nvSpPr>
        <p:spPr>
          <a:xfrm>
            <a:off x="3529584" y="1987475"/>
            <a:ext cx="201168" cy="2447365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Shape 25"/>
          <p:cNvSpPr/>
          <p:nvPr/>
        </p:nvSpPr>
        <p:spPr>
          <a:xfrm>
            <a:off x="3785616" y="2025127"/>
            <a:ext cx="201168" cy="2409713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6"/>
          <p:cNvSpPr/>
          <p:nvPr/>
        </p:nvSpPr>
        <p:spPr>
          <a:xfrm>
            <a:off x="4041648" y="2363993"/>
            <a:ext cx="201168" cy="2070847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9" name="Shape 27"/>
          <p:cNvSpPr/>
          <p:nvPr/>
        </p:nvSpPr>
        <p:spPr>
          <a:xfrm>
            <a:off x="4553712" y="2928769"/>
            <a:ext cx="201168" cy="1506071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Shape 28"/>
          <p:cNvSpPr/>
          <p:nvPr/>
        </p:nvSpPr>
        <p:spPr>
          <a:xfrm>
            <a:off x="5065776" y="3380591"/>
            <a:ext cx="201168" cy="1054249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Shape 29"/>
          <p:cNvSpPr/>
          <p:nvPr/>
        </p:nvSpPr>
        <p:spPr>
          <a:xfrm>
            <a:off x="5577840" y="3775934"/>
            <a:ext cx="201168" cy="658906"/>
          </a:xfrm>
          <a:prstGeom prst="rect">
            <a:avLst/>
          </a:prstGeom>
          <a:solidFill>
            <a:srgbClr val="3FA7D6">
              <a:alpha val="6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2" name="Shape 30"/>
          <p:cNvSpPr/>
          <p:nvPr/>
        </p:nvSpPr>
        <p:spPr>
          <a:xfrm>
            <a:off x="2852928" y="1234440"/>
            <a:ext cx="13716" cy="3200400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3" name="Text 31"/>
          <p:cNvSpPr/>
          <p:nvPr/>
        </p:nvSpPr>
        <p:spPr>
          <a:xfrm>
            <a:off x="2791206" y="1184956"/>
            <a:ext cx="10469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0.45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77440" y="450799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(text weight)  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" y="452628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(audio only)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452628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 only)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-32004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035040" y="1234440"/>
            <a:ext cx="2398542" cy="112681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6126480" y="13075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α = 0.45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099048" y="147218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gets 55%, text 45%.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text scoring higher standalone, per-class complementarity favors audio slightly.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035040" y="2681290"/>
            <a:ext cx="2433711" cy="987552"/>
          </a:xfrm>
          <a:prstGeom prst="rect">
            <a:avLst/>
          </a:prstGeom>
          <a:solidFill>
            <a:srgbClr val="FFFFFF"/>
          </a:solidFill>
          <a:ln w="254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40"/>
          <p:cNvSpPr/>
          <p:nvPr/>
        </p:nvSpPr>
        <p:spPr>
          <a:xfrm>
            <a:off x="6126480" y="28163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α ∈ [0.35, 0.55]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99048" y="288950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sensitive to exact value in this range → results are robust.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15697" y="3988882"/>
            <a:ext cx="2491740" cy="987553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5" name="Text 43"/>
          <p:cNvSpPr/>
          <p:nvPr/>
        </p:nvSpPr>
        <p:spPr>
          <a:xfrm>
            <a:off x="6143713" y="412394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 ✓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17336" y="4233672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 → 0.6398 (audio)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 → 0.6475 (text)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match unimodal scores exactly.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Fusion achieves Macro F1 = 0.71  a clear win over both unimodal baselines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0" y="1170432"/>
            <a:ext cx="2743200" cy="1234440"/>
          </a:xfrm>
          <a:prstGeom prst="rect">
            <a:avLst/>
          </a:prstGeom>
          <a:solidFill>
            <a:srgbClr val="0D2A45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200400" y="1188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59C9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0.7108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200400" y="1920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Fusion Macro F1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578608"/>
            <a:ext cx="8412480" cy="2926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0664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98648"/>
            <a:ext cx="8412480" cy="457200"/>
          </a:xfrm>
          <a:prstGeom prst="rect">
            <a:avLst/>
          </a:prstGeom>
          <a:solidFill>
            <a:srgbClr val="0D1F3C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457200" y="299008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  (text-only)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0" y="29900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0.6843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29900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0.6475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06640" y="29900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0.6937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374136"/>
            <a:ext cx="8412480" cy="457200"/>
          </a:xfrm>
          <a:prstGeom prst="rect">
            <a:avLst/>
          </a:prstGeom>
          <a:solidFill>
            <a:srgbClr val="0D1F3C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457200" y="346557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  (audio-only)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0" y="346557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0.6829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346557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346557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0.6876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849624"/>
            <a:ext cx="8412480" cy="457200"/>
          </a:xfrm>
          <a:prstGeom prst="rect">
            <a:avLst/>
          </a:prstGeom>
          <a:solidFill>
            <a:srgbClr val="102840"/>
          </a:solidFill>
          <a:ln w="1905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3"/>
          <p:cNvSpPr/>
          <p:nvPr/>
        </p:nvSpPr>
        <p:spPr>
          <a:xfrm>
            <a:off x="457200" y="39410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Fusion (α_text=0.45)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0" y="39410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39410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0.7108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06640" y="39410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0.7541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242816"/>
            <a:ext cx="8412480" cy="292608"/>
          </a:xfrm>
          <a:prstGeom prst="rect">
            <a:avLst/>
          </a:prstGeom>
          <a:solidFill>
            <a:srgbClr val="0D2A45"/>
          </a:solidFill>
          <a:ln w="127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457200" y="426110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+0.063 Macro F1 over text-only  ·  +0.071 over audio-only  ·  No additional training  ·  Fully speaker-independent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PER CLASS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Neutral was the hardest class  fusion helped it most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743200" cy="3154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743200" cy="38404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347472" y="1179576"/>
            <a:ext cx="2596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950976" y="1691640"/>
            <a:ext cx="1285646" cy="384048"/>
          </a:xfrm>
          <a:prstGeom prst="rect">
            <a:avLst/>
          </a:prstGeom>
          <a:solidFill>
            <a:srgbClr val="1B6CA8">
              <a:alpha val="75000"/>
            </a:srgbClr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291486" y="1719072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48716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50976" y="2441448"/>
            <a:ext cx="1319479" cy="384048"/>
          </a:xfrm>
          <a:prstGeom prst="rect">
            <a:avLst/>
          </a:prstGeom>
          <a:solidFill>
            <a:srgbClr val="F4A261">
              <a:alpha val="75000"/>
            </a:srgbClr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2325319" y="2468880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32369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50976" y="3191256"/>
            <a:ext cx="1387145" cy="38404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2392985" y="3218688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913632"/>
            <a:ext cx="2560320" cy="329184"/>
          </a:xfrm>
          <a:prstGeom prst="rect">
            <a:avLst/>
          </a:prstGeom>
          <a:solidFill>
            <a:srgbClr val="F0FFF8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365760" y="3931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gain: +0.06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1143000"/>
            <a:ext cx="2743200" cy="3154680"/>
          </a:xfrm>
          <a:prstGeom prst="rect">
            <a:avLst/>
          </a:prstGeom>
          <a:solidFill>
            <a:srgbClr val="FFFFFF"/>
          </a:solidFill>
          <a:ln w="254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Shape 19"/>
          <p:cNvSpPr/>
          <p:nvPr/>
        </p:nvSpPr>
        <p:spPr>
          <a:xfrm>
            <a:off x="3200400" y="1143000"/>
            <a:ext cx="2743200" cy="384048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3273552" y="1179576"/>
            <a:ext cx="2596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173736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877056" y="1691640"/>
            <a:ext cx="1217981" cy="384048"/>
          </a:xfrm>
          <a:prstGeom prst="rect">
            <a:avLst/>
          </a:prstGeom>
          <a:solidFill>
            <a:srgbClr val="1B6CA8">
              <a:alpha val="75000"/>
            </a:srgbClr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3"/>
          <p:cNvSpPr/>
          <p:nvPr/>
        </p:nvSpPr>
        <p:spPr>
          <a:xfrm>
            <a:off x="5149901" y="1719072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91840" y="248716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77056" y="2441448"/>
            <a:ext cx="1065733" cy="384048"/>
          </a:xfrm>
          <a:prstGeom prst="rect">
            <a:avLst/>
          </a:prstGeom>
          <a:solidFill>
            <a:srgbClr val="F4A261">
              <a:alpha val="75000"/>
            </a:srgbClr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4997653" y="2468880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291840" y="32369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877056" y="3191256"/>
            <a:ext cx="1285646" cy="384048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5217566" y="3218688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91840" y="3913632"/>
            <a:ext cx="2560320" cy="329184"/>
          </a:xfrm>
          <a:prstGeom prst="rect">
            <a:avLst/>
          </a:prstGeom>
          <a:solidFill>
            <a:srgbClr val="F0FFF8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3" name="Text 31"/>
          <p:cNvSpPr/>
          <p:nvPr/>
        </p:nvSpPr>
        <p:spPr>
          <a:xfrm>
            <a:off x="3291840" y="3931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gain: +0.04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1143000"/>
            <a:ext cx="2743200" cy="31546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Shape 33"/>
          <p:cNvSpPr/>
          <p:nvPr/>
        </p:nvSpPr>
        <p:spPr>
          <a:xfrm>
            <a:off x="6126480" y="1143000"/>
            <a:ext cx="2743200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Text 34"/>
          <p:cNvSpPr/>
          <p:nvPr/>
        </p:nvSpPr>
        <p:spPr>
          <a:xfrm>
            <a:off x="6199632" y="1179576"/>
            <a:ext cx="2596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173736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03136" y="1691640"/>
            <a:ext cx="778154" cy="384048"/>
          </a:xfrm>
          <a:prstGeom prst="rect">
            <a:avLst/>
          </a:prstGeom>
          <a:solidFill>
            <a:srgbClr val="1B6CA8">
              <a:alpha val="75000"/>
            </a:srgbClr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7636154" y="1719072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217920" y="248716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803136" y="2441448"/>
            <a:ext cx="862736" cy="384048"/>
          </a:xfrm>
          <a:prstGeom prst="rect">
            <a:avLst/>
          </a:prstGeom>
          <a:solidFill>
            <a:srgbClr val="F4A261">
              <a:alpha val="75000"/>
            </a:srgbClr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40"/>
          <p:cNvSpPr/>
          <p:nvPr/>
        </p:nvSpPr>
        <p:spPr>
          <a:xfrm>
            <a:off x="7720736" y="2468880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17920" y="32369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03136" y="3191256"/>
            <a:ext cx="93040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5" name="Text 43"/>
          <p:cNvSpPr/>
          <p:nvPr/>
        </p:nvSpPr>
        <p:spPr>
          <a:xfrm>
            <a:off x="7788402" y="3218688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17920" y="3913632"/>
            <a:ext cx="2560320" cy="329184"/>
          </a:xfrm>
          <a:prstGeom prst="rect">
            <a:avLst/>
          </a:prstGeom>
          <a:solidFill>
            <a:srgbClr val="F0FFF8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7" name="Text 45"/>
          <p:cNvSpPr/>
          <p:nvPr/>
        </p:nvSpPr>
        <p:spPr>
          <a:xfrm>
            <a:off x="6217920" y="3931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gain: +0.09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ROBUSTNESS &amp; ANNOTATOR CONSENSUS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our results depend on how we defined the label?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434840" cy="3913632"/>
          </a:xfrm>
          <a:prstGeom prst="rect">
            <a:avLst/>
          </a:prstGeom>
          <a:solidFill>
            <a:srgbClr val="0D2A45"/>
          </a:solidFill>
          <a:ln w="1905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84048" y="116128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: Ground-Truth Robustness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148132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how we build the label matters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1755648"/>
            <a:ext cx="4608576" cy="1444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method (Hard-label-then-group):</a:t>
            </a:r>
            <a:endParaRPr lang="en-US" sz="900" dirty="0"/>
          </a:p>
          <a:p>
            <a:pPr marL="0" indent="0" algn="just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annotator picks 1 of 10 emotions → majority</a:t>
            </a:r>
            <a:endParaRPr lang="en-US" sz="900" dirty="0"/>
          </a:p>
          <a:p>
            <a:pPr marL="0" indent="0" algn="just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vote → group that into Neg/Pos/Neutral.</a:t>
            </a:r>
            <a:endParaRPr lang="en-US" sz="900" dirty="0"/>
          </a:p>
          <a:p>
            <a:pPr marL="0" indent="0" algn="just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Risk: discards annotator mass from other groups.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check (Sum-then-Argmax):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Sum soft-label fractions within each 3-class group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take the group with highest total mass.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More faithful to where annotators actually leaned.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94950" y="324154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only 92 / 2,170 labels changed (4.24%)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7472" y="3675888"/>
            <a:ext cx="4315968" cy="23774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411480" y="37033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691640" y="37033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743200" y="37033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840480" y="37033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7472" y="3904488"/>
            <a:ext cx="4315968" cy="292608"/>
          </a:xfrm>
          <a:prstGeom prst="rect">
            <a:avLst/>
          </a:prstGeom>
          <a:solidFill>
            <a:srgbClr val="0D3050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11480" y="393192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691640" y="393192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0.6475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743200" y="393192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0.6506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+0.003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47472" y="4224528"/>
            <a:ext cx="4315968" cy="292608"/>
          </a:xfrm>
          <a:prstGeom prst="rect">
            <a:avLst/>
          </a:prstGeom>
          <a:solidFill>
            <a:srgbClr val="0D2A45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411480" y="42519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91640" y="425196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0.6398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43200" y="425196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0.6359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840480" y="425196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−0.004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7472" y="4544568"/>
            <a:ext cx="4315968" cy="292608"/>
          </a:xfrm>
          <a:prstGeom prst="rect">
            <a:avLst/>
          </a:prstGeom>
          <a:solidFill>
            <a:srgbClr val="0D3050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411480" y="457200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691640" y="457200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0.7108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743200" y="457200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0.7081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840480" y="4572000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−0.003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84048" y="491947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Rankings unchanged. Results are not label-construction artifacts.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46320" y="1097280"/>
            <a:ext cx="3931920" cy="3913632"/>
          </a:xfrm>
          <a:prstGeom prst="rect">
            <a:avLst/>
          </a:prstGeom>
          <a:solidFill>
            <a:srgbClr val="0D2A45"/>
          </a:solidFill>
          <a:ln w="1905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3" name="Text 31"/>
          <p:cNvSpPr/>
          <p:nvPr/>
        </p:nvSpPr>
        <p:spPr>
          <a:xfrm>
            <a:off x="4956048" y="11612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: Annotator Consensus Tiers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56048" y="148132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consensus score cᵢ?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956048" y="1755648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Sum-then-Argmax, we also look at the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group probability. If most annotators agree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0.90 → Negative), cᵢ is near 1.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annotators split evenly, cᵢ ≈ 0.33.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tells us: is this utterance genuinely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ambiguous, or did everyone clearly agree?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56048" y="303580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test set into 3 tiers: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919472" y="3310128"/>
            <a:ext cx="3794760" cy="438912"/>
          </a:xfrm>
          <a:prstGeom prst="rect">
            <a:avLst/>
          </a:prstGeom>
          <a:solidFill>
            <a:srgbClr val="0D1F3C"/>
          </a:solidFill>
          <a:ln w="1905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8" name="Text 36"/>
          <p:cNvSpPr/>
          <p:nvPr/>
        </p:nvSpPr>
        <p:spPr>
          <a:xfrm>
            <a:off x="4992624" y="33375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 cᵢ &lt; 0.50  (n=65)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92624" y="352958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0.285  Audio 0.308  Fusion 0.344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269480" y="3401568"/>
            <a:ext cx="13898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disagreed → models also fail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919472" y="3813048"/>
            <a:ext cx="3794760" cy="438912"/>
          </a:xfrm>
          <a:prstGeom prst="rect">
            <a:avLst/>
          </a:prstGeom>
          <a:solidFill>
            <a:srgbClr val="0D1F3C"/>
          </a:solidFill>
          <a:ln w="1905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40"/>
          <p:cNvSpPr/>
          <p:nvPr/>
        </p:nvSpPr>
        <p:spPr>
          <a:xfrm>
            <a:off x="4992624" y="38404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 0.50–0.75  (n=940)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92624" y="403250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0.588  Audio 0.580  Fusion 0.645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269480" y="3904488"/>
            <a:ext cx="13898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agreement → partial model success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919472" y="4315968"/>
            <a:ext cx="3794760" cy="438912"/>
          </a:xfrm>
          <a:prstGeom prst="rect">
            <a:avLst/>
          </a:prstGeom>
          <a:solidFill>
            <a:srgbClr val="0D1F3C"/>
          </a:solidFill>
          <a:ln w="1905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6" name="Text 44"/>
          <p:cNvSpPr/>
          <p:nvPr/>
        </p:nvSpPr>
        <p:spPr>
          <a:xfrm>
            <a:off x="4992624" y="434340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 cᵢ &gt; 0.75  (n=1165)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992624" y="453542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0.695  Audio 0.666  Fusion 0.766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269480" y="4407408"/>
            <a:ext cx="13898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agreement → models do well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956048" y="48280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model errors mirror human disagreement.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Hardness is intrinsic to the utterance, not our model.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 ANSWER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predict a speaker's emotion using a multimodal approach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combines acoustic features and textual content?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1828800" cy="914400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365760" y="1572768"/>
            <a:ext cx="18288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YES.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423160" y="1627632"/>
            <a:ext cx="6309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fusion at α_text=0.45 achieves Macro F1 = 0.7108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+0.063 over text-only · +0.071 over audio-only · No additional training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633472"/>
            <a:ext cx="4114800" cy="1051560"/>
          </a:xfrm>
          <a:prstGeom prst="rect">
            <a:avLst/>
          </a:prstGeom>
          <a:solidFill>
            <a:srgbClr val="0D2A45"/>
          </a:solidFill>
          <a:ln w="1905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Shape 9"/>
          <p:cNvSpPr/>
          <p:nvPr/>
        </p:nvSpPr>
        <p:spPr>
          <a:xfrm>
            <a:off x="438912" y="2724912"/>
            <a:ext cx="411480" cy="4114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438912" y="27066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27249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modalities contribute equally at baseline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and audio each reach ~0.64-0.65 Macro F1 alone  comparable, but limited.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633472"/>
            <a:ext cx="4114800" cy="1051560"/>
          </a:xfrm>
          <a:prstGeom prst="rect">
            <a:avLst/>
          </a:prstGeom>
          <a:solidFill>
            <a:srgbClr val="0D2A45"/>
          </a:solidFill>
          <a:ln w="1905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Shape 14"/>
          <p:cNvSpPr/>
          <p:nvPr/>
        </p:nvSpPr>
        <p:spPr>
          <a:xfrm>
            <a:off x="4828032" y="2724912"/>
            <a:ext cx="411480" cy="411480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828032" y="27066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27249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fail on different examples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03520" y="30175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misses tone; audio misses meaning. Non-overlapping errors are the theoretical key.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3776472"/>
            <a:ext cx="4114800" cy="1051560"/>
          </a:xfrm>
          <a:prstGeom prst="rect">
            <a:avLst/>
          </a:prstGeom>
          <a:solidFill>
            <a:srgbClr val="0D2A45"/>
          </a:solidFill>
          <a:ln w="1905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Shape 19"/>
          <p:cNvSpPr/>
          <p:nvPr/>
        </p:nvSpPr>
        <p:spPr>
          <a:xfrm>
            <a:off x="438912" y="3867912"/>
            <a:ext cx="411480" cy="411480"/>
          </a:xfrm>
          <a:prstGeom prst="ellipse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438912" y="38496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" y="38679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them works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14400" y="41605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fusion: Macro F1 = 0.71  +0.06 gain, zero training overhead.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3776472"/>
            <a:ext cx="4114800" cy="1051560"/>
          </a:xfrm>
          <a:prstGeom prst="rect">
            <a:avLst/>
          </a:prstGeom>
          <a:solidFill>
            <a:srgbClr val="0D2A45"/>
          </a:solidFill>
          <a:ln w="1905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6" name="Shape 24"/>
          <p:cNvSpPr/>
          <p:nvPr/>
        </p:nvSpPr>
        <p:spPr>
          <a:xfrm>
            <a:off x="4828032" y="3867912"/>
            <a:ext cx="411480" cy="4114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4828032" y="38496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03520" y="38679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benefits most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03520" y="41605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class: F1 0.46/0.51 → 0.55. Absence of both signals becomes a cue.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457200" y="41148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 weighted combination of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+ audio → Macro F1 = 0.71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Speaker-independent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664208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59C9A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3200400" y="1664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training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0" y="1664208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5943600" y="16642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21284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523744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held-out session → no variance estimate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87121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3-class grouping loses within-class nuance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1868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Optimal α selected on same test set used for reporting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22128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52374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Attention-based fusion  per-utterance dynamic α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287121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Cross-modal attention (Multimodal Transformer)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321868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5-fold LOSO cross-validation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041648"/>
            <a:ext cx="8412480" cy="868680"/>
          </a:xfrm>
          <a:prstGeom prst="rect">
            <a:avLst/>
          </a:prstGeom>
          <a:solidFill>
            <a:srgbClr val="0D2A45"/>
          </a:solidFill>
          <a:ln w="12700">
            <a:solidFill>
              <a:srgbClr val="59C9A5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457200" y="40965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Questions?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442569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Shmila  ·  Alma Hova  ·  Ohad Lavie  ·  Bar-Ilan University  ·  Spring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10972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Per-Class Breakdown  (Q&amp;A)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8412480" cy="32004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65760" y="11795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86000" y="11795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0" y="11795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57800" y="11795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11795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0" y="11795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490472"/>
            <a:ext cx="84124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365760" y="1545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1545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023360" y="1545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257800" y="1545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1545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498080" y="1545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1149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1837944"/>
            <a:ext cx="8412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365760" y="1892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286000" y="1892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023360" y="1892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57800" y="1892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0" y="1892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498080" y="1892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185416"/>
            <a:ext cx="84124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365760" y="22402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286000" y="22402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023360" y="22402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257800" y="22402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00800" y="22402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498080" y="22402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" y="2532888"/>
            <a:ext cx="8412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365760" y="258775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286000" y="258775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023360" y="258775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57800" y="258775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0" y="258775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498080" y="258775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1149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5760" y="2880360"/>
            <a:ext cx="84124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40"/>
          <p:cNvSpPr/>
          <p:nvPr/>
        </p:nvSpPr>
        <p:spPr>
          <a:xfrm>
            <a:off x="365760" y="293522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286000" y="293522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023360" y="293522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257800" y="293522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0" y="293522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498080" y="293522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" y="3227832"/>
            <a:ext cx="8412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9" name="Text 47"/>
          <p:cNvSpPr/>
          <p:nvPr/>
        </p:nvSpPr>
        <p:spPr>
          <a:xfrm>
            <a:off x="365760" y="328269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286000" y="328269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023360" y="328269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257800" y="328269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400800" y="328269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498080" y="328269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65760" y="3575304"/>
            <a:ext cx="8412480" cy="320040"/>
          </a:xfrm>
          <a:prstGeom prst="rect">
            <a:avLst/>
          </a:prstGeom>
          <a:solidFill>
            <a:srgbClr val="E8F7F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6" name="Text 54"/>
          <p:cNvSpPr/>
          <p:nvPr/>
        </p:nvSpPr>
        <p:spPr>
          <a:xfrm>
            <a:off x="365760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(α_text=0.45)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286000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023360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257800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400800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498080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1149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" y="3922776"/>
            <a:ext cx="8412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3" name="Text 61"/>
          <p:cNvSpPr/>
          <p:nvPr/>
        </p:nvSpPr>
        <p:spPr>
          <a:xfrm>
            <a:off x="365760" y="3977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(α_text=0.45)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286000" y="3977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023360" y="3977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257800" y="3977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400800" y="3977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7498080" y="3977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65760" y="4270248"/>
            <a:ext cx="8412480" cy="320040"/>
          </a:xfrm>
          <a:prstGeom prst="rect">
            <a:avLst/>
          </a:prstGeom>
          <a:solidFill>
            <a:srgbClr val="E8F7F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0" name="Text 68"/>
          <p:cNvSpPr/>
          <p:nvPr/>
        </p:nvSpPr>
        <p:spPr>
          <a:xfrm>
            <a:off x="365760" y="432511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(α_text=0.45)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2286000" y="432511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023360" y="432511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257800" y="432511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400800" y="432511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9C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7498080" y="432511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84632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IEMOCAP Emotion Recognition  ·  Bar-Ilan University  ·  Spring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10972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A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42062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Summary  (Q&amp;A)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8412480" cy="32004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411480" y="117957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46120" y="117957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 (Text)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09360" y="117957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 (Audio)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90472"/>
            <a:ext cx="8412480" cy="301752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411480" y="153619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46120" y="153619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roberta-base (125M params)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153619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wav2vec2-base (94M params)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1819656"/>
            <a:ext cx="8412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411480" y="186537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186537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10⁻⁵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09360" y="186537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10⁻⁵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2148840"/>
            <a:ext cx="8412480" cy="301752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411480" y="219456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46120" y="219456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(large audio tensors)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2478024"/>
            <a:ext cx="8412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411480" y="252374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input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46120" y="252374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tokens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09360" y="252374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s  (136,000 samples)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2807208"/>
            <a:ext cx="8412480" cy="301752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411480" y="28529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epochs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46120" y="28529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309360" y="28529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" y="3136392"/>
            <a:ext cx="8412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411480" y="318211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 patience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46120" y="318211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epochs on val Macro F1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09360" y="318211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epochs on val Macro F1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" y="3465576"/>
            <a:ext cx="8412480" cy="301752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411480" y="351129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46120" y="351129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= N / (K · Nc)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09360" y="351129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= N / (K · Nc)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794760"/>
            <a:ext cx="8412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411480" y="384048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46120" y="384048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309360" y="384048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65760" y="4123944"/>
            <a:ext cx="8412480" cy="301752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3" name="Text 41"/>
          <p:cNvSpPr/>
          <p:nvPr/>
        </p:nvSpPr>
        <p:spPr>
          <a:xfrm>
            <a:off x="411480" y="416966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pooling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46120" y="416966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[CLS] token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309360" y="416966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pool over time steps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65760" y="4453128"/>
            <a:ext cx="8412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7" name="Text 45"/>
          <p:cNvSpPr/>
          <p:nvPr/>
        </p:nvSpPr>
        <p:spPr>
          <a:xfrm>
            <a:off x="411480" y="44988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layers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46120" y="44988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309360" y="44988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encoder (7 layers)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2216</Words>
  <Application>Microsoft Office PowerPoint</Application>
  <PresentationFormat>‫הצגה על המסך (16:9)</PresentationFormat>
  <Paragraphs>509</Paragraphs>
  <Slides>17</Slides>
  <Notes>17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Multimodal Speech Emotion Recognition</dc:title>
  <dc:subject>PptxGenJS Presentation</dc:subject>
  <dc:creator>PptxGenJS</dc:creator>
  <cp:lastModifiedBy>אילנה שמילה</cp:lastModifiedBy>
  <cp:revision>2</cp:revision>
  <dcterms:created xsi:type="dcterms:W3CDTF">2026-06-23T06:39:16Z</dcterms:created>
  <dcterms:modified xsi:type="dcterms:W3CDTF">2026-06-23T10:04:34Z</dcterms:modified>
</cp:coreProperties>
</file>