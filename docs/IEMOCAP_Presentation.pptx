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Introduction slide. Briefly introduce the project: we built a system to detect emotion from spoken language, using both the words said and the way they were said.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through the four models left to right. We start simple (text only, audio only) and build up to combining both modalities. All four models are evaluated on the same held-out test set — Session 5 — which contains speakers the model has never seen during training.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RoBERTa reads the transcription of each utterance and predicts the emotion class. It's strong on Negative (precision 0.86 — when it says Negative it's usually right) because negative emotions have clear vocabulary. Neutral is hard because neutral sentences look like everything else.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Wav2Vec2 listens to the raw audio waveform. It was pre-trained to understand speech sounds, so we only fine-tune the higher transformer layers. Results are similar to text. The important insight is that text and audio make different errors — which is exactly why combining them helps.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Late fusion just takes the two sets of output scores and adds them with weights 0.65 text and 0.35 audio. No training at all. The result is a massive jump — from 0.65 to 0.82 Macro F1. The Neutral class improves the most: from 0.48 to 0.71. This shows the two modalities are highly complementary — they make different errors, so combining them corrects a lot.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Intermediate fusion goes deeper than late fusion. Instead of just adding the final scores, we concatenate the internal representations of both models and train a small neural network on top — jointly. The idea is that both encoders can adapt to complement each other. Training is very slow because we're running both large models simultaneously. It's not yet complete.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result is the jump from ~0.65 to 0.82 Macro F1 with late fusion. Both unimodal models are similar to each other but significantly weaker than the combined model. Intermediate fusion results are not yet available — training is still running.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Summary of where the project stands. Everything up to and including late fusion is complete and results are confirmed. Intermediate fusion is the one remaining modelling step — it needs to run on someone's machine overnight. After that, the report gets the final numbers and is exported to PDF.</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286000"/>
            <a:ext cx="12191695" cy="25603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502920"/>
            <a:ext cx="10515600" cy="2011680"/>
          </a:xfrm>
          <a:prstGeom prst="rect">
            <a:avLst/>
          </a:prstGeom>
          <a:noFill/>
        </p:spPr>
        <p:txBody>
          <a:bodyPr wrap="square">
            <a:spAutoFit/>
          </a:bodyPr>
          <a:lstStyle/>
          <a:p>
            <a:pPr algn="l"/>
            <a:r>
              <a:rPr sz="4400" b="1" i="0">
                <a:solidFill>
                  <a:srgbClr val="FFFFFF"/>
                </a:solidFill>
                <a:latin typeface="Calibri"/>
              </a:rPr>
              <a:t>Multimodal Speech
Emotion Recognition</a:t>
            </a:r>
          </a:p>
        </p:txBody>
      </p:sp>
      <p:sp>
        <p:nvSpPr>
          <p:cNvPr id="5" name="TextBox 4"/>
          <p:cNvSpPr txBox="1"/>
          <p:nvPr/>
        </p:nvSpPr>
        <p:spPr>
          <a:xfrm>
            <a:off x="777240" y="2423160"/>
            <a:ext cx="9144000" cy="548640"/>
          </a:xfrm>
          <a:prstGeom prst="rect">
            <a:avLst/>
          </a:prstGeom>
          <a:noFill/>
        </p:spPr>
        <p:txBody>
          <a:bodyPr wrap="square">
            <a:spAutoFit/>
          </a:bodyPr>
          <a:lstStyle/>
          <a:p>
            <a:pPr algn="l"/>
            <a:r>
              <a:rPr sz="2200" b="0" i="0">
                <a:solidFill>
                  <a:srgbClr val="DDEAFF"/>
                </a:solidFill>
                <a:latin typeface="Calibri"/>
              </a:rPr>
              <a:t>Using the IEMOCAP corpus</a:t>
            </a:r>
          </a:p>
        </p:txBody>
      </p:sp>
      <p:sp>
        <p:nvSpPr>
          <p:cNvPr id="6" name="TextBox 5"/>
          <p:cNvSpPr txBox="1"/>
          <p:nvPr/>
        </p:nvSpPr>
        <p:spPr>
          <a:xfrm>
            <a:off x="777240" y="3063240"/>
            <a:ext cx="9144000" cy="502920"/>
          </a:xfrm>
          <a:prstGeom prst="rect">
            <a:avLst/>
          </a:prstGeom>
          <a:noFill/>
        </p:spPr>
        <p:txBody>
          <a:bodyPr wrap="square">
            <a:spAutoFit/>
          </a:bodyPr>
          <a:lstStyle/>
          <a:p>
            <a:pPr algn="l"/>
            <a:r>
              <a:rPr sz="1900" b="0" i="0">
                <a:solidFill>
                  <a:srgbClr val="FFFFFF"/>
                </a:solidFill>
                <a:latin typeface="Calibri"/>
              </a:rPr>
              <a:t>Chen Shmila  ·  Ohad Lavie</a:t>
            </a:r>
          </a:p>
        </p:txBody>
      </p:sp>
      <p:sp>
        <p:nvSpPr>
          <p:cNvPr id="7" name="TextBox 6"/>
          <p:cNvSpPr txBox="1"/>
          <p:nvPr/>
        </p:nvSpPr>
        <p:spPr>
          <a:xfrm>
            <a:off x="777240" y="3493008"/>
            <a:ext cx="9144000" cy="411480"/>
          </a:xfrm>
          <a:prstGeom prst="rect">
            <a:avLst/>
          </a:prstGeom>
          <a:noFill/>
        </p:spPr>
        <p:txBody>
          <a:bodyPr wrap="square">
            <a:spAutoFit/>
          </a:bodyPr>
          <a:lstStyle/>
          <a:p>
            <a:pPr algn="l"/>
            <a:r>
              <a:rPr sz="1400" b="0" i="0">
                <a:solidFill>
                  <a:srgbClr val="AABBDD"/>
                </a:solidFill>
                <a:latin typeface="Calibri"/>
              </a:rPr>
              <a:t>Bar-Ilan University  ·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11368735" cy="685800"/>
          </a:xfrm>
          <a:prstGeom prst="rect">
            <a:avLst/>
          </a:prstGeom>
          <a:noFill/>
        </p:spPr>
        <p:txBody>
          <a:bodyPr wrap="square">
            <a:spAutoFit/>
          </a:bodyPr>
          <a:lstStyle/>
          <a:p>
            <a:pPr algn="l"/>
            <a:r>
              <a:rPr sz="3000" b="1" i="0">
                <a:solidFill>
                  <a:srgbClr val="FFFFFF"/>
                </a:solidFill>
                <a:latin typeface="Calibri"/>
              </a:rPr>
              <a:t>Our Approach</a:t>
            </a:r>
          </a:p>
        </p:txBody>
      </p:sp>
      <p:sp>
        <p:nvSpPr>
          <p:cNvPr id="4" name="TextBox 3"/>
          <p:cNvSpPr txBox="1"/>
          <p:nvPr/>
        </p:nvSpPr>
        <p:spPr>
          <a:xfrm>
            <a:off x="411480" y="749808"/>
            <a:ext cx="11368735" cy="320040"/>
          </a:xfrm>
          <a:prstGeom prst="rect">
            <a:avLst/>
          </a:prstGeom>
          <a:noFill/>
        </p:spPr>
        <p:txBody>
          <a:bodyPr wrap="square">
            <a:spAutoFit/>
          </a:bodyPr>
          <a:lstStyle/>
          <a:p>
            <a:pPr algn="l"/>
            <a:r>
              <a:rPr sz="1300" b="0" i="0">
                <a:solidFill>
                  <a:srgbClr val="BBCCEE"/>
                </a:solidFill>
                <a:latin typeface="Calibri"/>
              </a:rPr>
              <a:t>Four models — increasing complexity</a:t>
            </a:r>
          </a:p>
        </p:txBody>
      </p:sp>
      <p:sp>
        <p:nvSpPr>
          <p:cNvPr id="5" name="Rectangle 4"/>
          <p:cNvSpPr/>
          <p:nvPr/>
        </p:nvSpPr>
        <p:spPr>
          <a:xfrm>
            <a:off x="0" y="1143000"/>
            <a:ext cx="12191695" cy="5715000"/>
          </a:xfrm>
          <a:prstGeom prst="rect">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920240"/>
            <a:ext cx="2286000" cy="173736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274320" y="3657600"/>
            <a:ext cx="2286000" cy="822960"/>
          </a:xfrm>
          <a:prstGeom prst="rect">
            <a:avLst/>
          </a:prstGeom>
          <a:solidFill>
            <a:srgbClr val="FFFFFF"/>
          </a:solidFill>
          <a:ln w="1524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965960"/>
            <a:ext cx="2103120" cy="914400"/>
          </a:xfrm>
          <a:prstGeom prst="rect">
            <a:avLst/>
          </a:prstGeom>
          <a:noFill/>
        </p:spPr>
        <p:txBody>
          <a:bodyPr wrap="square">
            <a:spAutoFit/>
          </a:bodyPr>
          <a:lstStyle/>
          <a:p>
            <a:pPr algn="ctr"/>
            <a:r>
              <a:rPr sz="1500" b="1" i="0">
                <a:solidFill>
                  <a:srgbClr val="FFFFFF"/>
                </a:solidFill>
                <a:latin typeface="Calibri"/>
              </a:rPr>
              <a:t>Text only</a:t>
            </a:r>
          </a:p>
        </p:txBody>
      </p:sp>
      <p:sp>
        <p:nvSpPr>
          <p:cNvPr id="9" name="TextBox 8"/>
          <p:cNvSpPr txBox="1"/>
          <p:nvPr/>
        </p:nvSpPr>
        <p:spPr>
          <a:xfrm>
            <a:off x="365760" y="2834640"/>
            <a:ext cx="2103120" cy="777240"/>
          </a:xfrm>
          <a:prstGeom prst="rect">
            <a:avLst/>
          </a:prstGeom>
          <a:noFill/>
        </p:spPr>
        <p:txBody>
          <a:bodyPr wrap="square">
            <a:spAutoFit/>
          </a:bodyPr>
          <a:lstStyle/>
          <a:p>
            <a:pPr algn="ctr"/>
            <a:r>
              <a:rPr sz="1200" b="0" i="0">
                <a:solidFill>
                  <a:srgbClr val="FFFFFF"/>
                </a:solidFill>
                <a:latin typeface="Calibri"/>
              </a:rPr>
              <a:t>RoBERTa</a:t>
            </a:r>
          </a:p>
        </p:txBody>
      </p:sp>
      <p:sp>
        <p:nvSpPr>
          <p:cNvPr id="10" name="TextBox 9"/>
          <p:cNvSpPr txBox="1"/>
          <p:nvPr/>
        </p:nvSpPr>
        <p:spPr>
          <a:xfrm>
            <a:off x="365760" y="3703320"/>
            <a:ext cx="2103120" cy="731520"/>
          </a:xfrm>
          <a:prstGeom prst="rect">
            <a:avLst/>
          </a:prstGeom>
          <a:noFill/>
        </p:spPr>
        <p:txBody>
          <a:bodyPr wrap="square">
            <a:spAutoFit/>
          </a:bodyPr>
          <a:lstStyle/>
          <a:p>
            <a:pPr algn="ctr"/>
            <a:r>
              <a:rPr sz="1100" b="0" i="0">
                <a:solidFill>
                  <a:srgbClr val="555555"/>
                </a:solidFill>
                <a:latin typeface="Calibri"/>
              </a:rPr>
              <a:t>Session 5 test
(n=2,170)</a:t>
            </a:r>
          </a:p>
        </p:txBody>
      </p:sp>
      <p:sp>
        <p:nvSpPr>
          <p:cNvPr id="11" name="Rectangle 10"/>
          <p:cNvSpPr/>
          <p:nvPr/>
        </p:nvSpPr>
        <p:spPr>
          <a:xfrm>
            <a:off x="2834640" y="1920240"/>
            <a:ext cx="2286000" cy="1737360"/>
          </a:xfrm>
          <a:prstGeom prst="rect">
            <a:avLst/>
          </a:prstGeom>
          <a:solidFill>
            <a:srgbClr val="378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834640" y="3657600"/>
            <a:ext cx="2286000" cy="822960"/>
          </a:xfrm>
          <a:prstGeom prst="rect">
            <a:avLst/>
          </a:prstGeom>
          <a:solidFill>
            <a:srgbClr val="FFFFFF"/>
          </a:solidFill>
          <a:ln w="15240">
            <a:solidFill>
              <a:srgbClr val="378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926080" y="1965960"/>
            <a:ext cx="2103120" cy="914400"/>
          </a:xfrm>
          <a:prstGeom prst="rect">
            <a:avLst/>
          </a:prstGeom>
          <a:noFill/>
        </p:spPr>
        <p:txBody>
          <a:bodyPr wrap="square">
            <a:spAutoFit/>
          </a:bodyPr>
          <a:lstStyle/>
          <a:p>
            <a:pPr algn="ctr"/>
            <a:r>
              <a:rPr sz="1500" b="1" i="0">
                <a:solidFill>
                  <a:srgbClr val="FFFFFF"/>
                </a:solidFill>
                <a:latin typeface="Calibri"/>
              </a:rPr>
              <a:t>Audio only</a:t>
            </a:r>
          </a:p>
        </p:txBody>
      </p:sp>
      <p:sp>
        <p:nvSpPr>
          <p:cNvPr id="14" name="TextBox 13"/>
          <p:cNvSpPr txBox="1"/>
          <p:nvPr/>
        </p:nvSpPr>
        <p:spPr>
          <a:xfrm>
            <a:off x="2926080" y="2834640"/>
            <a:ext cx="2103120" cy="777240"/>
          </a:xfrm>
          <a:prstGeom prst="rect">
            <a:avLst/>
          </a:prstGeom>
          <a:noFill/>
        </p:spPr>
        <p:txBody>
          <a:bodyPr wrap="square">
            <a:spAutoFit/>
          </a:bodyPr>
          <a:lstStyle/>
          <a:p>
            <a:pPr algn="ctr"/>
            <a:r>
              <a:rPr sz="1200" b="0" i="0">
                <a:solidFill>
                  <a:srgbClr val="FFFFFF"/>
                </a:solidFill>
                <a:latin typeface="Calibri"/>
              </a:rPr>
              <a:t>Wav2Vec2</a:t>
            </a:r>
          </a:p>
        </p:txBody>
      </p:sp>
      <p:sp>
        <p:nvSpPr>
          <p:cNvPr id="15" name="TextBox 14"/>
          <p:cNvSpPr txBox="1"/>
          <p:nvPr/>
        </p:nvSpPr>
        <p:spPr>
          <a:xfrm>
            <a:off x="2926080" y="3703320"/>
            <a:ext cx="2103120" cy="731520"/>
          </a:xfrm>
          <a:prstGeom prst="rect">
            <a:avLst/>
          </a:prstGeom>
          <a:noFill/>
        </p:spPr>
        <p:txBody>
          <a:bodyPr wrap="square">
            <a:spAutoFit/>
          </a:bodyPr>
          <a:lstStyle/>
          <a:p>
            <a:pPr algn="ctr"/>
            <a:r>
              <a:rPr sz="1100" b="0" i="0">
                <a:solidFill>
                  <a:srgbClr val="555555"/>
                </a:solidFill>
                <a:latin typeface="Calibri"/>
              </a:rPr>
              <a:t>Session 5 test
(n=2,170)</a:t>
            </a:r>
          </a:p>
        </p:txBody>
      </p:sp>
      <p:sp>
        <p:nvSpPr>
          <p:cNvPr id="16" name="Rectangle 15"/>
          <p:cNvSpPr/>
          <p:nvPr/>
        </p:nvSpPr>
        <p:spPr>
          <a:xfrm>
            <a:off x="5394960" y="1920240"/>
            <a:ext cx="2286000" cy="1737360"/>
          </a:xfrm>
          <a:prstGeom prst="rect">
            <a:avLst/>
          </a:prstGeom>
          <a:solidFill>
            <a:srgbClr val="7B49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5394960" y="3657600"/>
            <a:ext cx="2286000" cy="822960"/>
          </a:xfrm>
          <a:prstGeom prst="rect">
            <a:avLst/>
          </a:prstGeom>
          <a:solidFill>
            <a:srgbClr val="FFFFFF"/>
          </a:solidFill>
          <a:ln w="15240">
            <a:solidFill>
              <a:srgbClr val="7B49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0" y="1965960"/>
            <a:ext cx="2103120" cy="914400"/>
          </a:xfrm>
          <a:prstGeom prst="rect">
            <a:avLst/>
          </a:prstGeom>
          <a:noFill/>
        </p:spPr>
        <p:txBody>
          <a:bodyPr wrap="square">
            <a:spAutoFit/>
          </a:bodyPr>
          <a:lstStyle/>
          <a:p>
            <a:pPr algn="ctr"/>
            <a:r>
              <a:rPr sz="1500" b="1" i="0">
                <a:solidFill>
                  <a:srgbClr val="FFFFFF"/>
                </a:solidFill>
                <a:latin typeface="Calibri"/>
              </a:rPr>
              <a:t>Late Fusion</a:t>
            </a:r>
          </a:p>
        </p:txBody>
      </p:sp>
      <p:sp>
        <p:nvSpPr>
          <p:cNvPr id="19" name="TextBox 18"/>
          <p:cNvSpPr txBox="1"/>
          <p:nvPr/>
        </p:nvSpPr>
        <p:spPr>
          <a:xfrm>
            <a:off x="5486400" y="2834640"/>
            <a:ext cx="2103120" cy="777240"/>
          </a:xfrm>
          <a:prstGeom prst="rect">
            <a:avLst/>
          </a:prstGeom>
          <a:noFill/>
        </p:spPr>
        <p:txBody>
          <a:bodyPr wrap="square">
            <a:spAutoFit/>
          </a:bodyPr>
          <a:lstStyle/>
          <a:p>
            <a:pPr algn="ctr"/>
            <a:r>
              <a:rPr sz="1200" b="0" i="0">
                <a:solidFill>
                  <a:srgbClr val="FFFFFF"/>
                </a:solidFill>
                <a:latin typeface="Calibri"/>
              </a:rPr>
              <a:t>Weighted logit
sum</a:t>
            </a:r>
          </a:p>
        </p:txBody>
      </p:sp>
      <p:sp>
        <p:nvSpPr>
          <p:cNvPr id="20" name="TextBox 19"/>
          <p:cNvSpPr txBox="1"/>
          <p:nvPr/>
        </p:nvSpPr>
        <p:spPr>
          <a:xfrm>
            <a:off x="5486400" y="3703320"/>
            <a:ext cx="2103120" cy="731520"/>
          </a:xfrm>
          <a:prstGeom prst="rect">
            <a:avLst/>
          </a:prstGeom>
          <a:noFill/>
        </p:spPr>
        <p:txBody>
          <a:bodyPr wrap="square">
            <a:spAutoFit/>
          </a:bodyPr>
          <a:lstStyle/>
          <a:p>
            <a:pPr algn="ctr"/>
            <a:r>
              <a:rPr sz="1100" b="0" i="0">
                <a:solidFill>
                  <a:srgbClr val="555555"/>
                </a:solidFill>
                <a:latin typeface="Calibri"/>
              </a:rPr>
              <a:t>Session 5 test
(n=2,170)</a:t>
            </a:r>
          </a:p>
        </p:txBody>
      </p:sp>
      <p:sp>
        <p:nvSpPr>
          <p:cNvPr id="21" name="Rectangle 20"/>
          <p:cNvSpPr/>
          <p:nvPr/>
        </p:nvSpPr>
        <p:spPr>
          <a:xfrm>
            <a:off x="7955279" y="1920240"/>
            <a:ext cx="2286000" cy="1737360"/>
          </a:xfrm>
          <a:prstGeom prst="rect">
            <a:avLst/>
          </a:prstGeom>
          <a:solidFill>
            <a:srgbClr val="C55A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55279" y="3657600"/>
            <a:ext cx="2286000" cy="822960"/>
          </a:xfrm>
          <a:prstGeom prst="rect">
            <a:avLst/>
          </a:prstGeom>
          <a:solidFill>
            <a:srgbClr val="FFFFFF"/>
          </a:solidFill>
          <a:ln w="15240">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046719" y="1965960"/>
            <a:ext cx="2103120" cy="914400"/>
          </a:xfrm>
          <a:prstGeom prst="rect">
            <a:avLst/>
          </a:prstGeom>
          <a:noFill/>
        </p:spPr>
        <p:txBody>
          <a:bodyPr wrap="square">
            <a:spAutoFit/>
          </a:bodyPr>
          <a:lstStyle/>
          <a:p>
            <a:pPr algn="ctr"/>
            <a:r>
              <a:rPr sz="1500" b="1" i="0">
                <a:solidFill>
                  <a:srgbClr val="FFFFFF"/>
                </a:solidFill>
                <a:latin typeface="Calibri"/>
              </a:rPr>
              <a:t>Intermediate
Fusion</a:t>
            </a:r>
          </a:p>
        </p:txBody>
      </p:sp>
      <p:sp>
        <p:nvSpPr>
          <p:cNvPr id="24" name="TextBox 23"/>
          <p:cNvSpPr txBox="1"/>
          <p:nvPr/>
        </p:nvSpPr>
        <p:spPr>
          <a:xfrm>
            <a:off x="8046719" y="2834640"/>
            <a:ext cx="2103120" cy="777240"/>
          </a:xfrm>
          <a:prstGeom prst="rect">
            <a:avLst/>
          </a:prstGeom>
          <a:noFill/>
        </p:spPr>
        <p:txBody>
          <a:bodyPr wrap="square">
            <a:spAutoFit/>
          </a:bodyPr>
          <a:lstStyle/>
          <a:p>
            <a:pPr algn="ctr"/>
            <a:r>
              <a:rPr sz="1200" b="0" i="0">
                <a:solidFill>
                  <a:srgbClr val="FFFFFF"/>
                </a:solidFill>
                <a:latin typeface="Calibri"/>
              </a:rPr>
              <a:t>Joint MLP
head</a:t>
            </a:r>
          </a:p>
        </p:txBody>
      </p:sp>
      <p:sp>
        <p:nvSpPr>
          <p:cNvPr id="25" name="TextBox 24"/>
          <p:cNvSpPr txBox="1"/>
          <p:nvPr/>
        </p:nvSpPr>
        <p:spPr>
          <a:xfrm>
            <a:off x="8046719" y="3703320"/>
            <a:ext cx="2103120" cy="731520"/>
          </a:xfrm>
          <a:prstGeom prst="rect">
            <a:avLst/>
          </a:prstGeom>
          <a:noFill/>
        </p:spPr>
        <p:txBody>
          <a:bodyPr wrap="square">
            <a:spAutoFit/>
          </a:bodyPr>
          <a:lstStyle/>
          <a:p>
            <a:pPr algn="ctr"/>
            <a:r>
              <a:rPr sz="1100" b="0" i="0">
                <a:solidFill>
                  <a:srgbClr val="555555"/>
                </a:solidFill>
                <a:latin typeface="Calibri"/>
              </a:rPr>
              <a:t>Session 5 test
(n=2,170)</a:t>
            </a:r>
          </a:p>
        </p:txBody>
      </p:sp>
      <p:sp>
        <p:nvSpPr>
          <p:cNvPr id="26" name="TextBox 25"/>
          <p:cNvSpPr txBox="1"/>
          <p:nvPr/>
        </p:nvSpPr>
        <p:spPr>
          <a:xfrm>
            <a:off x="2578608" y="2468880"/>
            <a:ext cx="320040" cy="548640"/>
          </a:xfrm>
          <a:prstGeom prst="rect">
            <a:avLst/>
          </a:prstGeom>
          <a:noFill/>
        </p:spPr>
        <p:txBody>
          <a:bodyPr wrap="square">
            <a:spAutoFit/>
          </a:bodyPr>
          <a:lstStyle/>
          <a:p>
            <a:pPr algn="ctr"/>
            <a:r>
              <a:rPr sz="2400" b="1" i="0">
                <a:solidFill>
                  <a:srgbClr val="555555"/>
                </a:solidFill>
                <a:latin typeface="Calibri"/>
              </a:rPr>
              <a:t>→</a:t>
            </a:r>
          </a:p>
        </p:txBody>
      </p:sp>
      <p:sp>
        <p:nvSpPr>
          <p:cNvPr id="27" name="TextBox 26"/>
          <p:cNvSpPr txBox="1"/>
          <p:nvPr/>
        </p:nvSpPr>
        <p:spPr>
          <a:xfrm>
            <a:off x="5138928" y="2468880"/>
            <a:ext cx="320040" cy="548640"/>
          </a:xfrm>
          <a:prstGeom prst="rect">
            <a:avLst/>
          </a:prstGeom>
          <a:noFill/>
        </p:spPr>
        <p:txBody>
          <a:bodyPr wrap="square">
            <a:spAutoFit/>
          </a:bodyPr>
          <a:lstStyle/>
          <a:p>
            <a:pPr algn="ctr"/>
            <a:r>
              <a:rPr sz="2400" b="1" i="0">
                <a:solidFill>
                  <a:srgbClr val="555555"/>
                </a:solidFill>
                <a:latin typeface="Calibri"/>
              </a:rPr>
              <a:t>→</a:t>
            </a:r>
          </a:p>
        </p:txBody>
      </p:sp>
      <p:sp>
        <p:nvSpPr>
          <p:cNvPr id="28" name="TextBox 27"/>
          <p:cNvSpPr txBox="1"/>
          <p:nvPr/>
        </p:nvSpPr>
        <p:spPr>
          <a:xfrm>
            <a:off x="7699248" y="2468880"/>
            <a:ext cx="320040" cy="548640"/>
          </a:xfrm>
          <a:prstGeom prst="rect">
            <a:avLst/>
          </a:prstGeom>
          <a:noFill/>
        </p:spPr>
        <p:txBody>
          <a:bodyPr wrap="square">
            <a:spAutoFit/>
          </a:bodyPr>
          <a:lstStyle/>
          <a:p>
            <a:pPr algn="ctr"/>
            <a:r>
              <a:rPr sz="2400" b="1" i="0">
                <a:solidFill>
                  <a:srgbClr val="555555"/>
                </a:solidFill>
                <a:latin typeface="Calibri"/>
              </a:rPr>
              <a:t>→</a:t>
            </a:r>
          </a:p>
        </p:txBody>
      </p:sp>
      <p:sp>
        <p:nvSpPr>
          <p:cNvPr id="29" name="TextBox 28"/>
          <p:cNvSpPr txBox="1"/>
          <p:nvPr/>
        </p:nvSpPr>
        <p:spPr>
          <a:xfrm>
            <a:off x="274320" y="4800600"/>
            <a:ext cx="11612880" cy="411480"/>
          </a:xfrm>
          <a:prstGeom prst="rect">
            <a:avLst/>
          </a:prstGeom>
          <a:noFill/>
        </p:spPr>
        <p:txBody>
          <a:bodyPr wrap="square">
            <a:spAutoFit/>
          </a:bodyPr>
          <a:lstStyle/>
          <a:p>
            <a:pPr algn="ctr"/>
            <a:r>
              <a:rPr sz="1100" b="0" i="1">
                <a:solidFill>
                  <a:srgbClr val="555555"/>
                </a:solidFill>
                <a:latin typeface="Calibri"/>
              </a:rPr>
              <a:t>All models: 3-class grouping (Negative · Positive · Neutral)  |  Train Sessions 1–4, Test Session 5  |  Macro F1 primary metric</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11368735" cy="685800"/>
          </a:xfrm>
          <a:prstGeom prst="rect">
            <a:avLst/>
          </a:prstGeom>
          <a:noFill/>
        </p:spPr>
        <p:txBody>
          <a:bodyPr wrap="square">
            <a:spAutoFit/>
          </a:bodyPr>
          <a:lstStyle/>
          <a:p>
            <a:pPr algn="l"/>
            <a:r>
              <a:rPr sz="3000" b="1" i="0">
                <a:solidFill>
                  <a:srgbClr val="FFFFFF"/>
                </a:solidFill>
                <a:latin typeface="Calibri"/>
              </a:rPr>
              <a:t>Text Classification — RoBERTa</a:t>
            </a:r>
          </a:p>
        </p:txBody>
      </p:sp>
      <p:sp>
        <p:nvSpPr>
          <p:cNvPr id="4" name="Rectangle 3"/>
          <p:cNvSpPr/>
          <p:nvPr/>
        </p:nvSpPr>
        <p:spPr>
          <a:xfrm>
            <a:off x="0" y="1143000"/>
            <a:ext cx="12191695" cy="5715000"/>
          </a:xfrm>
          <a:prstGeom prst="rect">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417320"/>
            <a:ext cx="5303520" cy="2103120"/>
          </a:xfrm>
          <a:prstGeom prst="rect">
            <a:avLst/>
          </a:prstGeom>
          <a:solidFill>
            <a:srgbClr val="FFFFFF"/>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463040"/>
            <a:ext cx="5029200" cy="411480"/>
          </a:xfrm>
          <a:prstGeom prst="rect">
            <a:avLst/>
          </a:prstGeom>
          <a:noFill/>
        </p:spPr>
        <p:txBody>
          <a:bodyPr wrap="square">
            <a:spAutoFit/>
          </a:bodyPr>
          <a:lstStyle/>
          <a:p>
            <a:pPr algn="l"/>
            <a:r>
              <a:rPr sz="1400" b="1" i="0">
                <a:solidFill>
                  <a:srgbClr val="2E75B6"/>
                </a:solidFill>
                <a:latin typeface="Calibri"/>
              </a:rPr>
              <a:t>What is RoBERTa?</a:t>
            </a:r>
          </a:p>
        </p:txBody>
      </p:sp>
      <p:sp>
        <p:nvSpPr>
          <p:cNvPr id="7" name="TextBox 6"/>
          <p:cNvSpPr txBox="1"/>
          <p:nvPr/>
        </p:nvSpPr>
        <p:spPr>
          <a:xfrm>
            <a:off x="411480" y="1920240"/>
            <a:ext cx="5074920" cy="1645920"/>
          </a:xfrm>
          <a:prstGeom prst="rect">
            <a:avLst/>
          </a:prstGeom>
          <a:noFill/>
        </p:spPr>
        <p:txBody>
          <a:bodyPr wrap="square">
            <a:spAutoFit/>
          </a:bodyPr>
          <a:lstStyle/>
          <a:p>
            <a:pPr algn="l"/>
            <a:r>
              <a:rPr sz="1300">
                <a:solidFill>
                  <a:srgbClr val="1A1A1A"/>
                </a:solidFill>
                <a:latin typeface="Calibri"/>
              </a:rPr>
              <a:t>Pre-trained on 160 GB of English text</a:t>
            </a:r>
          </a:p>
          <a:p>
            <a:pPr algn="l"/>
            <a:r>
              <a:rPr sz="1300">
                <a:solidFill>
                  <a:srgbClr val="1A1A1A"/>
                </a:solidFill>
                <a:latin typeface="Calibri"/>
              </a:rPr>
              <a:t>Reads a sentence and understands meaning in context</a:t>
            </a:r>
          </a:p>
          <a:p>
            <a:pPr algn="l"/>
            <a:r>
              <a:rPr sz="1300">
                <a:solidFill>
                  <a:srgbClr val="1A1A1A"/>
                </a:solidFill>
                <a:latin typeface="Calibri"/>
              </a:rPr>
              <a:t>We fine-tune it to predict Negative / Positive / Neutral</a:t>
            </a:r>
          </a:p>
          <a:p>
            <a:pPr algn="l"/>
            <a:r>
              <a:rPr sz="1300">
                <a:solidFill>
                  <a:srgbClr val="1A1A1A"/>
                </a:solidFill>
                <a:latin typeface="Calibri"/>
              </a:rPr>
              <a:t>125M parameters  |  Learning rate: 2×10⁻⁵</a:t>
            </a:r>
          </a:p>
          <a:p>
            <a:pPr algn="l"/>
            <a:r>
              <a:rPr sz="1300">
                <a:solidFill>
                  <a:srgbClr val="1A1A1A"/>
                </a:solidFill>
                <a:latin typeface="Calibri"/>
              </a:rPr>
              <a:t>Early stopping at epoch 7 (best val F1 at epoch 4)</a:t>
            </a:r>
          </a:p>
        </p:txBody>
      </p:sp>
      <p:sp>
        <p:nvSpPr>
          <p:cNvPr id="8" name="Rectangle 7"/>
          <p:cNvSpPr/>
          <p:nvPr/>
        </p:nvSpPr>
        <p:spPr>
          <a:xfrm>
            <a:off x="5943600" y="1417320"/>
            <a:ext cx="5943600" cy="2103120"/>
          </a:xfrm>
          <a:prstGeom prst="rect">
            <a:avLst/>
          </a:prstGeom>
          <a:solidFill>
            <a:srgbClr val="FFFFFF"/>
          </a:solidFill>
          <a:ln w="12700">
            <a:solidFill>
              <a:srgbClr val="2E75B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1463040"/>
            <a:ext cx="5669280" cy="411480"/>
          </a:xfrm>
          <a:prstGeom prst="rect">
            <a:avLst/>
          </a:prstGeom>
          <a:noFill/>
        </p:spPr>
        <p:txBody>
          <a:bodyPr wrap="square">
            <a:spAutoFit/>
          </a:bodyPr>
          <a:lstStyle/>
          <a:p>
            <a:pPr algn="l"/>
            <a:r>
              <a:rPr sz="1400" b="1" i="0">
                <a:solidFill>
                  <a:srgbClr val="2E75B6"/>
                </a:solidFill>
                <a:latin typeface="Calibri"/>
              </a:rPr>
              <a:t>Test Results — Session 5</a:t>
            </a:r>
          </a:p>
        </p:txBody>
      </p:sp>
      <p:sp>
        <p:nvSpPr>
          <p:cNvPr id="10" name="Rectangle 9"/>
          <p:cNvSpPr/>
          <p:nvPr/>
        </p:nvSpPr>
        <p:spPr>
          <a:xfrm>
            <a:off x="6080760" y="1920240"/>
            <a:ext cx="1737360" cy="6858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0" y="1947672"/>
            <a:ext cx="1645920" cy="384048"/>
          </a:xfrm>
          <a:prstGeom prst="rect">
            <a:avLst/>
          </a:prstGeom>
          <a:noFill/>
        </p:spPr>
        <p:txBody>
          <a:bodyPr wrap="square">
            <a:spAutoFit/>
          </a:bodyPr>
          <a:lstStyle/>
          <a:p>
            <a:pPr algn="ctr"/>
            <a:r>
              <a:rPr sz="2000" b="1" i="0">
                <a:solidFill>
                  <a:srgbClr val="FFFFFF"/>
                </a:solidFill>
                <a:latin typeface="Calibri"/>
              </a:rPr>
              <a:t>67.9%</a:t>
            </a:r>
          </a:p>
        </p:txBody>
      </p:sp>
      <p:sp>
        <p:nvSpPr>
          <p:cNvPr id="12" name="TextBox 11"/>
          <p:cNvSpPr txBox="1"/>
          <p:nvPr/>
        </p:nvSpPr>
        <p:spPr>
          <a:xfrm>
            <a:off x="6126480" y="2331720"/>
            <a:ext cx="1645920" cy="228600"/>
          </a:xfrm>
          <a:prstGeom prst="rect">
            <a:avLst/>
          </a:prstGeom>
          <a:noFill/>
        </p:spPr>
        <p:txBody>
          <a:bodyPr wrap="square">
            <a:spAutoFit/>
          </a:bodyPr>
          <a:lstStyle/>
          <a:p>
            <a:pPr algn="ctr"/>
            <a:r>
              <a:rPr sz="1000" b="0" i="0">
                <a:solidFill>
                  <a:srgbClr val="FFFFFF"/>
                </a:solidFill>
                <a:latin typeface="Calibri"/>
              </a:rPr>
              <a:t>Accuracy</a:t>
            </a:r>
          </a:p>
        </p:txBody>
      </p:sp>
      <p:sp>
        <p:nvSpPr>
          <p:cNvPr id="13" name="Rectangle 12"/>
          <p:cNvSpPr/>
          <p:nvPr/>
        </p:nvSpPr>
        <p:spPr>
          <a:xfrm>
            <a:off x="8001000" y="1920240"/>
            <a:ext cx="1737360" cy="68580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0" y="1947672"/>
            <a:ext cx="1645920" cy="384048"/>
          </a:xfrm>
          <a:prstGeom prst="rect">
            <a:avLst/>
          </a:prstGeom>
          <a:noFill/>
        </p:spPr>
        <p:txBody>
          <a:bodyPr wrap="square">
            <a:spAutoFit/>
          </a:bodyPr>
          <a:lstStyle/>
          <a:p>
            <a:pPr algn="ctr"/>
            <a:r>
              <a:rPr sz="2000" b="1" i="0">
                <a:solidFill>
                  <a:srgbClr val="FFFFFF"/>
                </a:solidFill>
                <a:latin typeface="Calibri"/>
              </a:rPr>
              <a:t>0.6519</a:t>
            </a:r>
          </a:p>
        </p:txBody>
      </p:sp>
      <p:sp>
        <p:nvSpPr>
          <p:cNvPr id="15" name="TextBox 14"/>
          <p:cNvSpPr txBox="1"/>
          <p:nvPr/>
        </p:nvSpPr>
        <p:spPr>
          <a:xfrm>
            <a:off x="8046720" y="2331720"/>
            <a:ext cx="1645920" cy="228600"/>
          </a:xfrm>
          <a:prstGeom prst="rect">
            <a:avLst/>
          </a:prstGeom>
          <a:noFill/>
        </p:spPr>
        <p:txBody>
          <a:bodyPr wrap="square">
            <a:spAutoFit/>
          </a:bodyPr>
          <a:lstStyle/>
          <a:p>
            <a:pPr algn="ctr"/>
            <a:r>
              <a:rPr sz="1000" b="0" i="0">
                <a:solidFill>
                  <a:srgbClr val="FFFFFF"/>
                </a:solidFill>
                <a:latin typeface="Calibri"/>
              </a:rPr>
              <a:t>Macro F1</a:t>
            </a:r>
          </a:p>
        </p:txBody>
      </p:sp>
      <p:sp>
        <p:nvSpPr>
          <p:cNvPr id="16" name="Rectangle 15"/>
          <p:cNvSpPr/>
          <p:nvPr/>
        </p:nvSpPr>
        <p:spPr>
          <a:xfrm>
            <a:off x="9921240" y="1920240"/>
            <a:ext cx="1737360" cy="685800"/>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966960" y="1947672"/>
            <a:ext cx="1645920" cy="384048"/>
          </a:xfrm>
          <a:prstGeom prst="rect">
            <a:avLst/>
          </a:prstGeom>
          <a:noFill/>
        </p:spPr>
        <p:txBody>
          <a:bodyPr wrap="square">
            <a:spAutoFit/>
          </a:bodyPr>
          <a:lstStyle/>
          <a:p>
            <a:pPr algn="ctr"/>
            <a:r>
              <a:rPr sz="2000" b="1" i="0">
                <a:solidFill>
                  <a:srgbClr val="FFFFFF"/>
                </a:solidFill>
                <a:latin typeface="Calibri"/>
              </a:rPr>
              <a:t>0.6900</a:t>
            </a:r>
          </a:p>
        </p:txBody>
      </p:sp>
      <p:sp>
        <p:nvSpPr>
          <p:cNvPr id="18" name="TextBox 17"/>
          <p:cNvSpPr txBox="1"/>
          <p:nvPr/>
        </p:nvSpPr>
        <p:spPr>
          <a:xfrm>
            <a:off x="9966960" y="2331720"/>
            <a:ext cx="1645920" cy="228600"/>
          </a:xfrm>
          <a:prstGeom prst="rect">
            <a:avLst/>
          </a:prstGeom>
          <a:noFill/>
        </p:spPr>
        <p:txBody>
          <a:bodyPr wrap="square">
            <a:spAutoFit/>
          </a:bodyPr>
          <a:lstStyle/>
          <a:p>
            <a:pPr algn="ctr"/>
            <a:r>
              <a:rPr sz="1000" b="0" i="0">
                <a:solidFill>
                  <a:srgbClr val="FFFFFF"/>
                </a:solidFill>
                <a:latin typeface="Calibri"/>
              </a:rPr>
              <a:t>Weighted F1</a:t>
            </a:r>
          </a:p>
        </p:txBody>
      </p:sp>
      <p:sp>
        <p:nvSpPr>
          <p:cNvPr id="19" name="Rectangle 18"/>
          <p:cNvSpPr/>
          <p:nvPr/>
        </p:nvSpPr>
        <p:spPr>
          <a:xfrm>
            <a:off x="5943600" y="2971800"/>
            <a:ext cx="5943600" cy="384048"/>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3017520"/>
            <a:ext cx="1188720" cy="320040"/>
          </a:xfrm>
          <a:prstGeom prst="rect">
            <a:avLst/>
          </a:prstGeom>
          <a:noFill/>
        </p:spPr>
        <p:txBody>
          <a:bodyPr wrap="square">
            <a:spAutoFit/>
          </a:bodyPr>
          <a:lstStyle/>
          <a:p>
            <a:pPr algn="ctr"/>
            <a:r>
              <a:rPr sz="1300" b="1" i="0">
                <a:solidFill>
                  <a:srgbClr val="FFFFFF"/>
                </a:solidFill>
                <a:latin typeface="Calibri"/>
              </a:rPr>
              <a:t>Class</a:t>
            </a:r>
          </a:p>
        </p:txBody>
      </p:sp>
      <p:sp>
        <p:nvSpPr>
          <p:cNvPr id="21" name="TextBox 20"/>
          <p:cNvSpPr txBox="1"/>
          <p:nvPr/>
        </p:nvSpPr>
        <p:spPr>
          <a:xfrm>
            <a:off x="7315200" y="3017520"/>
            <a:ext cx="1188720" cy="320040"/>
          </a:xfrm>
          <a:prstGeom prst="rect">
            <a:avLst/>
          </a:prstGeom>
          <a:noFill/>
        </p:spPr>
        <p:txBody>
          <a:bodyPr wrap="square">
            <a:spAutoFit/>
          </a:bodyPr>
          <a:lstStyle/>
          <a:p>
            <a:pPr algn="ctr"/>
            <a:r>
              <a:rPr sz="1300" b="1" i="0">
                <a:solidFill>
                  <a:srgbClr val="FFFFFF"/>
                </a:solidFill>
                <a:latin typeface="Calibri"/>
              </a:rPr>
              <a:t>Precision</a:t>
            </a:r>
          </a:p>
        </p:txBody>
      </p:sp>
      <p:sp>
        <p:nvSpPr>
          <p:cNvPr id="22" name="TextBox 21"/>
          <p:cNvSpPr txBox="1"/>
          <p:nvPr/>
        </p:nvSpPr>
        <p:spPr>
          <a:xfrm>
            <a:off x="8549640" y="3017520"/>
            <a:ext cx="1188720" cy="320040"/>
          </a:xfrm>
          <a:prstGeom prst="rect">
            <a:avLst/>
          </a:prstGeom>
          <a:noFill/>
        </p:spPr>
        <p:txBody>
          <a:bodyPr wrap="square">
            <a:spAutoFit/>
          </a:bodyPr>
          <a:lstStyle/>
          <a:p>
            <a:pPr algn="ctr"/>
            <a:r>
              <a:rPr sz="1300" b="1" i="0">
                <a:solidFill>
                  <a:srgbClr val="FFFFFF"/>
                </a:solidFill>
                <a:latin typeface="Calibri"/>
              </a:rPr>
              <a:t>Recall</a:t>
            </a:r>
          </a:p>
        </p:txBody>
      </p:sp>
      <p:sp>
        <p:nvSpPr>
          <p:cNvPr id="23" name="TextBox 22"/>
          <p:cNvSpPr txBox="1"/>
          <p:nvPr/>
        </p:nvSpPr>
        <p:spPr>
          <a:xfrm>
            <a:off x="9784080" y="3017520"/>
            <a:ext cx="1188720" cy="320040"/>
          </a:xfrm>
          <a:prstGeom prst="rect">
            <a:avLst/>
          </a:prstGeom>
          <a:noFill/>
        </p:spPr>
        <p:txBody>
          <a:bodyPr wrap="square">
            <a:spAutoFit/>
          </a:bodyPr>
          <a:lstStyle/>
          <a:p>
            <a:pPr algn="ctr"/>
            <a:r>
              <a:rPr sz="1300" b="1" i="0">
                <a:solidFill>
                  <a:srgbClr val="FFFFFF"/>
                </a:solidFill>
                <a:latin typeface="Calibri"/>
              </a:rPr>
              <a:t>F1</a:t>
            </a:r>
          </a:p>
        </p:txBody>
      </p:sp>
      <p:sp>
        <p:nvSpPr>
          <p:cNvPr id="24" name="Rectangle 23"/>
          <p:cNvSpPr/>
          <p:nvPr/>
        </p:nvSpPr>
        <p:spPr>
          <a:xfrm>
            <a:off x="5943600" y="3374136"/>
            <a:ext cx="594360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35040" y="3419856"/>
            <a:ext cx="1188720" cy="320040"/>
          </a:xfrm>
          <a:prstGeom prst="rect">
            <a:avLst/>
          </a:prstGeom>
          <a:noFill/>
        </p:spPr>
        <p:txBody>
          <a:bodyPr wrap="square">
            <a:spAutoFit/>
          </a:bodyPr>
          <a:lstStyle/>
          <a:p>
            <a:pPr algn="ctr"/>
            <a:r>
              <a:rPr sz="1300" b="0" i="0">
                <a:solidFill>
                  <a:srgbClr val="1A1A1A"/>
                </a:solidFill>
                <a:latin typeface="Calibri"/>
              </a:rPr>
              <a:t>Negative</a:t>
            </a:r>
          </a:p>
        </p:txBody>
      </p:sp>
      <p:sp>
        <p:nvSpPr>
          <p:cNvPr id="26" name="TextBox 25"/>
          <p:cNvSpPr txBox="1"/>
          <p:nvPr/>
        </p:nvSpPr>
        <p:spPr>
          <a:xfrm>
            <a:off x="7315200" y="3419856"/>
            <a:ext cx="1188720" cy="320040"/>
          </a:xfrm>
          <a:prstGeom prst="rect">
            <a:avLst/>
          </a:prstGeom>
          <a:noFill/>
        </p:spPr>
        <p:txBody>
          <a:bodyPr wrap="square">
            <a:spAutoFit/>
          </a:bodyPr>
          <a:lstStyle/>
          <a:p>
            <a:pPr algn="ctr"/>
            <a:r>
              <a:rPr sz="1300" b="0" i="0">
                <a:solidFill>
                  <a:srgbClr val="1A1A1A"/>
                </a:solidFill>
                <a:latin typeface="Calibri"/>
              </a:rPr>
              <a:t>0.86</a:t>
            </a:r>
          </a:p>
        </p:txBody>
      </p:sp>
      <p:sp>
        <p:nvSpPr>
          <p:cNvPr id="27" name="TextBox 26"/>
          <p:cNvSpPr txBox="1"/>
          <p:nvPr/>
        </p:nvSpPr>
        <p:spPr>
          <a:xfrm>
            <a:off x="8549640" y="3419856"/>
            <a:ext cx="1188720" cy="320040"/>
          </a:xfrm>
          <a:prstGeom prst="rect">
            <a:avLst/>
          </a:prstGeom>
          <a:noFill/>
        </p:spPr>
        <p:txBody>
          <a:bodyPr wrap="square">
            <a:spAutoFit/>
          </a:bodyPr>
          <a:lstStyle/>
          <a:p>
            <a:pPr algn="ctr"/>
            <a:r>
              <a:rPr sz="1300" b="0" i="0">
                <a:solidFill>
                  <a:srgbClr val="1A1A1A"/>
                </a:solidFill>
                <a:latin typeface="Calibri"/>
              </a:rPr>
              <a:t>0.68</a:t>
            </a:r>
          </a:p>
        </p:txBody>
      </p:sp>
      <p:sp>
        <p:nvSpPr>
          <p:cNvPr id="28" name="TextBox 27"/>
          <p:cNvSpPr txBox="1"/>
          <p:nvPr/>
        </p:nvSpPr>
        <p:spPr>
          <a:xfrm>
            <a:off x="9784080" y="3419856"/>
            <a:ext cx="1188720" cy="320040"/>
          </a:xfrm>
          <a:prstGeom prst="rect">
            <a:avLst/>
          </a:prstGeom>
          <a:noFill/>
        </p:spPr>
        <p:txBody>
          <a:bodyPr wrap="square">
            <a:spAutoFit/>
          </a:bodyPr>
          <a:lstStyle/>
          <a:p>
            <a:pPr algn="ctr"/>
            <a:r>
              <a:rPr sz="1300" b="0" i="0">
                <a:solidFill>
                  <a:srgbClr val="1A1A1A"/>
                </a:solidFill>
                <a:latin typeface="Calibri"/>
              </a:rPr>
              <a:t>0.76</a:t>
            </a:r>
          </a:p>
        </p:txBody>
      </p:sp>
      <p:sp>
        <p:nvSpPr>
          <p:cNvPr id="29" name="Rectangle 28"/>
          <p:cNvSpPr/>
          <p:nvPr/>
        </p:nvSpPr>
        <p:spPr>
          <a:xfrm>
            <a:off x="5943600" y="3776472"/>
            <a:ext cx="594360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35040" y="3822191"/>
            <a:ext cx="1188720" cy="320040"/>
          </a:xfrm>
          <a:prstGeom prst="rect">
            <a:avLst/>
          </a:prstGeom>
          <a:noFill/>
        </p:spPr>
        <p:txBody>
          <a:bodyPr wrap="square">
            <a:spAutoFit/>
          </a:bodyPr>
          <a:lstStyle/>
          <a:p>
            <a:pPr algn="ctr"/>
            <a:r>
              <a:rPr sz="1300" b="0" i="0">
                <a:solidFill>
                  <a:srgbClr val="1A1A1A"/>
                </a:solidFill>
                <a:latin typeface="Calibri"/>
              </a:rPr>
              <a:t>Positive</a:t>
            </a:r>
          </a:p>
        </p:txBody>
      </p:sp>
      <p:sp>
        <p:nvSpPr>
          <p:cNvPr id="31" name="TextBox 30"/>
          <p:cNvSpPr txBox="1"/>
          <p:nvPr/>
        </p:nvSpPr>
        <p:spPr>
          <a:xfrm>
            <a:off x="7315200" y="3822191"/>
            <a:ext cx="1188720" cy="320040"/>
          </a:xfrm>
          <a:prstGeom prst="rect">
            <a:avLst/>
          </a:prstGeom>
          <a:noFill/>
        </p:spPr>
        <p:txBody>
          <a:bodyPr wrap="square">
            <a:spAutoFit/>
          </a:bodyPr>
          <a:lstStyle/>
          <a:p>
            <a:pPr algn="ctr"/>
            <a:r>
              <a:rPr sz="1300" b="0" i="0">
                <a:solidFill>
                  <a:srgbClr val="1A1A1A"/>
                </a:solidFill>
                <a:latin typeface="Calibri"/>
              </a:rPr>
              <a:t>0.72</a:t>
            </a:r>
          </a:p>
        </p:txBody>
      </p:sp>
      <p:sp>
        <p:nvSpPr>
          <p:cNvPr id="32" name="TextBox 31"/>
          <p:cNvSpPr txBox="1"/>
          <p:nvPr/>
        </p:nvSpPr>
        <p:spPr>
          <a:xfrm>
            <a:off x="8549640" y="3822191"/>
            <a:ext cx="1188720" cy="320040"/>
          </a:xfrm>
          <a:prstGeom prst="rect">
            <a:avLst/>
          </a:prstGeom>
          <a:noFill/>
        </p:spPr>
        <p:txBody>
          <a:bodyPr wrap="square">
            <a:spAutoFit/>
          </a:bodyPr>
          <a:lstStyle/>
          <a:p>
            <a:pPr algn="ctr"/>
            <a:r>
              <a:rPr sz="1300" b="0" i="0">
                <a:solidFill>
                  <a:srgbClr val="1A1A1A"/>
                </a:solidFill>
                <a:latin typeface="Calibri"/>
              </a:rPr>
              <a:t>0.71</a:t>
            </a:r>
          </a:p>
        </p:txBody>
      </p:sp>
      <p:sp>
        <p:nvSpPr>
          <p:cNvPr id="33" name="TextBox 32"/>
          <p:cNvSpPr txBox="1"/>
          <p:nvPr/>
        </p:nvSpPr>
        <p:spPr>
          <a:xfrm>
            <a:off x="9784080" y="3822191"/>
            <a:ext cx="1188720" cy="320040"/>
          </a:xfrm>
          <a:prstGeom prst="rect">
            <a:avLst/>
          </a:prstGeom>
          <a:noFill/>
        </p:spPr>
        <p:txBody>
          <a:bodyPr wrap="square">
            <a:spAutoFit/>
          </a:bodyPr>
          <a:lstStyle/>
          <a:p>
            <a:pPr algn="ctr"/>
            <a:r>
              <a:rPr sz="1300" b="0" i="0">
                <a:solidFill>
                  <a:srgbClr val="1A1A1A"/>
                </a:solidFill>
                <a:latin typeface="Calibri"/>
              </a:rPr>
              <a:t>0.71</a:t>
            </a:r>
          </a:p>
        </p:txBody>
      </p:sp>
      <p:sp>
        <p:nvSpPr>
          <p:cNvPr id="34" name="Rectangle 33"/>
          <p:cNvSpPr/>
          <p:nvPr/>
        </p:nvSpPr>
        <p:spPr>
          <a:xfrm>
            <a:off x="5943600" y="4178808"/>
            <a:ext cx="594360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35040" y="4224528"/>
            <a:ext cx="1188720" cy="320040"/>
          </a:xfrm>
          <a:prstGeom prst="rect">
            <a:avLst/>
          </a:prstGeom>
          <a:noFill/>
        </p:spPr>
        <p:txBody>
          <a:bodyPr wrap="square">
            <a:spAutoFit/>
          </a:bodyPr>
          <a:lstStyle/>
          <a:p>
            <a:pPr algn="ctr"/>
            <a:r>
              <a:rPr sz="1300" b="0" i="0">
                <a:solidFill>
                  <a:srgbClr val="1A1A1A"/>
                </a:solidFill>
                <a:latin typeface="Calibri"/>
              </a:rPr>
              <a:t>Neutral</a:t>
            </a:r>
          </a:p>
        </p:txBody>
      </p:sp>
      <p:sp>
        <p:nvSpPr>
          <p:cNvPr id="36" name="TextBox 35"/>
          <p:cNvSpPr txBox="1"/>
          <p:nvPr/>
        </p:nvSpPr>
        <p:spPr>
          <a:xfrm>
            <a:off x="7315200" y="4224528"/>
            <a:ext cx="1188720" cy="320040"/>
          </a:xfrm>
          <a:prstGeom prst="rect">
            <a:avLst/>
          </a:prstGeom>
          <a:noFill/>
        </p:spPr>
        <p:txBody>
          <a:bodyPr wrap="square">
            <a:spAutoFit/>
          </a:bodyPr>
          <a:lstStyle/>
          <a:p>
            <a:pPr algn="ctr"/>
            <a:r>
              <a:rPr sz="1300" b="0" i="0">
                <a:solidFill>
                  <a:srgbClr val="1A1A1A"/>
                </a:solidFill>
                <a:latin typeface="Calibri"/>
              </a:rPr>
              <a:t>0.39</a:t>
            </a:r>
          </a:p>
        </p:txBody>
      </p:sp>
      <p:sp>
        <p:nvSpPr>
          <p:cNvPr id="37" name="TextBox 36"/>
          <p:cNvSpPr txBox="1"/>
          <p:nvPr/>
        </p:nvSpPr>
        <p:spPr>
          <a:xfrm>
            <a:off x="8549640" y="4224528"/>
            <a:ext cx="1188720" cy="320040"/>
          </a:xfrm>
          <a:prstGeom prst="rect">
            <a:avLst/>
          </a:prstGeom>
          <a:noFill/>
        </p:spPr>
        <p:txBody>
          <a:bodyPr wrap="square">
            <a:spAutoFit/>
          </a:bodyPr>
          <a:lstStyle/>
          <a:p>
            <a:pPr algn="ctr"/>
            <a:r>
              <a:rPr sz="1300" b="0" i="0">
                <a:solidFill>
                  <a:srgbClr val="1A1A1A"/>
                </a:solidFill>
                <a:latin typeface="Calibri"/>
              </a:rPr>
              <a:t>0.62</a:t>
            </a:r>
          </a:p>
        </p:txBody>
      </p:sp>
      <p:sp>
        <p:nvSpPr>
          <p:cNvPr id="38" name="TextBox 37"/>
          <p:cNvSpPr txBox="1"/>
          <p:nvPr/>
        </p:nvSpPr>
        <p:spPr>
          <a:xfrm>
            <a:off x="9784080" y="4224528"/>
            <a:ext cx="1188720" cy="320040"/>
          </a:xfrm>
          <a:prstGeom prst="rect">
            <a:avLst/>
          </a:prstGeom>
          <a:noFill/>
        </p:spPr>
        <p:txBody>
          <a:bodyPr wrap="square">
            <a:spAutoFit/>
          </a:bodyPr>
          <a:lstStyle/>
          <a:p>
            <a:pPr algn="ctr"/>
            <a:r>
              <a:rPr sz="1300" b="0" i="0">
                <a:solidFill>
                  <a:srgbClr val="1A1A1A"/>
                </a:solidFill>
                <a:latin typeface="Calibri"/>
              </a:rPr>
              <a:t>0.48</a:t>
            </a:r>
          </a:p>
        </p:txBody>
      </p:sp>
      <p:sp>
        <p:nvSpPr>
          <p:cNvPr id="39" name="TextBox 38"/>
          <p:cNvSpPr txBox="1"/>
          <p:nvPr/>
        </p:nvSpPr>
        <p:spPr>
          <a:xfrm>
            <a:off x="274320" y="3703320"/>
            <a:ext cx="11612880" cy="365760"/>
          </a:xfrm>
          <a:prstGeom prst="rect">
            <a:avLst/>
          </a:prstGeom>
          <a:noFill/>
        </p:spPr>
        <p:txBody>
          <a:bodyPr wrap="square">
            <a:spAutoFit/>
          </a:bodyPr>
          <a:lstStyle/>
          <a:p>
            <a:pPr algn="l"/>
            <a:r>
              <a:rPr sz="1300" b="0" i="1">
                <a:solidFill>
                  <a:srgbClr val="C55A11"/>
                </a:solidFill>
                <a:latin typeface="Calibri"/>
              </a:rPr>
              <a:t>⚠  Neutral precision 0.39 — model struggles to identify neutral speech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11368735" cy="685800"/>
          </a:xfrm>
          <a:prstGeom prst="rect">
            <a:avLst/>
          </a:prstGeom>
          <a:noFill/>
        </p:spPr>
        <p:txBody>
          <a:bodyPr wrap="square">
            <a:spAutoFit/>
          </a:bodyPr>
          <a:lstStyle/>
          <a:p>
            <a:pPr algn="l"/>
            <a:r>
              <a:rPr sz="3000" b="1" i="0">
                <a:solidFill>
                  <a:srgbClr val="FFFFFF"/>
                </a:solidFill>
                <a:latin typeface="Calibri"/>
              </a:rPr>
              <a:t>Audio Classification — Wav2Vec2</a:t>
            </a:r>
          </a:p>
        </p:txBody>
      </p:sp>
      <p:sp>
        <p:nvSpPr>
          <p:cNvPr id="4" name="Rectangle 3"/>
          <p:cNvSpPr/>
          <p:nvPr/>
        </p:nvSpPr>
        <p:spPr>
          <a:xfrm>
            <a:off x="0" y="1143000"/>
            <a:ext cx="12191695" cy="5715000"/>
          </a:xfrm>
          <a:prstGeom prst="rect">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417320"/>
            <a:ext cx="5303520" cy="2103120"/>
          </a:xfrm>
          <a:prstGeom prst="rect">
            <a:avLst/>
          </a:prstGeom>
          <a:solidFill>
            <a:srgbClr val="FFFFFF"/>
          </a:solidFill>
          <a:ln w="12700">
            <a:solidFill>
              <a:srgbClr val="378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11480" y="1463040"/>
            <a:ext cx="5029200" cy="411480"/>
          </a:xfrm>
          <a:prstGeom prst="rect">
            <a:avLst/>
          </a:prstGeom>
          <a:noFill/>
        </p:spPr>
        <p:txBody>
          <a:bodyPr wrap="square">
            <a:spAutoFit/>
          </a:bodyPr>
          <a:lstStyle/>
          <a:p>
            <a:pPr algn="l"/>
            <a:r>
              <a:rPr sz="1400" b="1" i="0">
                <a:solidFill>
                  <a:srgbClr val="37865F"/>
                </a:solidFill>
                <a:latin typeface="Calibri"/>
              </a:rPr>
              <a:t>What is Wav2Vec2?</a:t>
            </a:r>
          </a:p>
        </p:txBody>
      </p:sp>
      <p:sp>
        <p:nvSpPr>
          <p:cNvPr id="7" name="TextBox 6"/>
          <p:cNvSpPr txBox="1"/>
          <p:nvPr/>
        </p:nvSpPr>
        <p:spPr>
          <a:xfrm>
            <a:off x="411480" y="1920240"/>
            <a:ext cx="5074920" cy="1645920"/>
          </a:xfrm>
          <a:prstGeom prst="rect">
            <a:avLst/>
          </a:prstGeom>
          <a:noFill/>
        </p:spPr>
        <p:txBody>
          <a:bodyPr wrap="square">
            <a:spAutoFit/>
          </a:bodyPr>
          <a:lstStyle/>
          <a:p>
            <a:pPr algn="l"/>
            <a:r>
              <a:rPr sz="1300">
                <a:solidFill>
                  <a:srgbClr val="1A1A1A"/>
                </a:solidFill>
                <a:latin typeface="Calibri"/>
              </a:rPr>
              <a:t>Pre-trained on 960 hours of speech — learns from raw audio</a:t>
            </a:r>
          </a:p>
          <a:p>
            <a:pPr algn="l"/>
            <a:r>
              <a:rPr sz="1300">
                <a:solidFill>
                  <a:srgbClr val="1A1A1A"/>
                </a:solidFill>
                <a:latin typeface="Calibri"/>
              </a:rPr>
              <a:t>No hand-crafted features needed (no MFCCs)</a:t>
            </a:r>
          </a:p>
          <a:p>
            <a:pPr algn="l"/>
            <a:r>
              <a:rPr sz="1300">
                <a:solidFill>
                  <a:srgbClr val="1A1A1A"/>
                </a:solidFill>
                <a:latin typeface="Calibri"/>
              </a:rPr>
              <a:t>Frozen conv. encoder + fine-tuned transformer layers</a:t>
            </a:r>
          </a:p>
          <a:p>
            <a:pPr algn="l"/>
            <a:r>
              <a:rPr sz="1300">
                <a:solidFill>
                  <a:srgbClr val="1A1A1A"/>
                </a:solidFill>
                <a:latin typeface="Calibri"/>
              </a:rPr>
              <a:t>Input: 4-second waveform at 16kHz (64,000 samples)</a:t>
            </a:r>
          </a:p>
          <a:p>
            <a:pPr algn="l"/>
            <a:r>
              <a:rPr sz="1300">
                <a:solidFill>
                  <a:srgbClr val="1A1A1A"/>
                </a:solidFill>
                <a:latin typeface="Calibri"/>
              </a:rPr>
              <a:t>Mean-pool hidden states → classification head</a:t>
            </a:r>
          </a:p>
        </p:txBody>
      </p:sp>
      <p:sp>
        <p:nvSpPr>
          <p:cNvPr id="8" name="Rectangle 7"/>
          <p:cNvSpPr/>
          <p:nvPr/>
        </p:nvSpPr>
        <p:spPr>
          <a:xfrm>
            <a:off x="5943600" y="1417320"/>
            <a:ext cx="5943600" cy="2103120"/>
          </a:xfrm>
          <a:prstGeom prst="rect">
            <a:avLst/>
          </a:prstGeom>
          <a:solidFill>
            <a:srgbClr val="FFFFFF"/>
          </a:solidFill>
          <a:ln w="12700">
            <a:solidFill>
              <a:srgbClr val="37865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080760" y="1463040"/>
            <a:ext cx="5669280" cy="411480"/>
          </a:xfrm>
          <a:prstGeom prst="rect">
            <a:avLst/>
          </a:prstGeom>
          <a:noFill/>
        </p:spPr>
        <p:txBody>
          <a:bodyPr wrap="square">
            <a:spAutoFit/>
          </a:bodyPr>
          <a:lstStyle/>
          <a:p>
            <a:pPr algn="l"/>
            <a:r>
              <a:rPr sz="1400" b="1" i="0">
                <a:solidFill>
                  <a:srgbClr val="37865F"/>
                </a:solidFill>
                <a:latin typeface="Calibri"/>
              </a:rPr>
              <a:t>Test Results — Session 5</a:t>
            </a:r>
          </a:p>
        </p:txBody>
      </p:sp>
      <p:sp>
        <p:nvSpPr>
          <p:cNvPr id="10" name="Rectangle 9"/>
          <p:cNvSpPr/>
          <p:nvPr/>
        </p:nvSpPr>
        <p:spPr>
          <a:xfrm>
            <a:off x="6080760" y="1920240"/>
            <a:ext cx="1737360" cy="685800"/>
          </a:xfrm>
          <a:prstGeom prst="rect">
            <a:avLst/>
          </a:prstGeom>
          <a:solidFill>
            <a:srgbClr val="378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126480" y="1947672"/>
            <a:ext cx="1645920" cy="384048"/>
          </a:xfrm>
          <a:prstGeom prst="rect">
            <a:avLst/>
          </a:prstGeom>
          <a:noFill/>
        </p:spPr>
        <p:txBody>
          <a:bodyPr wrap="square">
            <a:spAutoFit/>
          </a:bodyPr>
          <a:lstStyle/>
          <a:p>
            <a:pPr algn="ctr"/>
            <a:r>
              <a:rPr sz="2000" b="1" i="0">
                <a:solidFill>
                  <a:srgbClr val="FFFFFF"/>
                </a:solidFill>
                <a:latin typeface="Calibri"/>
              </a:rPr>
              <a:t>67.8%</a:t>
            </a:r>
          </a:p>
        </p:txBody>
      </p:sp>
      <p:sp>
        <p:nvSpPr>
          <p:cNvPr id="12" name="TextBox 11"/>
          <p:cNvSpPr txBox="1"/>
          <p:nvPr/>
        </p:nvSpPr>
        <p:spPr>
          <a:xfrm>
            <a:off x="6126480" y="2331720"/>
            <a:ext cx="1645920" cy="228600"/>
          </a:xfrm>
          <a:prstGeom prst="rect">
            <a:avLst/>
          </a:prstGeom>
          <a:noFill/>
        </p:spPr>
        <p:txBody>
          <a:bodyPr wrap="square">
            <a:spAutoFit/>
          </a:bodyPr>
          <a:lstStyle/>
          <a:p>
            <a:pPr algn="ctr"/>
            <a:r>
              <a:rPr sz="1000" b="0" i="0">
                <a:solidFill>
                  <a:srgbClr val="FFFFFF"/>
                </a:solidFill>
                <a:latin typeface="Calibri"/>
              </a:rPr>
              <a:t>Accuracy</a:t>
            </a:r>
          </a:p>
        </p:txBody>
      </p:sp>
      <p:sp>
        <p:nvSpPr>
          <p:cNvPr id="13" name="Rectangle 12"/>
          <p:cNvSpPr/>
          <p:nvPr/>
        </p:nvSpPr>
        <p:spPr>
          <a:xfrm>
            <a:off x="8001000" y="1920240"/>
            <a:ext cx="1737360" cy="685800"/>
          </a:xfrm>
          <a:prstGeom prst="rect">
            <a:avLst/>
          </a:prstGeom>
          <a:solidFill>
            <a:srgbClr val="1D5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0" y="1947672"/>
            <a:ext cx="1645920" cy="384048"/>
          </a:xfrm>
          <a:prstGeom prst="rect">
            <a:avLst/>
          </a:prstGeom>
          <a:noFill/>
        </p:spPr>
        <p:txBody>
          <a:bodyPr wrap="square">
            <a:spAutoFit/>
          </a:bodyPr>
          <a:lstStyle/>
          <a:p>
            <a:pPr algn="ctr"/>
            <a:r>
              <a:rPr sz="2000" b="1" i="0">
                <a:solidFill>
                  <a:srgbClr val="FFFFFF"/>
                </a:solidFill>
                <a:latin typeface="Calibri"/>
              </a:rPr>
              <a:t>0.6324</a:t>
            </a:r>
          </a:p>
        </p:txBody>
      </p:sp>
      <p:sp>
        <p:nvSpPr>
          <p:cNvPr id="15" name="TextBox 14"/>
          <p:cNvSpPr txBox="1"/>
          <p:nvPr/>
        </p:nvSpPr>
        <p:spPr>
          <a:xfrm>
            <a:off x="8046720" y="2331720"/>
            <a:ext cx="1645920" cy="228600"/>
          </a:xfrm>
          <a:prstGeom prst="rect">
            <a:avLst/>
          </a:prstGeom>
          <a:noFill/>
        </p:spPr>
        <p:txBody>
          <a:bodyPr wrap="square">
            <a:spAutoFit/>
          </a:bodyPr>
          <a:lstStyle/>
          <a:p>
            <a:pPr algn="ctr"/>
            <a:r>
              <a:rPr sz="1000" b="0" i="0">
                <a:solidFill>
                  <a:srgbClr val="FFFFFF"/>
                </a:solidFill>
                <a:latin typeface="Calibri"/>
              </a:rPr>
              <a:t>Macro F1</a:t>
            </a:r>
          </a:p>
        </p:txBody>
      </p:sp>
      <p:sp>
        <p:nvSpPr>
          <p:cNvPr id="16" name="Rectangle 15"/>
          <p:cNvSpPr/>
          <p:nvPr/>
        </p:nvSpPr>
        <p:spPr>
          <a:xfrm>
            <a:off x="9921240" y="1920240"/>
            <a:ext cx="1737360" cy="685800"/>
          </a:xfrm>
          <a:prstGeom prst="rect">
            <a:avLst/>
          </a:prstGeom>
          <a:solidFill>
            <a:srgbClr val="55555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966960" y="1947672"/>
            <a:ext cx="1645920" cy="384048"/>
          </a:xfrm>
          <a:prstGeom prst="rect">
            <a:avLst/>
          </a:prstGeom>
          <a:noFill/>
        </p:spPr>
        <p:txBody>
          <a:bodyPr wrap="square">
            <a:spAutoFit/>
          </a:bodyPr>
          <a:lstStyle/>
          <a:p>
            <a:pPr algn="ctr"/>
            <a:r>
              <a:rPr sz="2000" b="1" i="0">
                <a:solidFill>
                  <a:srgbClr val="FFFFFF"/>
                </a:solidFill>
                <a:latin typeface="Calibri"/>
              </a:rPr>
              <a:t>0.6799</a:t>
            </a:r>
          </a:p>
        </p:txBody>
      </p:sp>
      <p:sp>
        <p:nvSpPr>
          <p:cNvPr id="18" name="TextBox 17"/>
          <p:cNvSpPr txBox="1"/>
          <p:nvPr/>
        </p:nvSpPr>
        <p:spPr>
          <a:xfrm>
            <a:off x="9966960" y="2331720"/>
            <a:ext cx="1645920" cy="228600"/>
          </a:xfrm>
          <a:prstGeom prst="rect">
            <a:avLst/>
          </a:prstGeom>
          <a:noFill/>
        </p:spPr>
        <p:txBody>
          <a:bodyPr wrap="square">
            <a:spAutoFit/>
          </a:bodyPr>
          <a:lstStyle/>
          <a:p>
            <a:pPr algn="ctr"/>
            <a:r>
              <a:rPr sz="1000" b="0" i="0">
                <a:solidFill>
                  <a:srgbClr val="FFFFFF"/>
                </a:solidFill>
                <a:latin typeface="Calibri"/>
              </a:rPr>
              <a:t>Weighted F1</a:t>
            </a:r>
          </a:p>
        </p:txBody>
      </p:sp>
      <p:sp>
        <p:nvSpPr>
          <p:cNvPr id="19" name="Rectangle 18"/>
          <p:cNvSpPr/>
          <p:nvPr/>
        </p:nvSpPr>
        <p:spPr>
          <a:xfrm>
            <a:off x="5943600" y="2971800"/>
            <a:ext cx="5943600" cy="384048"/>
          </a:xfrm>
          <a:prstGeom prst="rect">
            <a:avLst/>
          </a:prstGeom>
          <a:solidFill>
            <a:srgbClr val="1D5C4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035040" y="3017520"/>
            <a:ext cx="1188720" cy="320040"/>
          </a:xfrm>
          <a:prstGeom prst="rect">
            <a:avLst/>
          </a:prstGeom>
          <a:noFill/>
        </p:spPr>
        <p:txBody>
          <a:bodyPr wrap="square">
            <a:spAutoFit/>
          </a:bodyPr>
          <a:lstStyle/>
          <a:p>
            <a:pPr algn="ctr"/>
            <a:r>
              <a:rPr sz="1300" b="1" i="0">
                <a:solidFill>
                  <a:srgbClr val="FFFFFF"/>
                </a:solidFill>
                <a:latin typeface="Calibri"/>
              </a:rPr>
              <a:t>Class</a:t>
            </a:r>
          </a:p>
        </p:txBody>
      </p:sp>
      <p:sp>
        <p:nvSpPr>
          <p:cNvPr id="21" name="TextBox 20"/>
          <p:cNvSpPr txBox="1"/>
          <p:nvPr/>
        </p:nvSpPr>
        <p:spPr>
          <a:xfrm>
            <a:off x="7315200" y="3017520"/>
            <a:ext cx="1188720" cy="320040"/>
          </a:xfrm>
          <a:prstGeom prst="rect">
            <a:avLst/>
          </a:prstGeom>
          <a:noFill/>
        </p:spPr>
        <p:txBody>
          <a:bodyPr wrap="square">
            <a:spAutoFit/>
          </a:bodyPr>
          <a:lstStyle/>
          <a:p>
            <a:pPr algn="ctr"/>
            <a:r>
              <a:rPr sz="1300" b="1" i="0">
                <a:solidFill>
                  <a:srgbClr val="FFFFFF"/>
                </a:solidFill>
                <a:latin typeface="Calibri"/>
              </a:rPr>
              <a:t>Precision</a:t>
            </a:r>
          </a:p>
        </p:txBody>
      </p:sp>
      <p:sp>
        <p:nvSpPr>
          <p:cNvPr id="22" name="TextBox 21"/>
          <p:cNvSpPr txBox="1"/>
          <p:nvPr/>
        </p:nvSpPr>
        <p:spPr>
          <a:xfrm>
            <a:off x="8549640" y="3017520"/>
            <a:ext cx="1188720" cy="320040"/>
          </a:xfrm>
          <a:prstGeom prst="rect">
            <a:avLst/>
          </a:prstGeom>
          <a:noFill/>
        </p:spPr>
        <p:txBody>
          <a:bodyPr wrap="square">
            <a:spAutoFit/>
          </a:bodyPr>
          <a:lstStyle/>
          <a:p>
            <a:pPr algn="ctr"/>
            <a:r>
              <a:rPr sz="1300" b="1" i="0">
                <a:solidFill>
                  <a:srgbClr val="FFFFFF"/>
                </a:solidFill>
                <a:latin typeface="Calibri"/>
              </a:rPr>
              <a:t>Recall</a:t>
            </a:r>
          </a:p>
        </p:txBody>
      </p:sp>
      <p:sp>
        <p:nvSpPr>
          <p:cNvPr id="23" name="TextBox 22"/>
          <p:cNvSpPr txBox="1"/>
          <p:nvPr/>
        </p:nvSpPr>
        <p:spPr>
          <a:xfrm>
            <a:off x="9784080" y="3017520"/>
            <a:ext cx="1188720" cy="320040"/>
          </a:xfrm>
          <a:prstGeom prst="rect">
            <a:avLst/>
          </a:prstGeom>
          <a:noFill/>
        </p:spPr>
        <p:txBody>
          <a:bodyPr wrap="square">
            <a:spAutoFit/>
          </a:bodyPr>
          <a:lstStyle/>
          <a:p>
            <a:pPr algn="ctr"/>
            <a:r>
              <a:rPr sz="1300" b="1" i="0">
                <a:solidFill>
                  <a:srgbClr val="FFFFFF"/>
                </a:solidFill>
                <a:latin typeface="Calibri"/>
              </a:rPr>
              <a:t>F1</a:t>
            </a:r>
          </a:p>
        </p:txBody>
      </p:sp>
      <p:sp>
        <p:nvSpPr>
          <p:cNvPr id="24" name="Rectangle 23"/>
          <p:cNvSpPr/>
          <p:nvPr/>
        </p:nvSpPr>
        <p:spPr>
          <a:xfrm>
            <a:off x="5943600" y="3374136"/>
            <a:ext cx="594360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035040" y="3419856"/>
            <a:ext cx="1188720" cy="320040"/>
          </a:xfrm>
          <a:prstGeom prst="rect">
            <a:avLst/>
          </a:prstGeom>
          <a:noFill/>
        </p:spPr>
        <p:txBody>
          <a:bodyPr wrap="square">
            <a:spAutoFit/>
          </a:bodyPr>
          <a:lstStyle/>
          <a:p>
            <a:pPr algn="ctr"/>
            <a:r>
              <a:rPr sz="1300" b="0" i="0">
                <a:solidFill>
                  <a:srgbClr val="1A1A1A"/>
                </a:solidFill>
                <a:latin typeface="Calibri"/>
              </a:rPr>
              <a:t>Negative</a:t>
            </a:r>
          </a:p>
        </p:txBody>
      </p:sp>
      <p:sp>
        <p:nvSpPr>
          <p:cNvPr id="26" name="TextBox 25"/>
          <p:cNvSpPr txBox="1"/>
          <p:nvPr/>
        </p:nvSpPr>
        <p:spPr>
          <a:xfrm>
            <a:off x="7315200" y="3419856"/>
            <a:ext cx="1188720" cy="320040"/>
          </a:xfrm>
          <a:prstGeom prst="rect">
            <a:avLst/>
          </a:prstGeom>
          <a:noFill/>
        </p:spPr>
        <p:txBody>
          <a:bodyPr wrap="square">
            <a:spAutoFit/>
          </a:bodyPr>
          <a:lstStyle/>
          <a:p>
            <a:pPr algn="ctr"/>
            <a:r>
              <a:rPr sz="1300" b="0" i="0">
                <a:solidFill>
                  <a:srgbClr val="1A1A1A"/>
                </a:solidFill>
                <a:latin typeface="Calibri"/>
              </a:rPr>
              <a:t>0.76</a:t>
            </a:r>
          </a:p>
        </p:txBody>
      </p:sp>
      <p:sp>
        <p:nvSpPr>
          <p:cNvPr id="27" name="TextBox 26"/>
          <p:cNvSpPr txBox="1"/>
          <p:nvPr/>
        </p:nvSpPr>
        <p:spPr>
          <a:xfrm>
            <a:off x="8549640" y="3419856"/>
            <a:ext cx="1188720" cy="320040"/>
          </a:xfrm>
          <a:prstGeom prst="rect">
            <a:avLst/>
          </a:prstGeom>
          <a:noFill/>
        </p:spPr>
        <p:txBody>
          <a:bodyPr wrap="square">
            <a:spAutoFit/>
          </a:bodyPr>
          <a:lstStyle/>
          <a:p>
            <a:pPr algn="ctr"/>
            <a:r>
              <a:rPr sz="1300" b="0" i="0">
                <a:solidFill>
                  <a:srgbClr val="1A1A1A"/>
                </a:solidFill>
                <a:latin typeface="Calibri"/>
              </a:rPr>
              <a:t>0.78</a:t>
            </a:r>
          </a:p>
        </p:txBody>
      </p:sp>
      <p:sp>
        <p:nvSpPr>
          <p:cNvPr id="28" name="TextBox 27"/>
          <p:cNvSpPr txBox="1"/>
          <p:nvPr/>
        </p:nvSpPr>
        <p:spPr>
          <a:xfrm>
            <a:off x="9784080" y="3419856"/>
            <a:ext cx="1188720" cy="320040"/>
          </a:xfrm>
          <a:prstGeom prst="rect">
            <a:avLst/>
          </a:prstGeom>
          <a:noFill/>
        </p:spPr>
        <p:txBody>
          <a:bodyPr wrap="square">
            <a:spAutoFit/>
          </a:bodyPr>
          <a:lstStyle/>
          <a:p>
            <a:pPr algn="ctr"/>
            <a:r>
              <a:rPr sz="1300" b="0" i="0">
                <a:solidFill>
                  <a:srgbClr val="1A1A1A"/>
                </a:solidFill>
                <a:latin typeface="Calibri"/>
              </a:rPr>
              <a:t>0.77</a:t>
            </a:r>
          </a:p>
        </p:txBody>
      </p:sp>
      <p:sp>
        <p:nvSpPr>
          <p:cNvPr id="29" name="Rectangle 28"/>
          <p:cNvSpPr/>
          <p:nvPr/>
        </p:nvSpPr>
        <p:spPr>
          <a:xfrm>
            <a:off x="5943600" y="3776472"/>
            <a:ext cx="594360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035040" y="3822191"/>
            <a:ext cx="1188720" cy="320040"/>
          </a:xfrm>
          <a:prstGeom prst="rect">
            <a:avLst/>
          </a:prstGeom>
          <a:noFill/>
        </p:spPr>
        <p:txBody>
          <a:bodyPr wrap="square">
            <a:spAutoFit/>
          </a:bodyPr>
          <a:lstStyle/>
          <a:p>
            <a:pPr algn="ctr"/>
            <a:r>
              <a:rPr sz="1300" b="0" i="0">
                <a:solidFill>
                  <a:srgbClr val="1A1A1A"/>
                </a:solidFill>
                <a:latin typeface="Calibri"/>
              </a:rPr>
              <a:t>Positive</a:t>
            </a:r>
          </a:p>
        </p:txBody>
      </p:sp>
      <p:sp>
        <p:nvSpPr>
          <p:cNvPr id="31" name="TextBox 30"/>
          <p:cNvSpPr txBox="1"/>
          <p:nvPr/>
        </p:nvSpPr>
        <p:spPr>
          <a:xfrm>
            <a:off x="7315200" y="3822191"/>
            <a:ext cx="1188720" cy="320040"/>
          </a:xfrm>
          <a:prstGeom prst="rect">
            <a:avLst/>
          </a:prstGeom>
          <a:noFill/>
        </p:spPr>
        <p:txBody>
          <a:bodyPr wrap="square">
            <a:spAutoFit/>
          </a:bodyPr>
          <a:lstStyle/>
          <a:p>
            <a:pPr algn="ctr"/>
            <a:r>
              <a:rPr sz="1300" b="0" i="0">
                <a:solidFill>
                  <a:srgbClr val="1A1A1A"/>
                </a:solidFill>
                <a:latin typeface="Calibri"/>
              </a:rPr>
              <a:t>0.72</a:t>
            </a:r>
          </a:p>
        </p:txBody>
      </p:sp>
      <p:sp>
        <p:nvSpPr>
          <p:cNvPr id="32" name="TextBox 31"/>
          <p:cNvSpPr txBox="1"/>
          <p:nvPr/>
        </p:nvSpPr>
        <p:spPr>
          <a:xfrm>
            <a:off x="8549640" y="3822191"/>
            <a:ext cx="1188720" cy="320040"/>
          </a:xfrm>
          <a:prstGeom prst="rect">
            <a:avLst/>
          </a:prstGeom>
          <a:noFill/>
        </p:spPr>
        <p:txBody>
          <a:bodyPr wrap="square">
            <a:spAutoFit/>
          </a:bodyPr>
          <a:lstStyle/>
          <a:p>
            <a:pPr algn="ctr"/>
            <a:r>
              <a:rPr sz="1300" b="0" i="0">
                <a:solidFill>
                  <a:srgbClr val="1A1A1A"/>
                </a:solidFill>
                <a:latin typeface="Calibri"/>
              </a:rPr>
              <a:t>0.56</a:t>
            </a:r>
          </a:p>
        </p:txBody>
      </p:sp>
      <p:sp>
        <p:nvSpPr>
          <p:cNvPr id="33" name="TextBox 32"/>
          <p:cNvSpPr txBox="1"/>
          <p:nvPr/>
        </p:nvSpPr>
        <p:spPr>
          <a:xfrm>
            <a:off x="9784080" y="3822191"/>
            <a:ext cx="1188720" cy="320040"/>
          </a:xfrm>
          <a:prstGeom prst="rect">
            <a:avLst/>
          </a:prstGeom>
          <a:noFill/>
        </p:spPr>
        <p:txBody>
          <a:bodyPr wrap="square">
            <a:spAutoFit/>
          </a:bodyPr>
          <a:lstStyle/>
          <a:p>
            <a:pPr algn="ctr"/>
            <a:r>
              <a:rPr sz="1300" b="0" i="0">
                <a:solidFill>
                  <a:srgbClr val="1A1A1A"/>
                </a:solidFill>
                <a:latin typeface="Calibri"/>
              </a:rPr>
              <a:t>0.63</a:t>
            </a:r>
          </a:p>
        </p:txBody>
      </p:sp>
      <p:sp>
        <p:nvSpPr>
          <p:cNvPr id="34" name="Rectangle 33"/>
          <p:cNvSpPr/>
          <p:nvPr/>
        </p:nvSpPr>
        <p:spPr>
          <a:xfrm>
            <a:off x="5943600" y="4178808"/>
            <a:ext cx="5943600" cy="38404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035040" y="4224528"/>
            <a:ext cx="1188720" cy="320040"/>
          </a:xfrm>
          <a:prstGeom prst="rect">
            <a:avLst/>
          </a:prstGeom>
          <a:noFill/>
        </p:spPr>
        <p:txBody>
          <a:bodyPr wrap="square">
            <a:spAutoFit/>
          </a:bodyPr>
          <a:lstStyle/>
          <a:p>
            <a:pPr algn="ctr"/>
            <a:r>
              <a:rPr sz="1300" b="0" i="0">
                <a:solidFill>
                  <a:srgbClr val="1A1A1A"/>
                </a:solidFill>
                <a:latin typeface="Calibri"/>
              </a:rPr>
              <a:t>Neutral</a:t>
            </a:r>
          </a:p>
        </p:txBody>
      </p:sp>
      <p:sp>
        <p:nvSpPr>
          <p:cNvPr id="36" name="TextBox 35"/>
          <p:cNvSpPr txBox="1"/>
          <p:nvPr/>
        </p:nvSpPr>
        <p:spPr>
          <a:xfrm>
            <a:off x="7315200" y="4224528"/>
            <a:ext cx="1188720" cy="320040"/>
          </a:xfrm>
          <a:prstGeom prst="rect">
            <a:avLst/>
          </a:prstGeom>
          <a:noFill/>
        </p:spPr>
        <p:txBody>
          <a:bodyPr wrap="square">
            <a:spAutoFit/>
          </a:bodyPr>
          <a:lstStyle/>
          <a:p>
            <a:pPr algn="ctr"/>
            <a:r>
              <a:rPr sz="1300" b="0" i="0">
                <a:solidFill>
                  <a:srgbClr val="1A1A1A"/>
                </a:solidFill>
                <a:latin typeface="Calibri"/>
              </a:rPr>
              <a:t>0.45</a:t>
            </a:r>
          </a:p>
        </p:txBody>
      </p:sp>
      <p:sp>
        <p:nvSpPr>
          <p:cNvPr id="37" name="TextBox 36"/>
          <p:cNvSpPr txBox="1"/>
          <p:nvPr/>
        </p:nvSpPr>
        <p:spPr>
          <a:xfrm>
            <a:off x="8549640" y="4224528"/>
            <a:ext cx="1188720" cy="320040"/>
          </a:xfrm>
          <a:prstGeom prst="rect">
            <a:avLst/>
          </a:prstGeom>
          <a:noFill/>
        </p:spPr>
        <p:txBody>
          <a:bodyPr wrap="square">
            <a:spAutoFit/>
          </a:bodyPr>
          <a:lstStyle/>
          <a:p>
            <a:pPr algn="ctr"/>
            <a:r>
              <a:rPr sz="1300" b="0" i="0">
                <a:solidFill>
                  <a:srgbClr val="1A1A1A"/>
                </a:solidFill>
                <a:latin typeface="Calibri"/>
              </a:rPr>
              <a:t>0.55</a:t>
            </a:r>
          </a:p>
        </p:txBody>
      </p:sp>
      <p:sp>
        <p:nvSpPr>
          <p:cNvPr id="38" name="TextBox 37"/>
          <p:cNvSpPr txBox="1"/>
          <p:nvPr/>
        </p:nvSpPr>
        <p:spPr>
          <a:xfrm>
            <a:off x="9784080" y="4224528"/>
            <a:ext cx="1188720" cy="320040"/>
          </a:xfrm>
          <a:prstGeom prst="rect">
            <a:avLst/>
          </a:prstGeom>
          <a:noFill/>
        </p:spPr>
        <p:txBody>
          <a:bodyPr wrap="square">
            <a:spAutoFit/>
          </a:bodyPr>
          <a:lstStyle/>
          <a:p>
            <a:pPr algn="ctr"/>
            <a:r>
              <a:rPr sz="1300" b="0" i="0">
                <a:solidFill>
                  <a:srgbClr val="1A1A1A"/>
                </a:solidFill>
                <a:latin typeface="Calibri"/>
              </a:rPr>
              <a:t>0.49</a:t>
            </a:r>
          </a:p>
        </p:txBody>
      </p:sp>
      <p:sp>
        <p:nvSpPr>
          <p:cNvPr id="39" name="Rectangle 38"/>
          <p:cNvSpPr/>
          <p:nvPr/>
        </p:nvSpPr>
        <p:spPr>
          <a:xfrm>
            <a:off x="274320" y="3657600"/>
            <a:ext cx="11612880" cy="777240"/>
          </a:xfrm>
          <a:prstGeom prst="rect">
            <a:avLst/>
          </a:prstGeom>
          <a:solidFill>
            <a:srgbClr val="FFFFFF"/>
          </a:solidFill>
          <a:ln w="1016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57200" y="3703320"/>
            <a:ext cx="11247120" cy="685800"/>
          </a:xfrm>
          <a:prstGeom prst="rect">
            <a:avLst/>
          </a:prstGeom>
          <a:noFill/>
        </p:spPr>
        <p:txBody>
          <a:bodyPr wrap="square">
            <a:spAutoFit/>
          </a:bodyPr>
          <a:lstStyle/>
          <a:p>
            <a:pPr algn="l"/>
            <a:r>
              <a:rPr sz="1300" b="0" i="0">
                <a:solidFill>
                  <a:srgbClr val="1A1A1A"/>
                </a:solidFill>
                <a:latin typeface="Calibri"/>
              </a:rPr>
              <a:t>Text vs. Audio:  both score ~0.63–0.65 Macro F1 — similar overall, but they fail on different examples.
Text is better at high-arousal negative speech; audio is better when tone says more than words.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11368735" cy="685800"/>
          </a:xfrm>
          <a:prstGeom prst="rect">
            <a:avLst/>
          </a:prstGeom>
          <a:noFill/>
        </p:spPr>
        <p:txBody>
          <a:bodyPr wrap="square">
            <a:spAutoFit/>
          </a:bodyPr>
          <a:lstStyle/>
          <a:p>
            <a:pPr algn="l"/>
            <a:r>
              <a:rPr sz="3000" b="1" i="0">
                <a:solidFill>
                  <a:srgbClr val="FFFFFF"/>
                </a:solidFill>
                <a:latin typeface="Calibri"/>
              </a:rPr>
              <a:t>Late Fusion</a:t>
            </a:r>
          </a:p>
        </p:txBody>
      </p:sp>
      <p:sp>
        <p:nvSpPr>
          <p:cNvPr id="4" name="TextBox 3"/>
          <p:cNvSpPr txBox="1"/>
          <p:nvPr/>
        </p:nvSpPr>
        <p:spPr>
          <a:xfrm>
            <a:off x="411480" y="749808"/>
            <a:ext cx="11368735" cy="320040"/>
          </a:xfrm>
          <a:prstGeom prst="rect">
            <a:avLst/>
          </a:prstGeom>
          <a:noFill/>
        </p:spPr>
        <p:txBody>
          <a:bodyPr wrap="square">
            <a:spAutoFit/>
          </a:bodyPr>
          <a:lstStyle/>
          <a:p>
            <a:pPr algn="l"/>
            <a:r>
              <a:rPr sz="1300" b="0" i="0">
                <a:solidFill>
                  <a:srgbClr val="BBCCEE"/>
                </a:solidFill>
                <a:latin typeface="Calibri"/>
              </a:rPr>
              <a:t>Combining text + audio outputs — no extra training needed</a:t>
            </a:r>
          </a:p>
        </p:txBody>
      </p:sp>
      <p:sp>
        <p:nvSpPr>
          <p:cNvPr id="5" name="Rectangle 4"/>
          <p:cNvSpPr/>
          <p:nvPr/>
        </p:nvSpPr>
        <p:spPr>
          <a:xfrm>
            <a:off x="0" y="1143000"/>
            <a:ext cx="12191695" cy="5715000"/>
          </a:xfrm>
          <a:prstGeom prst="rect">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463040"/>
            <a:ext cx="7498079" cy="1051560"/>
          </a:xfrm>
          <a:prstGeom prst="rect">
            <a:avLst/>
          </a:prstGeom>
          <a:solidFill>
            <a:srgbClr val="FFFFFF"/>
          </a:solidFill>
          <a:ln w="12700">
            <a:solidFill>
              <a:srgbClr val="7B49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508760"/>
            <a:ext cx="2743200" cy="347472"/>
          </a:xfrm>
          <a:prstGeom prst="rect">
            <a:avLst/>
          </a:prstGeom>
          <a:noFill/>
        </p:spPr>
        <p:txBody>
          <a:bodyPr wrap="square">
            <a:spAutoFit/>
          </a:bodyPr>
          <a:lstStyle/>
          <a:p>
            <a:pPr algn="l"/>
            <a:r>
              <a:rPr sz="1300" b="1" i="0">
                <a:solidFill>
                  <a:srgbClr val="7B49A8"/>
                </a:solidFill>
                <a:latin typeface="Calibri"/>
              </a:rPr>
              <a:t>How it works:</a:t>
            </a:r>
          </a:p>
        </p:txBody>
      </p:sp>
      <p:sp>
        <p:nvSpPr>
          <p:cNvPr id="8" name="TextBox 7"/>
          <p:cNvSpPr txBox="1"/>
          <p:nvPr/>
        </p:nvSpPr>
        <p:spPr>
          <a:xfrm>
            <a:off x="457200" y="1828800"/>
            <a:ext cx="7132320" cy="502920"/>
          </a:xfrm>
          <a:prstGeom prst="rect">
            <a:avLst/>
          </a:prstGeom>
          <a:noFill/>
        </p:spPr>
        <p:txBody>
          <a:bodyPr wrap="square">
            <a:spAutoFit/>
          </a:bodyPr>
          <a:lstStyle/>
          <a:p>
            <a:pPr algn="ctr"/>
            <a:r>
              <a:rPr sz="1800" b="1" i="0">
                <a:solidFill>
                  <a:srgbClr val="1A1A1A"/>
                </a:solidFill>
                <a:latin typeface="Calibri"/>
              </a:rPr>
              <a:t>ŷ_fused  =  0.65 × ŷ_text  +  0.35 × ŷ_audio</a:t>
            </a:r>
          </a:p>
        </p:txBody>
      </p:sp>
      <p:sp>
        <p:nvSpPr>
          <p:cNvPr id="9" name="TextBox 8"/>
          <p:cNvSpPr txBox="1"/>
          <p:nvPr/>
        </p:nvSpPr>
        <p:spPr>
          <a:xfrm>
            <a:off x="457200" y="2606040"/>
            <a:ext cx="7132320" cy="1371600"/>
          </a:xfrm>
          <a:prstGeom prst="rect">
            <a:avLst/>
          </a:prstGeom>
          <a:noFill/>
        </p:spPr>
        <p:txBody>
          <a:bodyPr wrap="square">
            <a:spAutoFit/>
          </a:bodyPr>
          <a:lstStyle/>
          <a:p>
            <a:pPr algn="l"/>
            <a:r>
              <a:rPr sz="1400">
                <a:solidFill>
                  <a:srgbClr val="1A1A1A"/>
                </a:solidFill>
                <a:latin typeface="Calibri"/>
              </a:rPr>
              <a:t>Weighted sum of the output logits (raw scores) from both models</a:t>
            </a:r>
          </a:p>
          <a:p>
            <a:pPr algn="l"/>
            <a:r>
              <a:rPr sz="1400">
                <a:solidFill>
                  <a:srgbClr val="1A1A1A"/>
                </a:solidFill>
                <a:latin typeface="Calibri"/>
              </a:rPr>
              <a:t>Weights reflect text model's slightly higher validation performance</a:t>
            </a:r>
          </a:p>
          <a:p>
            <a:pPr algn="l"/>
            <a:r>
              <a:rPr sz="1400">
                <a:solidFill>
                  <a:srgbClr val="1A1A1A"/>
                </a:solidFill>
                <a:latin typeface="Calibri"/>
              </a:rPr>
              <a:t>No new training — uses the already-trained checkpoints</a:t>
            </a:r>
          </a:p>
          <a:p>
            <a:pPr algn="l"/>
            <a:r>
              <a:rPr sz="1400">
                <a:solidFill>
                  <a:srgbClr val="1A1A1A"/>
                </a:solidFill>
                <a:latin typeface="Calibri"/>
              </a:rPr>
              <a:t>Simple, interpretable, and surprisingly powerful</a:t>
            </a:r>
          </a:p>
        </p:txBody>
      </p:sp>
      <p:sp>
        <p:nvSpPr>
          <p:cNvPr id="10" name="Rectangle 9"/>
          <p:cNvSpPr/>
          <p:nvPr/>
        </p:nvSpPr>
        <p:spPr>
          <a:xfrm>
            <a:off x="8092440" y="1463040"/>
            <a:ext cx="3794760" cy="2514600"/>
          </a:xfrm>
          <a:prstGeom prst="rect">
            <a:avLst/>
          </a:prstGeom>
          <a:solidFill>
            <a:srgbClr val="7B49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83879" y="1554480"/>
            <a:ext cx="3566160" cy="411480"/>
          </a:xfrm>
          <a:prstGeom prst="rect">
            <a:avLst/>
          </a:prstGeom>
          <a:noFill/>
        </p:spPr>
        <p:txBody>
          <a:bodyPr wrap="square">
            <a:spAutoFit/>
          </a:bodyPr>
          <a:lstStyle/>
          <a:p>
            <a:pPr algn="ctr"/>
            <a:r>
              <a:rPr sz="1500" b="0" i="0">
                <a:solidFill>
                  <a:srgbClr val="FFFFFF"/>
                </a:solidFill>
                <a:latin typeface="Calibri"/>
              </a:rPr>
              <a:t>Macro F1</a:t>
            </a:r>
          </a:p>
        </p:txBody>
      </p:sp>
      <p:sp>
        <p:nvSpPr>
          <p:cNvPr id="12" name="TextBox 11"/>
          <p:cNvSpPr txBox="1"/>
          <p:nvPr/>
        </p:nvSpPr>
        <p:spPr>
          <a:xfrm>
            <a:off x="8183879" y="1920240"/>
            <a:ext cx="3566160" cy="822960"/>
          </a:xfrm>
          <a:prstGeom prst="rect">
            <a:avLst/>
          </a:prstGeom>
          <a:noFill/>
        </p:spPr>
        <p:txBody>
          <a:bodyPr wrap="square">
            <a:spAutoFit/>
          </a:bodyPr>
          <a:lstStyle/>
          <a:p>
            <a:pPr algn="ctr"/>
            <a:r>
              <a:rPr sz="4600" b="1" i="0">
                <a:solidFill>
                  <a:srgbClr val="FFFFFF"/>
                </a:solidFill>
                <a:latin typeface="Calibri"/>
              </a:rPr>
              <a:t>0.8173</a:t>
            </a:r>
          </a:p>
        </p:txBody>
      </p:sp>
      <p:sp>
        <p:nvSpPr>
          <p:cNvPr id="13" name="TextBox 12"/>
          <p:cNvSpPr txBox="1"/>
          <p:nvPr/>
        </p:nvSpPr>
        <p:spPr>
          <a:xfrm>
            <a:off x="8183879" y="2743200"/>
            <a:ext cx="3566160" cy="594360"/>
          </a:xfrm>
          <a:prstGeom prst="rect">
            <a:avLst/>
          </a:prstGeom>
          <a:noFill/>
        </p:spPr>
        <p:txBody>
          <a:bodyPr wrap="square">
            <a:spAutoFit/>
          </a:bodyPr>
          <a:lstStyle/>
          <a:p>
            <a:pPr algn="ctr"/>
            <a:r>
              <a:rPr sz="1400" b="0" i="0">
                <a:solidFill>
                  <a:srgbClr val="DDCCFF"/>
                </a:solidFill>
                <a:latin typeface="Calibri"/>
              </a:rPr>
              <a:t>+0.17 over text-only
+0.19 over audio-only</a:t>
            </a:r>
          </a:p>
        </p:txBody>
      </p:sp>
      <p:sp>
        <p:nvSpPr>
          <p:cNvPr id="14" name="Rectangle 13"/>
          <p:cNvSpPr/>
          <p:nvPr/>
        </p:nvSpPr>
        <p:spPr>
          <a:xfrm>
            <a:off x="274320" y="4114800"/>
            <a:ext cx="11612880" cy="1783080"/>
          </a:xfrm>
          <a:prstGeom prst="rect">
            <a:avLst/>
          </a:prstGeom>
          <a:solidFill>
            <a:srgbClr val="FFFFFF"/>
          </a:solidFill>
          <a:ln w="10160">
            <a:solidFill>
              <a:srgbClr val="7B49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7200" y="4160520"/>
            <a:ext cx="10972800" cy="347472"/>
          </a:xfrm>
          <a:prstGeom prst="rect">
            <a:avLst/>
          </a:prstGeom>
          <a:noFill/>
        </p:spPr>
        <p:txBody>
          <a:bodyPr wrap="square">
            <a:spAutoFit/>
          </a:bodyPr>
          <a:lstStyle/>
          <a:p>
            <a:pPr algn="l"/>
            <a:r>
              <a:rPr sz="1300" b="1" i="0">
                <a:solidFill>
                  <a:srgbClr val="7B49A8"/>
                </a:solidFill>
                <a:latin typeface="Calibri"/>
              </a:rPr>
              <a:t>Per-class F1 scores — before and after fusion</a:t>
            </a:r>
          </a:p>
        </p:txBody>
      </p:sp>
      <p:sp>
        <p:nvSpPr>
          <p:cNvPr id="16" name="TextBox 15"/>
          <p:cNvSpPr txBox="1"/>
          <p:nvPr/>
        </p:nvSpPr>
        <p:spPr>
          <a:xfrm>
            <a:off x="457200" y="4526280"/>
            <a:ext cx="2286000" cy="320040"/>
          </a:xfrm>
          <a:prstGeom prst="rect">
            <a:avLst/>
          </a:prstGeom>
          <a:noFill/>
        </p:spPr>
        <p:txBody>
          <a:bodyPr wrap="square">
            <a:spAutoFit/>
          </a:bodyPr>
          <a:lstStyle/>
          <a:p>
            <a:pPr algn="l"/>
            <a:r>
              <a:rPr sz="1200" b="1" i="0">
                <a:solidFill>
                  <a:srgbClr val="555555"/>
                </a:solidFill>
                <a:latin typeface="Calibri"/>
              </a:rPr>
              <a:t>Class</a:t>
            </a:r>
          </a:p>
        </p:txBody>
      </p:sp>
      <p:sp>
        <p:nvSpPr>
          <p:cNvPr id="17" name="TextBox 16"/>
          <p:cNvSpPr txBox="1"/>
          <p:nvPr/>
        </p:nvSpPr>
        <p:spPr>
          <a:xfrm>
            <a:off x="2926080" y="4526280"/>
            <a:ext cx="2286000" cy="320040"/>
          </a:xfrm>
          <a:prstGeom prst="rect">
            <a:avLst/>
          </a:prstGeom>
          <a:noFill/>
        </p:spPr>
        <p:txBody>
          <a:bodyPr wrap="square">
            <a:spAutoFit/>
          </a:bodyPr>
          <a:lstStyle/>
          <a:p>
            <a:pPr algn="l"/>
            <a:r>
              <a:rPr sz="1200" b="1" i="0">
                <a:solidFill>
                  <a:srgbClr val="555555"/>
                </a:solidFill>
                <a:latin typeface="Calibri"/>
              </a:rPr>
              <a:t>Text only</a:t>
            </a:r>
          </a:p>
        </p:txBody>
      </p:sp>
      <p:sp>
        <p:nvSpPr>
          <p:cNvPr id="18" name="TextBox 17"/>
          <p:cNvSpPr txBox="1"/>
          <p:nvPr/>
        </p:nvSpPr>
        <p:spPr>
          <a:xfrm>
            <a:off x="5394960" y="4526280"/>
            <a:ext cx="2286000" cy="320040"/>
          </a:xfrm>
          <a:prstGeom prst="rect">
            <a:avLst/>
          </a:prstGeom>
          <a:noFill/>
        </p:spPr>
        <p:txBody>
          <a:bodyPr wrap="square">
            <a:spAutoFit/>
          </a:bodyPr>
          <a:lstStyle/>
          <a:p>
            <a:pPr algn="l"/>
            <a:r>
              <a:rPr sz="1200" b="1" i="0">
                <a:solidFill>
                  <a:srgbClr val="555555"/>
                </a:solidFill>
                <a:latin typeface="Calibri"/>
              </a:rPr>
              <a:t>Audio only</a:t>
            </a:r>
          </a:p>
        </p:txBody>
      </p:sp>
      <p:sp>
        <p:nvSpPr>
          <p:cNvPr id="19" name="TextBox 18"/>
          <p:cNvSpPr txBox="1"/>
          <p:nvPr/>
        </p:nvSpPr>
        <p:spPr>
          <a:xfrm>
            <a:off x="7863840" y="4526280"/>
            <a:ext cx="2286000" cy="320040"/>
          </a:xfrm>
          <a:prstGeom prst="rect">
            <a:avLst/>
          </a:prstGeom>
          <a:noFill/>
        </p:spPr>
        <p:txBody>
          <a:bodyPr wrap="square">
            <a:spAutoFit/>
          </a:bodyPr>
          <a:lstStyle/>
          <a:p>
            <a:pPr algn="l"/>
            <a:r>
              <a:rPr sz="1200" b="1" i="0">
                <a:solidFill>
                  <a:srgbClr val="555555"/>
                </a:solidFill>
                <a:latin typeface="Calibri"/>
              </a:rPr>
              <a:t>Late Fusion</a:t>
            </a:r>
          </a:p>
        </p:txBody>
      </p:sp>
      <p:sp>
        <p:nvSpPr>
          <p:cNvPr id="20" name="TextBox 19"/>
          <p:cNvSpPr txBox="1"/>
          <p:nvPr/>
        </p:nvSpPr>
        <p:spPr>
          <a:xfrm>
            <a:off x="457200" y="4892040"/>
            <a:ext cx="2286000" cy="274320"/>
          </a:xfrm>
          <a:prstGeom prst="rect">
            <a:avLst/>
          </a:prstGeom>
          <a:noFill/>
        </p:spPr>
        <p:txBody>
          <a:bodyPr wrap="square">
            <a:spAutoFit/>
          </a:bodyPr>
          <a:lstStyle/>
          <a:p>
            <a:pPr algn="l"/>
            <a:r>
              <a:rPr sz="1300" b="0" i="0">
                <a:solidFill>
                  <a:srgbClr val="1A1A1A"/>
                </a:solidFill>
                <a:latin typeface="Calibri"/>
              </a:rPr>
              <a:t>Negative</a:t>
            </a:r>
          </a:p>
        </p:txBody>
      </p:sp>
      <p:sp>
        <p:nvSpPr>
          <p:cNvPr id="21" name="TextBox 20"/>
          <p:cNvSpPr txBox="1"/>
          <p:nvPr/>
        </p:nvSpPr>
        <p:spPr>
          <a:xfrm>
            <a:off x="2926080" y="4892040"/>
            <a:ext cx="2286000" cy="274320"/>
          </a:xfrm>
          <a:prstGeom prst="rect">
            <a:avLst/>
          </a:prstGeom>
          <a:noFill/>
        </p:spPr>
        <p:txBody>
          <a:bodyPr wrap="square">
            <a:spAutoFit/>
          </a:bodyPr>
          <a:lstStyle/>
          <a:p>
            <a:pPr algn="l"/>
            <a:r>
              <a:rPr sz="1300" b="0" i="0">
                <a:solidFill>
                  <a:srgbClr val="555555"/>
                </a:solidFill>
                <a:latin typeface="Calibri"/>
              </a:rPr>
              <a:t>0.76</a:t>
            </a:r>
          </a:p>
        </p:txBody>
      </p:sp>
      <p:sp>
        <p:nvSpPr>
          <p:cNvPr id="22" name="TextBox 21"/>
          <p:cNvSpPr txBox="1"/>
          <p:nvPr/>
        </p:nvSpPr>
        <p:spPr>
          <a:xfrm>
            <a:off x="5394960" y="4892040"/>
            <a:ext cx="2286000" cy="274320"/>
          </a:xfrm>
          <a:prstGeom prst="rect">
            <a:avLst/>
          </a:prstGeom>
          <a:noFill/>
        </p:spPr>
        <p:txBody>
          <a:bodyPr wrap="square">
            <a:spAutoFit/>
          </a:bodyPr>
          <a:lstStyle/>
          <a:p>
            <a:pPr algn="l"/>
            <a:r>
              <a:rPr sz="1300" b="0" i="0">
                <a:solidFill>
                  <a:srgbClr val="555555"/>
                </a:solidFill>
                <a:latin typeface="Calibri"/>
              </a:rPr>
              <a:t>0.77</a:t>
            </a:r>
          </a:p>
        </p:txBody>
      </p:sp>
      <p:sp>
        <p:nvSpPr>
          <p:cNvPr id="23" name="TextBox 22"/>
          <p:cNvSpPr txBox="1"/>
          <p:nvPr/>
        </p:nvSpPr>
        <p:spPr>
          <a:xfrm>
            <a:off x="7863840" y="4892040"/>
            <a:ext cx="2286000" cy="274320"/>
          </a:xfrm>
          <a:prstGeom prst="rect">
            <a:avLst/>
          </a:prstGeom>
          <a:noFill/>
        </p:spPr>
        <p:txBody>
          <a:bodyPr wrap="square">
            <a:spAutoFit/>
          </a:bodyPr>
          <a:lstStyle/>
          <a:p>
            <a:pPr algn="l"/>
            <a:r>
              <a:rPr sz="1300" b="1" i="0">
                <a:solidFill>
                  <a:srgbClr val="1E8B4C"/>
                </a:solidFill>
                <a:latin typeface="Calibri"/>
              </a:rPr>
              <a:t>0.85</a:t>
            </a:r>
          </a:p>
        </p:txBody>
      </p:sp>
      <p:sp>
        <p:nvSpPr>
          <p:cNvPr id="24" name="TextBox 23"/>
          <p:cNvSpPr txBox="1"/>
          <p:nvPr/>
        </p:nvSpPr>
        <p:spPr>
          <a:xfrm>
            <a:off x="457200" y="5184648"/>
            <a:ext cx="2286000" cy="274320"/>
          </a:xfrm>
          <a:prstGeom prst="rect">
            <a:avLst/>
          </a:prstGeom>
          <a:noFill/>
        </p:spPr>
        <p:txBody>
          <a:bodyPr wrap="square">
            <a:spAutoFit/>
          </a:bodyPr>
          <a:lstStyle/>
          <a:p>
            <a:pPr algn="l"/>
            <a:r>
              <a:rPr sz="1300" b="0" i="0">
                <a:solidFill>
                  <a:srgbClr val="1A1A1A"/>
                </a:solidFill>
                <a:latin typeface="Calibri"/>
              </a:rPr>
              <a:t>Positive</a:t>
            </a:r>
          </a:p>
        </p:txBody>
      </p:sp>
      <p:sp>
        <p:nvSpPr>
          <p:cNvPr id="25" name="TextBox 24"/>
          <p:cNvSpPr txBox="1"/>
          <p:nvPr/>
        </p:nvSpPr>
        <p:spPr>
          <a:xfrm>
            <a:off x="2926080" y="5184648"/>
            <a:ext cx="2286000" cy="274320"/>
          </a:xfrm>
          <a:prstGeom prst="rect">
            <a:avLst/>
          </a:prstGeom>
          <a:noFill/>
        </p:spPr>
        <p:txBody>
          <a:bodyPr wrap="square">
            <a:spAutoFit/>
          </a:bodyPr>
          <a:lstStyle/>
          <a:p>
            <a:pPr algn="l"/>
            <a:r>
              <a:rPr sz="1300" b="0" i="0">
                <a:solidFill>
                  <a:srgbClr val="555555"/>
                </a:solidFill>
                <a:latin typeface="Calibri"/>
              </a:rPr>
              <a:t>0.71</a:t>
            </a:r>
          </a:p>
        </p:txBody>
      </p:sp>
      <p:sp>
        <p:nvSpPr>
          <p:cNvPr id="26" name="TextBox 25"/>
          <p:cNvSpPr txBox="1"/>
          <p:nvPr/>
        </p:nvSpPr>
        <p:spPr>
          <a:xfrm>
            <a:off x="5394960" y="5184648"/>
            <a:ext cx="2286000" cy="274320"/>
          </a:xfrm>
          <a:prstGeom prst="rect">
            <a:avLst/>
          </a:prstGeom>
          <a:noFill/>
        </p:spPr>
        <p:txBody>
          <a:bodyPr wrap="square">
            <a:spAutoFit/>
          </a:bodyPr>
          <a:lstStyle/>
          <a:p>
            <a:pPr algn="l"/>
            <a:r>
              <a:rPr sz="1300" b="0" i="0">
                <a:solidFill>
                  <a:srgbClr val="555555"/>
                </a:solidFill>
                <a:latin typeface="Calibri"/>
              </a:rPr>
              <a:t>0.63</a:t>
            </a:r>
          </a:p>
        </p:txBody>
      </p:sp>
      <p:sp>
        <p:nvSpPr>
          <p:cNvPr id="27" name="TextBox 26"/>
          <p:cNvSpPr txBox="1"/>
          <p:nvPr/>
        </p:nvSpPr>
        <p:spPr>
          <a:xfrm>
            <a:off x="7863840" y="5184648"/>
            <a:ext cx="2286000" cy="274320"/>
          </a:xfrm>
          <a:prstGeom prst="rect">
            <a:avLst/>
          </a:prstGeom>
          <a:noFill/>
        </p:spPr>
        <p:txBody>
          <a:bodyPr wrap="square">
            <a:spAutoFit/>
          </a:bodyPr>
          <a:lstStyle/>
          <a:p>
            <a:pPr algn="l"/>
            <a:r>
              <a:rPr sz="1300" b="1" i="0">
                <a:solidFill>
                  <a:srgbClr val="1E8B4C"/>
                </a:solidFill>
                <a:latin typeface="Calibri"/>
              </a:rPr>
              <a:t>0.86</a:t>
            </a:r>
          </a:p>
        </p:txBody>
      </p:sp>
      <p:sp>
        <p:nvSpPr>
          <p:cNvPr id="28" name="TextBox 27"/>
          <p:cNvSpPr txBox="1"/>
          <p:nvPr/>
        </p:nvSpPr>
        <p:spPr>
          <a:xfrm>
            <a:off x="457200" y="5477255"/>
            <a:ext cx="2286000" cy="274320"/>
          </a:xfrm>
          <a:prstGeom prst="rect">
            <a:avLst/>
          </a:prstGeom>
          <a:noFill/>
        </p:spPr>
        <p:txBody>
          <a:bodyPr wrap="square">
            <a:spAutoFit/>
          </a:bodyPr>
          <a:lstStyle/>
          <a:p>
            <a:pPr algn="l"/>
            <a:r>
              <a:rPr sz="1300" b="0" i="0">
                <a:solidFill>
                  <a:srgbClr val="1A1A1A"/>
                </a:solidFill>
                <a:latin typeface="Calibri"/>
              </a:rPr>
              <a:t>Neutral</a:t>
            </a:r>
          </a:p>
        </p:txBody>
      </p:sp>
      <p:sp>
        <p:nvSpPr>
          <p:cNvPr id="29" name="TextBox 28"/>
          <p:cNvSpPr txBox="1"/>
          <p:nvPr/>
        </p:nvSpPr>
        <p:spPr>
          <a:xfrm>
            <a:off x="2926080" y="5477255"/>
            <a:ext cx="2286000" cy="274320"/>
          </a:xfrm>
          <a:prstGeom prst="rect">
            <a:avLst/>
          </a:prstGeom>
          <a:noFill/>
        </p:spPr>
        <p:txBody>
          <a:bodyPr wrap="square">
            <a:spAutoFit/>
          </a:bodyPr>
          <a:lstStyle/>
          <a:p>
            <a:pPr algn="l"/>
            <a:r>
              <a:rPr sz="1300" b="0" i="0">
                <a:solidFill>
                  <a:srgbClr val="555555"/>
                </a:solidFill>
                <a:latin typeface="Calibri"/>
              </a:rPr>
              <a:t>0.48</a:t>
            </a:r>
          </a:p>
        </p:txBody>
      </p:sp>
      <p:sp>
        <p:nvSpPr>
          <p:cNvPr id="30" name="TextBox 29"/>
          <p:cNvSpPr txBox="1"/>
          <p:nvPr/>
        </p:nvSpPr>
        <p:spPr>
          <a:xfrm>
            <a:off x="5394960" y="5477255"/>
            <a:ext cx="2286000" cy="274320"/>
          </a:xfrm>
          <a:prstGeom prst="rect">
            <a:avLst/>
          </a:prstGeom>
          <a:noFill/>
        </p:spPr>
        <p:txBody>
          <a:bodyPr wrap="square">
            <a:spAutoFit/>
          </a:bodyPr>
          <a:lstStyle/>
          <a:p>
            <a:pPr algn="l"/>
            <a:r>
              <a:rPr sz="1300" b="0" i="0">
                <a:solidFill>
                  <a:srgbClr val="555555"/>
                </a:solidFill>
                <a:latin typeface="Calibri"/>
              </a:rPr>
              <a:t>0.49</a:t>
            </a:r>
          </a:p>
        </p:txBody>
      </p:sp>
      <p:sp>
        <p:nvSpPr>
          <p:cNvPr id="31" name="TextBox 30"/>
          <p:cNvSpPr txBox="1"/>
          <p:nvPr/>
        </p:nvSpPr>
        <p:spPr>
          <a:xfrm>
            <a:off x="7863840" y="5477255"/>
            <a:ext cx="2286000" cy="274320"/>
          </a:xfrm>
          <a:prstGeom prst="rect">
            <a:avLst/>
          </a:prstGeom>
          <a:noFill/>
        </p:spPr>
        <p:txBody>
          <a:bodyPr wrap="square">
            <a:spAutoFit/>
          </a:bodyPr>
          <a:lstStyle/>
          <a:p>
            <a:pPr algn="l"/>
            <a:r>
              <a:rPr sz="1300" b="1" i="0">
                <a:solidFill>
                  <a:srgbClr val="1E8B4C"/>
                </a:solidFill>
                <a:latin typeface="Calibri"/>
              </a:rPr>
              <a:t>0.71</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11368735" cy="685800"/>
          </a:xfrm>
          <a:prstGeom prst="rect">
            <a:avLst/>
          </a:prstGeom>
          <a:noFill/>
        </p:spPr>
        <p:txBody>
          <a:bodyPr wrap="square">
            <a:spAutoFit/>
          </a:bodyPr>
          <a:lstStyle/>
          <a:p>
            <a:pPr algn="l"/>
            <a:r>
              <a:rPr sz="3000" b="1" i="0">
                <a:solidFill>
                  <a:srgbClr val="FFFFFF"/>
                </a:solidFill>
                <a:latin typeface="Calibri"/>
              </a:rPr>
              <a:t>Intermediate Fusion</a:t>
            </a:r>
          </a:p>
        </p:txBody>
      </p:sp>
      <p:sp>
        <p:nvSpPr>
          <p:cNvPr id="4" name="TextBox 3"/>
          <p:cNvSpPr txBox="1"/>
          <p:nvPr/>
        </p:nvSpPr>
        <p:spPr>
          <a:xfrm>
            <a:off x="411480" y="749808"/>
            <a:ext cx="11368735" cy="320040"/>
          </a:xfrm>
          <a:prstGeom prst="rect">
            <a:avLst/>
          </a:prstGeom>
          <a:noFill/>
        </p:spPr>
        <p:txBody>
          <a:bodyPr wrap="square">
            <a:spAutoFit/>
          </a:bodyPr>
          <a:lstStyle/>
          <a:p>
            <a:pPr algn="l"/>
            <a:r>
              <a:rPr sz="1300" b="0" i="0">
                <a:solidFill>
                  <a:srgbClr val="BBCCEE"/>
                </a:solidFill>
                <a:latin typeface="Calibri"/>
              </a:rPr>
              <a:t>Deeper combination — joint training at the feature level</a:t>
            </a:r>
          </a:p>
        </p:txBody>
      </p:sp>
      <p:sp>
        <p:nvSpPr>
          <p:cNvPr id="5" name="Rectangle 4"/>
          <p:cNvSpPr/>
          <p:nvPr/>
        </p:nvSpPr>
        <p:spPr>
          <a:xfrm>
            <a:off x="0" y="1143000"/>
            <a:ext cx="12191695" cy="5715000"/>
          </a:xfrm>
          <a:prstGeom prst="rect">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74320" y="1417320"/>
            <a:ext cx="6949440" cy="3200400"/>
          </a:xfrm>
          <a:prstGeom prst="rect">
            <a:avLst/>
          </a:prstGeom>
          <a:solidFill>
            <a:srgbClr val="FFFFFF"/>
          </a:solidFill>
          <a:ln w="12700">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57200" y="1463040"/>
            <a:ext cx="6583680" cy="384048"/>
          </a:xfrm>
          <a:prstGeom prst="rect">
            <a:avLst/>
          </a:prstGeom>
          <a:noFill/>
        </p:spPr>
        <p:txBody>
          <a:bodyPr wrap="square">
            <a:spAutoFit/>
          </a:bodyPr>
          <a:lstStyle/>
          <a:p>
            <a:pPr algn="l"/>
            <a:r>
              <a:rPr sz="1400" b="1" i="0">
                <a:solidFill>
                  <a:srgbClr val="C55A11"/>
                </a:solidFill>
                <a:latin typeface="Calibri"/>
              </a:rPr>
              <a:t>How it differs from late fusion:</a:t>
            </a:r>
          </a:p>
        </p:txBody>
      </p:sp>
      <p:sp>
        <p:nvSpPr>
          <p:cNvPr id="8" name="TextBox 7"/>
          <p:cNvSpPr txBox="1"/>
          <p:nvPr/>
        </p:nvSpPr>
        <p:spPr>
          <a:xfrm>
            <a:off x="457200" y="1874519"/>
            <a:ext cx="6675120" cy="2743200"/>
          </a:xfrm>
          <a:prstGeom prst="rect">
            <a:avLst/>
          </a:prstGeom>
          <a:noFill/>
        </p:spPr>
        <p:txBody>
          <a:bodyPr wrap="square">
            <a:spAutoFit/>
          </a:bodyPr>
          <a:lstStyle/>
          <a:p>
            <a:pPr algn="l"/>
            <a:r>
              <a:rPr sz="1250">
                <a:solidFill>
                  <a:srgbClr val="1A1A1A"/>
                </a:solidFill>
                <a:latin typeface="Calibri"/>
              </a:rPr>
              <a:t>Late fusion: each model trained separately → combine outputs at the end</a:t>
            </a:r>
          </a:p>
          <a:p>
            <a:pPr algn="l"/>
            <a:r>
              <a:rPr sz="1250">
                <a:solidFill>
                  <a:srgbClr val="1A1A1A"/>
                </a:solidFill>
                <a:latin typeface="Calibri"/>
              </a:rPr>
              <a:t>Intermediate fusion: both encoders trained together through one shared loss</a:t>
            </a:r>
          </a:p>
          <a:p>
            <a:pPr algn="l"/>
            <a:r>
              <a:rPr sz="1250">
                <a:solidFill>
                  <a:srgbClr val="1A1A1A"/>
                </a:solidFill>
                <a:latin typeface="Calibri"/>
              </a:rPr>
              <a:t/>
            </a:r>
          </a:p>
          <a:p>
            <a:pPr algn="l"/>
            <a:r>
              <a:rPr sz="1250">
                <a:solidFill>
                  <a:srgbClr val="1A1A1A"/>
                </a:solidFill>
                <a:latin typeface="Calibri"/>
              </a:rPr>
              <a:t>Architecture:</a:t>
            </a:r>
          </a:p>
          <a:p>
            <a:pPr algn="l"/>
            <a:r>
              <a:rPr sz="1250">
                <a:solidFill>
                  <a:srgbClr val="1A1A1A"/>
                </a:solidFill>
                <a:latin typeface="Calibri"/>
              </a:rPr>
              <a:t>  1. Mean-pool RoBERTa hidden states  →  768-dim vector</a:t>
            </a:r>
          </a:p>
          <a:p>
            <a:pPr algn="l"/>
            <a:r>
              <a:rPr sz="1250">
                <a:solidFill>
                  <a:srgbClr val="1A1A1A"/>
                </a:solidFill>
                <a:latin typeface="Calibri"/>
              </a:rPr>
              <a:t>  2. Mean-pool Wav2Vec2 hidden states  →  768-dim vector</a:t>
            </a:r>
          </a:p>
          <a:p>
            <a:pPr algn="l"/>
            <a:r>
              <a:rPr sz="1250">
                <a:solidFill>
                  <a:srgbClr val="1A1A1A"/>
                </a:solidFill>
                <a:latin typeface="Calibri"/>
              </a:rPr>
              <a:t>  3. Concatenate  →  1536-dim joint representation</a:t>
            </a:r>
          </a:p>
          <a:p>
            <a:pPr algn="l"/>
            <a:r>
              <a:rPr sz="1250">
                <a:solidFill>
                  <a:srgbClr val="1A1A1A"/>
                </a:solidFill>
                <a:latin typeface="Calibri"/>
              </a:rPr>
              <a:t>  4. MLP head (256 hidden, dropout 0.3)  →  3 class scores</a:t>
            </a:r>
          </a:p>
          <a:p>
            <a:pPr algn="l"/>
            <a:r>
              <a:rPr sz="1250">
                <a:solidFill>
                  <a:srgbClr val="1A1A1A"/>
                </a:solidFill>
                <a:latin typeface="Calibri"/>
              </a:rPr>
              <a:t/>
            </a:r>
          </a:p>
          <a:p>
            <a:pPr algn="l"/>
            <a:r>
              <a:rPr sz="1250">
                <a:solidFill>
                  <a:srgbClr val="1A1A1A"/>
                </a:solidFill>
                <a:latin typeface="Calibri"/>
              </a:rPr>
              <a:t>Differential learning rates: encoders 1×10⁻⁵  |  MLP head 1×10⁻⁴</a:t>
            </a:r>
          </a:p>
        </p:txBody>
      </p:sp>
      <p:sp>
        <p:nvSpPr>
          <p:cNvPr id="9" name="Rectangle 8"/>
          <p:cNvSpPr/>
          <p:nvPr/>
        </p:nvSpPr>
        <p:spPr>
          <a:xfrm>
            <a:off x="7498079" y="1417320"/>
            <a:ext cx="4389120" cy="3200400"/>
          </a:xfrm>
          <a:prstGeom prst="rect">
            <a:avLst/>
          </a:prstGeom>
          <a:solidFill>
            <a:srgbClr val="FCE4D6"/>
          </a:solidFill>
          <a:ln w="12700">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80960" y="1463040"/>
            <a:ext cx="4023360" cy="384048"/>
          </a:xfrm>
          <a:prstGeom prst="rect">
            <a:avLst/>
          </a:prstGeom>
          <a:noFill/>
        </p:spPr>
        <p:txBody>
          <a:bodyPr wrap="square">
            <a:spAutoFit/>
          </a:bodyPr>
          <a:lstStyle/>
          <a:p>
            <a:pPr algn="l"/>
            <a:r>
              <a:rPr sz="1400" b="1" i="0">
                <a:solidFill>
                  <a:srgbClr val="C55A11"/>
                </a:solidFill>
                <a:latin typeface="Calibri"/>
              </a:rPr>
              <a:t>Status</a:t>
            </a:r>
          </a:p>
        </p:txBody>
      </p:sp>
      <p:sp>
        <p:nvSpPr>
          <p:cNvPr id="11" name="TextBox 10"/>
          <p:cNvSpPr txBox="1"/>
          <p:nvPr/>
        </p:nvSpPr>
        <p:spPr>
          <a:xfrm>
            <a:off x="7680960" y="1920240"/>
            <a:ext cx="4023360" cy="457200"/>
          </a:xfrm>
          <a:prstGeom prst="rect">
            <a:avLst/>
          </a:prstGeom>
          <a:noFill/>
        </p:spPr>
        <p:txBody>
          <a:bodyPr wrap="square">
            <a:spAutoFit/>
          </a:bodyPr>
          <a:lstStyle/>
          <a:p>
            <a:pPr algn="l"/>
            <a:r>
              <a:rPr sz="1600" b="1" i="0">
                <a:solidFill>
                  <a:srgbClr val="C55A11"/>
                </a:solidFill>
                <a:latin typeface="Calibri"/>
              </a:rPr>
              <a:t>⏳  Training in progress</a:t>
            </a:r>
          </a:p>
        </p:txBody>
      </p:sp>
      <p:sp>
        <p:nvSpPr>
          <p:cNvPr id="12" name="TextBox 11"/>
          <p:cNvSpPr txBox="1"/>
          <p:nvPr/>
        </p:nvSpPr>
        <p:spPr>
          <a:xfrm>
            <a:off x="7680960" y="2423160"/>
            <a:ext cx="4023360" cy="2103120"/>
          </a:xfrm>
          <a:prstGeom prst="rect">
            <a:avLst/>
          </a:prstGeom>
          <a:noFill/>
        </p:spPr>
        <p:txBody>
          <a:bodyPr wrap="square">
            <a:spAutoFit/>
          </a:bodyPr>
          <a:lstStyle/>
          <a:p>
            <a:pPr algn="l"/>
            <a:r>
              <a:rPr sz="1200">
                <a:solidFill>
                  <a:srgbClr val="1A1A1A"/>
                </a:solidFill>
                <a:latin typeface="Calibri"/>
              </a:rPr>
              <a:t>Started: 2026-06-17</a:t>
            </a:r>
          </a:p>
          <a:p>
            <a:pPr algn="l"/>
            <a:r>
              <a:rPr sz="1200">
                <a:solidFill>
                  <a:srgbClr val="1A1A1A"/>
                </a:solidFill>
                <a:latin typeface="Calibri"/>
              </a:rPr>
              <a:t>Estimated time: ~9 hrs on local GPU</a:t>
            </a:r>
          </a:p>
          <a:p>
            <a:pPr algn="l"/>
            <a:r>
              <a:rPr sz="1200">
                <a:solidFill>
                  <a:srgbClr val="1A1A1A"/>
                </a:solidFill>
                <a:latin typeface="Calibri"/>
              </a:rPr>
              <a:t>Not yet complete</a:t>
            </a:r>
          </a:p>
          <a:p>
            <a:pPr algn="l"/>
            <a:r>
              <a:rPr sz="1200">
                <a:solidFill>
                  <a:srgbClr val="1A1A1A"/>
                </a:solidFill>
                <a:latin typeface="Calibri"/>
              </a:rPr>
              <a:t/>
            </a:r>
          </a:p>
          <a:p>
            <a:pPr algn="l"/>
            <a:r>
              <a:rPr sz="1200">
                <a:solidFill>
                  <a:srgbClr val="1A1A1A"/>
                </a:solidFill>
                <a:latin typeface="Calibri"/>
              </a:rPr>
              <a:t>To resume:</a:t>
            </a:r>
          </a:p>
          <a:p>
            <a:pPr algn="l"/>
            <a:r>
              <a:rPr sz="1200">
                <a:solidFill>
                  <a:srgbClr val="1A1A1A"/>
                </a:solidFill>
                <a:latin typeface="Calibri"/>
              </a:rPr>
              <a:t>  → Need text + audio checkpoints</a:t>
            </a:r>
          </a:p>
          <a:p>
            <a:pPr algn="l"/>
            <a:r>
              <a:rPr sz="1200">
                <a:solidFill>
                  <a:srgbClr val="1A1A1A"/>
                </a:solidFill>
                <a:latin typeface="Calibri"/>
              </a:rPr>
              <a:t>  → Run intermediate_fusion.ipynb</a:t>
            </a:r>
          </a:p>
          <a:p>
            <a:pPr algn="l"/>
            <a:r>
              <a:rPr sz="1200">
                <a:solidFill>
                  <a:srgbClr val="1A1A1A"/>
                </a:solidFill>
                <a:latin typeface="Calibri"/>
              </a:rPr>
              <a:t>  → Results will be added to report</a:t>
            </a:r>
          </a:p>
        </p:txBody>
      </p:sp>
      <p:sp>
        <p:nvSpPr>
          <p:cNvPr id="13" name="Rectangle 12"/>
          <p:cNvSpPr/>
          <p:nvPr/>
        </p:nvSpPr>
        <p:spPr>
          <a:xfrm>
            <a:off x="274320" y="4754880"/>
            <a:ext cx="11612880" cy="777240"/>
          </a:xfrm>
          <a:prstGeom prst="rect">
            <a:avLst/>
          </a:prstGeom>
          <a:solidFill>
            <a:srgbClr val="FFFFFF"/>
          </a:solidFill>
          <a:ln w="10160">
            <a:solidFill>
              <a:srgbClr val="55555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7200" y="4800600"/>
            <a:ext cx="11247120" cy="685800"/>
          </a:xfrm>
          <a:prstGeom prst="rect">
            <a:avLst/>
          </a:prstGeom>
          <a:noFill/>
        </p:spPr>
        <p:txBody>
          <a:bodyPr wrap="square">
            <a:spAutoFit/>
          </a:bodyPr>
          <a:lstStyle/>
          <a:p>
            <a:pPr algn="l"/>
            <a:r>
              <a:rPr sz="1250" b="0" i="0">
                <a:solidFill>
                  <a:srgbClr val="1A1A1A"/>
                </a:solidFill>
                <a:latin typeface="Calibri"/>
              </a:rPr>
              <a:t>Why it might outperform late fusion:  the encoders can learn representations that are specifically complementary to each other, because both are fine-tuned jointly on the same emotion labels. The MLP head can also learn non-linear cross-modal interactions.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11368735" cy="685800"/>
          </a:xfrm>
          <a:prstGeom prst="rect">
            <a:avLst/>
          </a:prstGeom>
          <a:noFill/>
        </p:spPr>
        <p:txBody>
          <a:bodyPr wrap="square">
            <a:spAutoFit/>
          </a:bodyPr>
          <a:lstStyle/>
          <a:p>
            <a:pPr algn="l"/>
            <a:r>
              <a:rPr sz="3000" b="1" i="0">
                <a:solidFill>
                  <a:srgbClr val="FFFFFF"/>
                </a:solidFill>
                <a:latin typeface="Calibri"/>
              </a:rPr>
              <a:t>Results Summary</a:t>
            </a:r>
          </a:p>
        </p:txBody>
      </p:sp>
      <p:sp>
        <p:nvSpPr>
          <p:cNvPr id="4" name="TextBox 3"/>
          <p:cNvSpPr txBox="1"/>
          <p:nvPr/>
        </p:nvSpPr>
        <p:spPr>
          <a:xfrm>
            <a:off x="411480" y="749808"/>
            <a:ext cx="11368735" cy="320040"/>
          </a:xfrm>
          <a:prstGeom prst="rect">
            <a:avLst/>
          </a:prstGeom>
          <a:noFill/>
        </p:spPr>
        <p:txBody>
          <a:bodyPr wrap="square">
            <a:spAutoFit/>
          </a:bodyPr>
          <a:lstStyle/>
          <a:p>
            <a:pPr algn="l"/>
            <a:r>
              <a:rPr sz="1300" b="0" i="0">
                <a:solidFill>
                  <a:srgbClr val="BBCCEE"/>
                </a:solidFill>
                <a:latin typeface="Calibri"/>
              </a:rPr>
              <a:t>All models evaluated on Session 5 — speaker-independent (n=2,170)</a:t>
            </a:r>
          </a:p>
        </p:txBody>
      </p:sp>
      <p:sp>
        <p:nvSpPr>
          <p:cNvPr id="5" name="Rectangle 4"/>
          <p:cNvSpPr/>
          <p:nvPr/>
        </p:nvSpPr>
        <p:spPr>
          <a:xfrm>
            <a:off x="0" y="1143000"/>
            <a:ext cx="12191695" cy="5715000"/>
          </a:xfrm>
          <a:prstGeom prst="rect">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20040" y="1508760"/>
            <a:ext cx="11567160" cy="45720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759" y="1572768"/>
            <a:ext cx="4572000" cy="320040"/>
          </a:xfrm>
          <a:prstGeom prst="rect">
            <a:avLst/>
          </a:prstGeom>
          <a:noFill/>
        </p:spPr>
        <p:txBody>
          <a:bodyPr wrap="square">
            <a:spAutoFit/>
          </a:bodyPr>
          <a:lstStyle/>
          <a:p>
            <a:pPr algn="ctr"/>
            <a:r>
              <a:rPr sz="1400" b="1" i="0">
                <a:solidFill>
                  <a:srgbClr val="FFFFFF"/>
                </a:solidFill>
                <a:latin typeface="Calibri"/>
              </a:rPr>
              <a:t>Model</a:t>
            </a:r>
          </a:p>
        </p:txBody>
      </p:sp>
      <p:sp>
        <p:nvSpPr>
          <p:cNvPr id="8" name="TextBox 7"/>
          <p:cNvSpPr txBox="1"/>
          <p:nvPr/>
        </p:nvSpPr>
        <p:spPr>
          <a:xfrm>
            <a:off x="5166359" y="1572768"/>
            <a:ext cx="1828800" cy="320040"/>
          </a:xfrm>
          <a:prstGeom prst="rect">
            <a:avLst/>
          </a:prstGeom>
          <a:noFill/>
        </p:spPr>
        <p:txBody>
          <a:bodyPr wrap="square">
            <a:spAutoFit/>
          </a:bodyPr>
          <a:lstStyle/>
          <a:p>
            <a:pPr algn="ctr"/>
            <a:r>
              <a:rPr sz="1400" b="1" i="0">
                <a:solidFill>
                  <a:srgbClr val="FFFFFF"/>
                </a:solidFill>
                <a:latin typeface="Calibri"/>
              </a:rPr>
              <a:t>Accuracy</a:t>
            </a:r>
          </a:p>
        </p:txBody>
      </p:sp>
      <p:sp>
        <p:nvSpPr>
          <p:cNvPr id="9" name="TextBox 8"/>
          <p:cNvSpPr txBox="1"/>
          <p:nvPr/>
        </p:nvSpPr>
        <p:spPr>
          <a:xfrm>
            <a:off x="7269480" y="1572768"/>
            <a:ext cx="1828800" cy="320040"/>
          </a:xfrm>
          <a:prstGeom prst="rect">
            <a:avLst/>
          </a:prstGeom>
          <a:noFill/>
        </p:spPr>
        <p:txBody>
          <a:bodyPr wrap="square">
            <a:spAutoFit/>
          </a:bodyPr>
          <a:lstStyle/>
          <a:p>
            <a:pPr algn="ctr"/>
            <a:r>
              <a:rPr sz="1400" b="1" i="0">
                <a:solidFill>
                  <a:srgbClr val="FFFFFF"/>
                </a:solidFill>
                <a:latin typeface="Calibri"/>
              </a:rPr>
              <a:t>Macro F1</a:t>
            </a:r>
          </a:p>
        </p:txBody>
      </p:sp>
      <p:sp>
        <p:nvSpPr>
          <p:cNvPr id="10" name="TextBox 9"/>
          <p:cNvSpPr txBox="1"/>
          <p:nvPr/>
        </p:nvSpPr>
        <p:spPr>
          <a:xfrm>
            <a:off x="9464040" y="1572768"/>
            <a:ext cx="2468879" cy="320040"/>
          </a:xfrm>
          <a:prstGeom prst="rect">
            <a:avLst/>
          </a:prstGeom>
          <a:noFill/>
        </p:spPr>
        <p:txBody>
          <a:bodyPr wrap="square">
            <a:spAutoFit/>
          </a:bodyPr>
          <a:lstStyle/>
          <a:p>
            <a:pPr algn="ctr"/>
            <a:r>
              <a:rPr sz="1400" b="1" i="0">
                <a:solidFill>
                  <a:srgbClr val="FFFFFF"/>
                </a:solidFill>
                <a:latin typeface="Calibri"/>
              </a:rPr>
              <a:t>Weighted F1</a:t>
            </a:r>
          </a:p>
        </p:txBody>
      </p:sp>
      <p:sp>
        <p:nvSpPr>
          <p:cNvPr id="11" name="Rectangle 10"/>
          <p:cNvSpPr/>
          <p:nvPr/>
        </p:nvSpPr>
        <p:spPr>
          <a:xfrm>
            <a:off x="320040" y="2057400"/>
            <a:ext cx="11567160" cy="68580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59" y="2167128"/>
            <a:ext cx="4572000" cy="475488"/>
          </a:xfrm>
          <a:prstGeom prst="rect">
            <a:avLst/>
          </a:prstGeom>
          <a:noFill/>
        </p:spPr>
        <p:txBody>
          <a:bodyPr wrap="square">
            <a:spAutoFit/>
          </a:bodyPr>
          <a:lstStyle/>
          <a:p>
            <a:pPr algn="l"/>
            <a:r>
              <a:rPr sz="1500" b="0" i="0">
                <a:solidFill>
                  <a:srgbClr val="FFFFFF"/>
                </a:solidFill>
                <a:latin typeface="Calibri"/>
              </a:rPr>
              <a:t>RoBERTa  (text only)</a:t>
            </a:r>
          </a:p>
        </p:txBody>
      </p:sp>
      <p:sp>
        <p:nvSpPr>
          <p:cNvPr id="13" name="TextBox 12"/>
          <p:cNvSpPr txBox="1"/>
          <p:nvPr/>
        </p:nvSpPr>
        <p:spPr>
          <a:xfrm>
            <a:off x="5166359" y="2167128"/>
            <a:ext cx="1828800" cy="475488"/>
          </a:xfrm>
          <a:prstGeom prst="rect">
            <a:avLst/>
          </a:prstGeom>
          <a:noFill/>
        </p:spPr>
        <p:txBody>
          <a:bodyPr wrap="square">
            <a:spAutoFit/>
          </a:bodyPr>
          <a:lstStyle/>
          <a:p>
            <a:pPr algn="ctr"/>
            <a:r>
              <a:rPr sz="1600" b="1" i="0">
                <a:solidFill>
                  <a:srgbClr val="FFFFFF"/>
                </a:solidFill>
                <a:latin typeface="Calibri"/>
              </a:rPr>
              <a:t>0.6793</a:t>
            </a:r>
          </a:p>
        </p:txBody>
      </p:sp>
      <p:sp>
        <p:nvSpPr>
          <p:cNvPr id="14" name="TextBox 13"/>
          <p:cNvSpPr txBox="1"/>
          <p:nvPr/>
        </p:nvSpPr>
        <p:spPr>
          <a:xfrm>
            <a:off x="7269480" y="2167128"/>
            <a:ext cx="1828800" cy="475488"/>
          </a:xfrm>
          <a:prstGeom prst="rect">
            <a:avLst/>
          </a:prstGeom>
          <a:noFill/>
        </p:spPr>
        <p:txBody>
          <a:bodyPr wrap="square">
            <a:spAutoFit/>
          </a:bodyPr>
          <a:lstStyle/>
          <a:p>
            <a:pPr algn="ctr"/>
            <a:r>
              <a:rPr sz="1600" b="1" i="0">
                <a:solidFill>
                  <a:srgbClr val="FFFFFF"/>
                </a:solidFill>
                <a:latin typeface="Calibri"/>
              </a:rPr>
              <a:t>0.6519</a:t>
            </a:r>
          </a:p>
        </p:txBody>
      </p:sp>
      <p:sp>
        <p:nvSpPr>
          <p:cNvPr id="15" name="TextBox 14"/>
          <p:cNvSpPr txBox="1"/>
          <p:nvPr/>
        </p:nvSpPr>
        <p:spPr>
          <a:xfrm>
            <a:off x="9464040" y="2167128"/>
            <a:ext cx="2468879" cy="475488"/>
          </a:xfrm>
          <a:prstGeom prst="rect">
            <a:avLst/>
          </a:prstGeom>
          <a:noFill/>
        </p:spPr>
        <p:txBody>
          <a:bodyPr wrap="square">
            <a:spAutoFit/>
          </a:bodyPr>
          <a:lstStyle/>
          <a:p>
            <a:pPr algn="ctr"/>
            <a:r>
              <a:rPr sz="1600" b="1" i="0">
                <a:solidFill>
                  <a:srgbClr val="FFFFFF"/>
                </a:solidFill>
                <a:latin typeface="Calibri"/>
              </a:rPr>
              <a:t>0.6900</a:t>
            </a:r>
          </a:p>
        </p:txBody>
      </p:sp>
      <p:sp>
        <p:nvSpPr>
          <p:cNvPr id="16" name="Rectangle 15"/>
          <p:cNvSpPr/>
          <p:nvPr/>
        </p:nvSpPr>
        <p:spPr>
          <a:xfrm>
            <a:off x="320040" y="2807208"/>
            <a:ext cx="11567160" cy="685800"/>
          </a:xfrm>
          <a:prstGeom prst="rect">
            <a:avLst/>
          </a:prstGeom>
          <a:solidFill>
            <a:srgbClr val="37865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65759" y="2916936"/>
            <a:ext cx="4572000" cy="475488"/>
          </a:xfrm>
          <a:prstGeom prst="rect">
            <a:avLst/>
          </a:prstGeom>
          <a:noFill/>
        </p:spPr>
        <p:txBody>
          <a:bodyPr wrap="square">
            <a:spAutoFit/>
          </a:bodyPr>
          <a:lstStyle/>
          <a:p>
            <a:pPr algn="l"/>
            <a:r>
              <a:rPr sz="1500" b="0" i="0">
                <a:solidFill>
                  <a:srgbClr val="FFFFFF"/>
                </a:solidFill>
                <a:latin typeface="Calibri"/>
              </a:rPr>
              <a:t>Wav2Vec2  (audio only)</a:t>
            </a:r>
          </a:p>
        </p:txBody>
      </p:sp>
      <p:sp>
        <p:nvSpPr>
          <p:cNvPr id="18" name="TextBox 17"/>
          <p:cNvSpPr txBox="1"/>
          <p:nvPr/>
        </p:nvSpPr>
        <p:spPr>
          <a:xfrm>
            <a:off x="5166359" y="2916936"/>
            <a:ext cx="1828800" cy="475488"/>
          </a:xfrm>
          <a:prstGeom prst="rect">
            <a:avLst/>
          </a:prstGeom>
          <a:noFill/>
        </p:spPr>
        <p:txBody>
          <a:bodyPr wrap="square">
            <a:spAutoFit/>
          </a:bodyPr>
          <a:lstStyle/>
          <a:p>
            <a:pPr algn="ctr"/>
            <a:r>
              <a:rPr sz="1600" b="1" i="0">
                <a:solidFill>
                  <a:srgbClr val="FFFFFF"/>
                </a:solidFill>
                <a:latin typeface="Calibri"/>
              </a:rPr>
              <a:t>0.6779</a:t>
            </a:r>
          </a:p>
        </p:txBody>
      </p:sp>
      <p:sp>
        <p:nvSpPr>
          <p:cNvPr id="19" name="TextBox 18"/>
          <p:cNvSpPr txBox="1"/>
          <p:nvPr/>
        </p:nvSpPr>
        <p:spPr>
          <a:xfrm>
            <a:off x="7269480" y="2916936"/>
            <a:ext cx="1828800" cy="475488"/>
          </a:xfrm>
          <a:prstGeom prst="rect">
            <a:avLst/>
          </a:prstGeom>
          <a:noFill/>
        </p:spPr>
        <p:txBody>
          <a:bodyPr wrap="square">
            <a:spAutoFit/>
          </a:bodyPr>
          <a:lstStyle/>
          <a:p>
            <a:pPr algn="ctr"/>
            <a:r>
              <a:rPr sz="1600" b="1" i="0">
                <a:solidFill>
                  <a:srgbClr val="FFFFFF"/>
                </a:solidFill>
                <a:latin typeface="Calibri"/>
              </a:rPr>
              <a:t>0.6324</a:t>
            </a:r>
          </a:p>
        </p:txBody>
      </p:sp>
      <p:sp>
        <p:nvSpPr>
          <p:cNvPr id="20" name="TextBox 19"/>
          <p:cNvSpPr txBox="1"/>
          <p:nvPr/>
        </p:nvSpPr>
        <p:spPr>
          <a:xfrm>
            <a:off x="9464040" y="2916936"/>
            <a:ext cx="2468879" cy="475488"/>
          </a:xfrm>
          <a:prstGeom prst="rect">
            <a:avLst/>
          </a:prstGeom>
          <a:noFill/>
        </p:spPr>
        <p:txBody>
          <a:bodyPr wrap="square">
            <a:spAutoFit/>
          </a:bodyPr>
          <a:lstStyle/>
          <a:p>
            <a:pPr algn="ctr"/>
            <a:r>
              <a:rPr sz="1600" b="1" i="0">
                <a:solidFill>
                  <a:srgbClr val="FFFFFF"/>
                </a:solidFill>
                <a:latin typeface="Calibri"/>
              </a:rPr>
              <a:t>0.6799</a:t>
            </a:r>
          </a:p>
        </p:txBody>
      </p:sp>
      <p:sp>
        <p:nvSpPr>
          <p:cNvPr id="21" name="Rectangle 20"/>
          <p:cNvSpPr/>
          <p:nvPr/>
        </p:nvSpPr>
        <p:spPr>
          <a:xfrm>
            <a:off x="320040" y="3557015"/>
            <a:ext cx="11567160" cy="685800"/>
          </a:xfrm>
          <a:prstGeom prst="rect">
            <a:avLst/>
          </a:prstGeom>
          <a:solidFill>
            <a:srgbClr val="7B49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65759" y="3666744"/>
            <a:ext cx="4572000" cy="475488"/>
          </a:xfrm>
          <a:prstGeom prst="rect">
            <a:avLst/>
          </a:prstGeom>
          <a:noFill/>
        </p:spPr>
        <p:txBody>
          <a:bodyPr wrap="square">
            <a:spAutoFit/>
          </a:bodyPr>
          <a:lstStyle/>
          <a:p>
            <a:pPr algn="l"/>
            <a:r>
              <a:rPr sz="1500" b="0" i="0">
                <a:solidFill>
                  <a:srgbClr val="FFFFFF"/>
                </a:solidFill>
                <a:latin typeface="Calibri"/>
              </a:rPr>
              <a:t>Late Fusion  (α=0.65/0.35)</a:t>
            </a:r>
          </a:p>
        </p:txBody>
      </p:sp>
      <p:sp>
        <p:nvSpPr>
          <p:cNvPr id="23" name="TextBox 22"/>
          <p:cNvSpPr txBox="1"/>
          <p:nvPr/>
        </p:nvSpPr>
        <p:spPr>
          <a:xfrm>
            <a:off x="5166359" y="3666744"/>
            <a:ext cx="1828800" cy="475488"/>
          </a:xfrm>
          <a:prstGeom prst="rect">
            <a:avLst/>
          </a:prstGeom>
          <a:noFill/>
        </p:spPr>
        <p:txBody>
          <a:bodyPr wrap="square">
            <a:spAutoFit/>
          </a:bodyPr>
          <a:lstStyle/>
          <a:p>
            <a:pPr algn="ctr"/>
            <a:r>
              <a:rPr sz="1600" b="1" i="0">
                <a:solidFill>
                  <a:srgbClr val="FFFFFF"/>
                </a:solidFill>
                <a:latin typeface="Calibri"/>
              </a:rPr>
              <a:t>0.8392</a:t>
            </a:r>
          </a:p>
        </p:txBody>
      </p:sp>
      <p:sp>
        <p:nvSpPr>
          <p:cNvPr id="24" name="TextBox 23"/>
          <p:cNvSpPr txBox="1"/>
          <p:nvPr/>
        </p:nvSpPr>
        <p:spPr>
          <a:xfrm>
            <a:off x="7269480" y="3666744"/>
            <a:ext cx="1828800" cy="475488"/>
          </a:xfrm>
          <a:prstGeom prst="rect">
            <a:avLst/>
          </a:prstGeom>
          <a:noFill/>
        </p:spPr>
        <p:txBody>
          <a:bodyPr wrap="square">
            <a:spAutoFit/>
          </a:bodyPr>
          <a:lstStyle/>
          <a:p>
            <a:pPr algn="ctr"/>
            <a:r>
              <a:rPr sz="1600" b="1" i="0">
                <a:solidFill>
                  <a:srgbClr val="FFFFFF"/>
                </a:solidFill>
                <a:latin typeface="Calibri"/>
              </a:rPr>
              <a:t>0.8173</a:t>
            </a:r>
          </a:p>
        </p:txBody>
      </p:sp>
      <p:sp>
        <p:nvSpPr>
          <p:cNvPr id="25" name="TextBox 24"/>
          <p:cNvSpPr txBox="1"/>
          <p:nvPr/>
        </p:nvSpPr>
        <p:spPr>
          <a:xfrm>
            <a:off x="9464040" y="3666744"/>
            <a:ext cx="2468879" cy="475488"/>
          </a:xfrm>
          <a:prstGeom prst="rect">
            <a:avLst/>
          </a:prstGeom>
          <a:noFill/>
        </p:spPr>
        <p:txBody>
          <a:bodyPr wrap="square">
            <a:spAutoFit/>
          </a:bodyPr>
          <a:lstStyle/>
          <a:p>
            <a:pPr algn="ctr"/>
            <a:r>
              <a:rPr sz="1600" b="1" i="0">
                <a:solidFill>
                  <a:srgbClr val="FFFFFF"/>
                </a:solidFill>
                <a:latin typeface="Calibri"/>
              </a:rPr>
              <a:t>0.8431</a:t>
            </a:r>
          </a:p>
        </p:txBody>
      </p:sp>
      <p:sp>
        <p:nvSpPr>
          <p:cNvPr id="26" name="Rectangle 25"/>
          <p:cNvSpPr/>
          <p:nvPr/>
        </p:nvSpPr>
        <p:spPr>
          <a:xfrm>
            <a:off x="320040" y="4306824"/>
            <a:ext cx="11567160" cy="685800"/>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365759" y="4416552"/>
            <a:ext cx="4572000" cy="475488"/>
          </a:xfrm>
          <a:prstGeom prst="rect">
            <a:avLst/>
          </a:prstGeom>
          <a:noFill/>
        </p:spPr>
        <p:txBody>
          <a:bodyPr wrap="square">
            <a:spAutoFit/>
          </a:bodyPr>
          <a:lstStyle/>
          <a:p>
            <a:pPr algn="l"/>
            <a:r>
              <a:rPr sz="1500" b="0" i="0">
                <a:solidFill>
                  <a:srgbClr val="555555"/>
                </a:solidFill>
                <a:latin typeface="Calibri"/>
              </a:rPr>
              <a:t>Intermediate Fusion</a:t>
            </a:r>
          </a:p>
        </p:txBody>
      </p:sp>
      <p:sp>
        <p:nvSpPr>
          <p:cNvPr id="28" name="TextBox 27"/>
          <p:cNvSpPr txBox="1"/>
          <p:nvPr/>
        </p:nvSpPr>
        <p:spPr>
          <a:xfrm>
            <a:off x="5166359" y="4416552"/>
            <a:ext cx="1828800" cy="475488"/>
          </a:xfrm>
          <a:prstGeom prst="rect">
            <a:avLst/>
          </a:prstGeom>
          <a:noFill/>
        </p:spPr>
        <p:txBody>
          <a:bodyPr wrap="square">
            <a:spAutoFit/>
          </a:bodyPr>
          <a:lstStyle/>
          <a:p>
            <a:pPr algn="ctr"/>
            <a:r>
              <a:rPr sz="1600" b="1" i="0">
                <a:solidFill>
                  <a:srgbClr val="555555"/>
                </a:solidFill>
                <a:latin typeface="Calibri"/>
              </a:rPr>
              <a:t>—</a:t>
            </a:r>
          </a:p>
        </p:txBody>
      </p:sp>
      <p:sp>
        <p:nvSpPr>
          <p:cNvPr id="29" name="TextBox 28"/>
          <p:cNvSpPr txBox="1"/>
          <p:nvPr/>
        </p:nvSpPr>
        <p:spPr>
          <a:xfrm>
            <a:off x="7269480" y="4416552"/>
            <a:ext cx="1828800" cy="475488"/>
          </a:xfrm>
          <a:prstGeom prst="rect">
            <a:avLst/>
          </a:prstGeom>
          <a:noFill/>
        </p:spPr>
        <p:txBody>
          <a:bodyPr wrap="square">
            <a:spAutoFit/>
          </a:bodyPr>
          <a:lstStyle/>
          <a:p>
            <a:pPr algn="ctr"/>
            <a:r>
              <a:rPr sz="1600" b="1" i="0">
                <a:solidFill>
                  <a:srgbClr val="555555"/>
                </a:solidFill>
                <a:latin typeface="Calibri"/>
              </a:rPr>
              <a:t>—</a:t>
            </a:r>
          </a:p>
        </p:txBody>
      </p:sp>
      <p:sp>
        <p:nvSpPr>
          <p:cNvPr id="30" name="TextBox 29"/>
          <p:cNvSpPr txBox="1"/>
          <p:nvPr/>
        </p:nvSpPr>
        <p:spPr>
          <a:xfrm>
            <a:off x="9464040" y="4416552"/>
            <a:ext cx="2468879" cy="475488"/>
          </a:xfrm>
          <a:prstGeom prst="rect">
            <a:avLst/>
          </a:prstGeom>
          <a:noFill/>
        </p:spPr>
        <p:txBody>
          <a:bodyPr wrap="square">
            <a:spAutoFit/>
          </a:bodyPr>
          <a:lstStyle/>
          <a:p>
            <a:pPr algn="ctr"/>
            <a:r>
              <a:rPr sz="1600" b="1" i="0">
                <a:solidFill>
                  <a:srgbClr val="555555"/>
                </a:solidFill>
                <a:latin typeface="Calibri"/>
              </a:rPr>
              <a:t>—</a:t>
            </a:r>
          </a:p>
        </p:txBody>
      </p:sp>
      <p:sp>
        <p:nvSpPr>
          <p:cNvPr id="31" name="TextBox 30"/>
          <p:cNvSpPr txBox="1"/>
          <p:nvPr/>
        </p:nvSpPr>
        <p:spPr>
          <a:xfrm>
            <a:off x="320040" y="5120640"/>
            <a:ext cx="6858000" cy="365760"/>
          </a:xfrm>
          <a:prstGeom prst="rect">
            <a:avLst/>
          </a:prstGeom>
          <a:noFill/>
        </p:spPr>
        <p:txBody>
          <a:bodyPr wrap="square">
            <a:spAutoFit/>
          </a:bodyPr>
          <a:lstStyle/>
          <a:p>
            <a:pPr algn="l"/>
            <a:r>
              <a:rPr sz="1400" b="1" i="0">
                <a:solidFill>
                  <a:srgbClr val="7B49A8"/>
                </a:solidFill>
                <a:latin typeface="Calibri"/>
              </a:rPr>
              <a:t>↑ +0.17 Macro F1  from simple fusion alone</a:t>
            </a:r>
          </a:p>
        </p:txBody>
      </p:sp>
      <p:sp>
        <p:nvSpPr>
          <p:cNvPr id="32" name="TextBox 31"/>
          <p:cNvSpPr txBox="1"/>
          <p:nvPr/>
        </p:nvSpPr>
        <p:spPr>
          <a:xfrm>
            <a:off x="320040" y="5440680"/>
            <a:ext cx="6858000" cy="320040"/>
          </a:xfrm>
          <a:prstGeom prst="rect">
            <a:avLst/>
          </a:prstGeom>
          <a:noFill/>
        </p:spPr>
        <p:txBody>
          <a:bodyPr wrap="square">
            <a:spAutoFit/>
          </a:bodyPr>
          <a:lstStyle/>
          <a:p>
            <a:pPr algn="l"/>
            <a:r>
              <a:rPr sz="1200" b="0" i="1">
                <a:solidFill>
                  <a:srgbClr val="555555"/>
                </a:solidFill>
                <a:latin typeface="Calibri"/>
              </a:rPr>
              <a:t>Intermediate fusion results pending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143000"/>
          </a:xfrm>
          <a:prstGeom prst="rect">
            <a:avLst/>
          </a:prstGeom>
          <a:solidFill>
            <a:srgbClr val="1F356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137160"/>
            <a:ext cx="11368735" cy="685800"/>
          </a:xfrm>
          <a:prstGeom prst="rect">
            <a:avLst/>
          </a:prstGeom>
          <a:noFill/>
        </p:spPr>
        <p:txBody>
          <a:bodyPr wrap="square">
            <a:spAutoFit/>
          </a:bodyPr>
          <a:lstStyle/>
          <a:p>
            <a:pPr algn="l"/>
            <a:r>
              <a:rPr sz="3000" b="1" i="0">
                <a:solidFill>
                  <a:srgbClr val="FFFFFF"/>
                </a:solidFill>
                <a:latin typeface="Calibri"/>
              </a:rPr>
              <a:t>Where We Are &amp; What's Left</a:t>
            </a:r>
          </a:p>
        </p:txBody>
      </p:sp>
      <p:sp>
        <p:nvSpPr>
          <p:cNvPr id="4" name="Rectangle 3"/>
          <p:cNvSpPr/>
          <p:nvPr/>
        </p:nvSpPr>
        <p:spPr>
          <a:xfrm>
            <a:off x="0" y="1143000"/>
            <a:ext cx="12191695" cy="5715000"/>
          </a:xfrm>
          <a:prstGeom prst="rect">
            <a:avLst/>
          </a:prstGeom>
          <a:solidFill>
            <a:srgbClr val="F2F5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74320" y="1417320"/>
            <a:ext cx="5120640" cy="411480"/>
          </a:xfrm>
          <a:prstGeom prst="rect">
            <a:avLst/>
          </a:prstGeom>
          <a:solidFill>
            <a:srgbClr val="1E8B4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57200" y="1463040"/>
            <a:ext cx="4754880" cy="320040"/>
          </a:xfrm>
          <a:prstGeom prst="rect">
            <a:avLst/>
          </a:prstGeom>
          <a:noFill/>
        </p:spPr>
        <p:txBody>
          <a:bodyPr wrap="square">
            <a:spAutoFit/>
          </a:bodyPr>
          <a:lstStyle/>
          <a:p>
            <a:pPr algn="l"/>
            <a:r>
              <a:rPr sz="1400" b="1" i="0">
                <a:solidFill>
                  <a:srgbClr val="FFFFFF"/>
                </a:solidFill>
                <a:latin typeface="Calibri"/>
              </a:rPr>
              <a:t>✓  Completed</a:t>
            </a:r>
          </a:p>
        </p:txBody>
      </p:sp>
      <p:sp>
        <p:nvSpPr>
          <p:cNvPr id="7" name="Rectangle 6"/>
          <p:cNvSpPr/>
          <p:nvPr/>
        </p:nvSpPr>
        <p:spPr>
          <a:xfrm>
            <a:off x="274320" y="1874519"/>
            <a:ext cx="5120640" cy="2697480"/>
          </a:xfrm>
          <a:prstGeom prst="rect">
            <a:avLst/>
          </a:prstGeom>
          <a:solidFill>
            <a:srgbClr val="E2EFDA"/>
          </a:solidFill>
          <a:ln w="10160">
            <a:solidFill>
              <a:srgbClr val="1E8B4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7200" y="1965960"/>
            <a:ext cx="4846320" cy="438912"/>
          </a:xfrm>
          <a:prstGeom prst="rect">
            <a:avLst/>
          </a:prstGeom>
          <a:noFill/>
        </p:spPr>
        <p:txBody>
          <a:bodyPr wrap="square">
            <a:spAutoFit/>
          </a:bodyPr>
          <a:lstStyle/>
          <a:p>
            <a:pPr algn="l"/>
            <a:r>
              <a:rPr sz="1250" b="0" i="0">
                <a:solidFill>
                  <a:srgbClr val="1A5C36"/>
                </a:solidFill>
                <a:latin typeface="Calibri"/>
              </a:rPr>
              <a:t>✓  Exploratory Data Analysis</a:t>
            </a:r>
          </a:p>
        </p:txBody>
      </p:sp>
      <p:sp>
        <p:nvSpPr>
          <p:cNvPr id="9" name="TextBox 8"/>
          <p:cNvSpPr txBox="1"/>
          <p:nvPr/>
        </p:nvSpPr>
        <p:spPr>
          <a:xfrm>
            <a:off x="457200" y="2468880"/>
            <a:ext cx="4846320" cy="438912"/>
          </a:xfrm>
          <a:prstGeom prst="rect">
            <a:avLst/>
          </a:prstGeom>
          <a:noFill/>
        </p:spPr>
        <p:txBody>
          <a:bodyPr wrap="square">
            <a:spAutoFit/>
          </a:bodyPr>
          <a:lstStyle/>
          <a:p>
            <a:pPr algn="l"/>
            <a:r>
              <a:rPr sz="1250" b="0" i="0">
                <a:solidFill>
                  <a:srgbClr val="1A5C36"/>
                </a:solidFill>
                <a:latin typeface="Calibri"/>
              </a:rPr>
              <a:t>✓  Text Classification  (RoBERTa)  —  Macro F1: 0.6519</a:t>
            </a:r>
          </a:p>
        </p:txBody>
      </p:sp>
      <p:sp>
        <p:nvSpPr>
          <p:cNvPr id="10" name="TextBox 9"/>
          <p:cNvSpPr txBox="1"/>
          <p:nvPr/>
        </p:nvSpPr>
        <p:spPr>
          <a:xfrm>
            <a:off x="457200" y="2971800"/>
            <a:ext cx="4846320" cy="438912"/>
          </a:xfrm>
          <a:prstGeom prst="rect">
            <a:avLst/>
          </a:prstGeom>
          <a:noFill/>
        </p:spPr>
        <p:txBody>
          <a:bodyPr wrap="square">
            <a:spAutoFit/>
          </a:bodyPr>
          <a:lstStyle/>
          <a:p>
            <a:pPr algn="l"/>
            <a:r>
              <a:rPr sz="1250" b="0" i="0">
                <a:solidFill>
                  <a:srgbClr val="1A5C36"/>
                </a:solidFill>
                <a:latin typeface="Calibri"/>
              </a:rPr>
              <a:t>✓  Audio Classification  (Wav2Vec2)  —  Macro F1: 0.6324</a:t>
            </a:r>
          </a:p>
        </p:txBody>
      </p:sp>
      <p:sp>
        <p:nvSpPr>
          <p:cNvPr id="11" name="TextBox 10"/>
          <p:cNvSpPr txBox="1"/>
          <p:nvPr/>
        </p:nvSpPr>
        <p:spPr>
          <a:xfrm>
            <a:off x="457200" y="3474720"/>
            <a:ext cx="4846320" cy="438912"/>
          </a:xfrm>
          <a:prstGeom prst="rect">
            <a:avLst/>
          </a:prstGeom>
          <a:noFill/>
        </p:spPr>
        <p:txBody>
          <a:bodyPr wrap="square">
            <a:spAutoFit/>
          </a:bodyPr>
          <a:lstStyle/>
          <a:p>
            <a:pPr algn="l"/>
            <a:r>
              <a:rPr sz="1250" b="0" i="0">
                <a:solidFill>
                  <a:srgbClr val="1A5C36"/>
                </a:solidFill>
                <a:latin typeface="Calibri"/>
              </a:rPr>
              <a:t>✓  Late Fusion  —  Macro F1: 0.8173</a:t>
            </a:r>
          </a:p>
        </p:txBody>
      </p:sp>
      <p:sp>
        <p:nvSpPr>
          <p:cNvPr id="12" name="TextBox 11"/>
          <p:cNvSpPr txBox="1"/>
          <p:nvPr/>
        </p:nvSpPr>
        <p:spPr>
          <a:xfrm>
            <a:off x="457200" y="3977639"/>
            <a:ext cx="4846320" cy="438912"/>
          </a:xfrm>
          <a:prstGeom prst="rect">
            <a:avLst/>
          </a:prstGeom>
          <a:noFill/>
        </p:spPr>
        <p:txBody>
          <a:bodyPr wrap="square">
            <a:spAutoFit/>
          </a:bodyPr>
          <a:lstStyle/>
          <a:p>
            <a:pPr algn="l"/>
            <a:r>
              <a:rPr sz="1250" b="0" i="0">
                <a:solidFill>
                  <a:srgbClr val="1A5C36"/>
                </a:solidFill>
                <a:latin typeface="Calibri"/>
              </a:rPr>
              <a:t>✓  Project report (draft)</a:t>
            </a:r>
          </a:p>
        </p:txBody>
      </p:sp>
      <p:sp>
        <p:nvSpPr>
          <p:cNvPr id="13" name="Rectangle 12"/>
          <p:cNvSpPr/>
          <p:nvPr/>
        </p:nvSpPr>
        <p:spPr>
          <a:xfrm>
            <a:off x="5669280" y="1417320"/>
            <a:ext cx="3108960" cy="411480"/>
          </a:xfrm>
          <a:prstGeom prst="rect">
            <a:avLst/>
          </a:prstGeom>
          <a:solidFill>
            <a:srgbClr val="C55A1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806440" y="1463040"/>
            <a:ext cx="2834640" cy="320040"/>
          </a:xfrm>
          <a:prstGeom prst="rect">
            <a:avLst/>
          </a:prstGeom>
          <a:noFill/>
        </p:spPr>
        <p:txBody>
          <a:bodyPr wrap="square">
            <a:spAutoFit/>
          </a:bodyPr>
          <a:lstStyle/>
          <a:p>
            <a:pPr algn="l"/>
            <a:r>
              <a:rPr sz="1400" b="1" i="0">
                <a:solidFill>
                  <a:srgbClr val="FFFFFF"/>
                </a:solidFill>
                <a:latin typeface="Calibri"/>
              </a:rPr>
              <a:t>⏳  In Progress</a:t>
            </a:r>
          </a:p>
        </p:txBody>
      </p:sp>
      <p:sp>
        <p:nvSpPr>
          <p:cNvPr id="15" name="Rectangle 14"/>
          <p:cNvSpPr/>
          <p:nvPr/>
        </p:nvSpPr>
        <p:spPr>
          <a:xfrm>
            <a:off x="5669280" y="1874519"/>
            <a:ext cx="3108960" cy="822959"/>
          </a:xfrm>
          <a:prstGeom prst="rect">
            <a:avLst/>
          </a:prstGeom>
          <a:solidFill>
            <a:srgbClr val="FCE4D6"/>
          </a:solidFill>
          <a:ln w="10160">
            <a:solidFill>
              <a:srgbClr val="C55A1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806440" y="1965960"/>
            <a:ext cx="2926080" cy="566928"/>
          </a:xfrm>
          <a:prstGeom prst="rect">
            <a:avLst/>
          </a:prstGeom>
          <a:noFill/>
        </p:spPr>
        <p:txBody>
          <a:bodyPr wrap="square">
            <a:spAutoFit/>
          </a:bodyPr>
          <a:lstStyle/>
          <a:p>
            <a:pPr algn="l"/>
            <a:r>
              <a:rPr sz="1250" b="0" i="0">
                <a:solidFill>
                  <a:srgbClr val="7A3508"/>
                </a:solidFill>
                <a:latin typeface="Calibri"/>
              </a:rPr>
              <a:t>Intermediate Fusion training  (~9 hrs, needs to run to completion)</a:t>
            </a:r>
          </a:p>
        </p:txBody>
      </p:sp>
      <p:sp>
        <p:nvSpPr>
          <p:cNvPr id="17" name="Rectangle 16"/>
          <p:cNvSpPr/>
          <p:nvPr/>
        </p:nvSpPr>
        <p:spPr>
          <a:xfrm>
            <a:off x="9052560" y="1417320"/>
            <a:ext cx="2834640" cy="411480"/>
          </a:xfrm>
          <a:prstGeom prst="rect">
            <a:avLst/>
          </a:prstGeom>
          <a:solidFill>
            <a:srgbClr val="44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89720" y="1463040"/>
            <a:ext cx="2560320" cy="320040"/>
          </a:xfrm>
          <a:prstGeom prst="rect">
            <a:avLst/>
          </a:prstGeom>
          <a:noFill/>
        </p:spPr>
        <p:txBody>
          <a:bodyPr wrap="square">
            <a:spAutoFit/>
          </a:bodyPr>
          <a:lstStyle/>
          <a:p>
            <a:pPr algn="l"/>
            <a:r>
              <a:rPr sz="1400" b="1" i="0">
                <a:solidFill>
                  <a:srgbClr val="FFFFFF"/>
                </a:solidFill>
                <a:latin typeface="Calibri"/>
              </a:rPr>
              <a:t>→  To Do</a:t>
            </a:r>
          </a:p>
        </p:txBody>
      </p:sp>
      <p:sp>
        <p:nvSpPr>
          <p:cNvPr id="19" name="Rectangle 18"/>
          <p:cNvSpPr/>
          <p:nvPr/>
        </p:nvSpPr>
        <p:spPr>
          <a:xfrm>
            <a:off x="9052560" y="1874519"/>
            <a:ext cx="2834640" cy="1828799"/>
          </a:xfrm>
          <a:prstGeom prst="rect">
            <a:avLst/>
          </a:prstGeom>
          <a:solidFill>
            <a:srgbClr val="FFFFFF"/>
          </a:solidFill>
          <a:ln w="10160">
            <a:solidFill>
              <a:srgbClr val="44444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89720" y="1965960"/>
            <a:ext cx="2651760" cy="475488"/>
          </a:xfrm>
          <a:prstGeom prst="rect">
            <a:avLst/>
          </a:prstGeom>
          <a:noFill/>
        </p:spPr>
        <p:txBody>
          <a:bodyPr wrap="square">
            <a:spAutoFit/>
          </a:bodyPr>
          <a:lstStyle/>
          <a:p>
            <a:pPr algn="l"/>
            <a:r>
              <a:rPr sz="1200" b="0" i="0">
                <a:solidFill>
                  <a:srgbClr val="444444"/>
                </a:solidFill>
                <a:latin typeface="Calibri"/>
              </a:rPr>
              <a:t>→  Add intermediate fusion results to report</a:t>
            </a:r>
          </a:p>
        </p:txBody>
      </p:sp>
      <p:sp>
        <p:nvSpPr>
          <p:cNvPr id="21" name="TextBox 20"/>
          <p:cNvSpPr txBox="1"/>
          <p:nvPr/>
        </p:nvSpPr>
        <p:spPr>
          <a:xfrm>
            <a:off x="9189720" y="2514600"/>
            <a:ext cx="2651760" cy="475488"/>
          </a:xfrm>
          <a:prstGeom prst="rect">
            <a:avLst/>
          </a:prstGeom>
          <a:noFill/>
        </p:spPr>
        <p:txBody>
          <a:bodyPr wrap="square">
            <a:spAutoFit/>
          </a:bodyPr>
          <a:lstStyle/>
          <a:p>
            <a:pPr algn="l"/>
            <a:r>
              <a:rPr sz="1200" b="0" i="0">
                <a:solidFill>
                  <a:srgbClr val="444444"/>
                </a:solidFill>
                <a:latin typeface="Calibri"/>
              </a:rPr>
              <a:t>→  Export final report to PDF</a:t>
            </a:r>
          </a:p>
        </p:txBody>
      </p:sp>
      <p:sp>
        <p:nvSpPr>
          <p:cNvPr id="22" name="TextBox 21"/>
          <p:cNvSpPr txBox="1"/>
          <p:nvPr/>
        </p:nvSpPr>
        <p:spPr>
          <a:xfrm>
            <a:off x="9189720" y="3063239"/>
            <a:ext cx="2651760" cy="475488"/>
          </a:xfrm>
          <a:prstGeom prst="rect">
            <a:avLst/>
          </a:prstGeom>
          <a:noFill/>
        </p:spPr>
        <p:txBody>
          <a:bodyPr wrap="square">
            <a:spAutoFit/>
          </a:bodyPr>
          <a:lstStyle/>
          <a:p>
            <a:pPr algn="l"/>
            <a:r>
              <a:rPr sz="1200" b="0" i="0">
                <a:solidFill>
                  <a:srgbClr val="444444"/>
                </a:solidFill>
                <a:latin typeface="Calibri"/>
              </a:rPr>
              <a:t>→  Final presentation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