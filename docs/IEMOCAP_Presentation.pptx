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_rels/notesSlide9.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3.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3"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4"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5"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5989FACF-8D1D-440D-AD78-3DBFB4BF26A7}"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1143000" y="685800"/>
            <a:ext cx="4571280" cy="3428280"/>
          </a:xfrm>
          <a:prstGeom prst="rect">
            <a:avLst/>
          </a:prstGeom>
          <a:ln w="0">
            <a:noFill/>
          </a:ln>
        </p:spPr>
      </p:sp>
      <p:sp>
        <p:nvSpPr>
          <p:cNvPr id="29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Introduction slide. Briefly introduce the project: we built a system to detect emotion from spoken language, using both the words said and the way they were said.</a:t>
            </a:r>
            <a:endParaRPr b="0" lang="en-US" sz="2000" spc="-1" strike="noStrike">
              <a:solidFill>
                <a:srgbClr val="000000"/>
              </a:solidFill>
              <a:latin typeface="Arial"/>
            </a:endParaRPr>
          </a:p>
        </p:txBody>
      </p:sp>
      <p:sp>
        <p:nvSpPr>
          <p:cNvPr id="292" name="PlaceHolder 3"/>
          <p:cNvSpPr>
            <a:spLocks noGrp="1"/>
          </p:cNvSpPr>
          <p:nvPr>
            <p:ph type="sldNum" idx="3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83BAD7E-F47D-425A-B030-59B5ECB14E5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sldImg"/>
          </p:nvPr>
        </p:nvSpPr>
        <p:spPr>
          <a:xfrm>
            <a:off x="1143000" y="685800"/>
            <a:ext cx="4571280" cy="3428280"/>
          </a:xfrm>
          <a:prstGeom prst="rect">
            <a:avLst/>
          </a:prstGeom>
          <a:ln w="0">
            <a:noFill/>
          </a:ln>
        </p:spPr>
      </p:sp>
      <p:sp>
        <p:nvSpPr>
          <p:cNvPr id="29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Walk through the four models left to right. We start simple (text only, audio only) and build up to combining both modalities. All four models are evaluated on the same held-out test set — Session 5 — which contains speakers the model has never seen during training.</a:t>
            </a:r>
            <a:endParaRPr b="0" lang="en-US" sz="2000" spc="-1" strike="noStrike">
              <a:solidFill>
                <a:srgbClr val="000000"/>
              </a:solidFill>
              <a:latin typeface="Arial"/>
            </a:endParaRPr>
          </a:p>
        </p:txBody>
      </p:sp>
      <p:sp>
        <p:nvSpPr>
          <p:cNvPr id="295" name="PlaceHolder 3"/>
          <p:cNvSpPr>
            <a:spLocks noGrp="1"/>
          </p:cNvSpPr>
          <p:nvPr>
            <p:ph type="sldNum" idx="3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A74B003-E69B-487C-B53B-E52BACE89F1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sldImg"/>
          </p:nvPr>
        </p:nvSpPr>
        <p:spPr>
          <a:xfrm>
            <a:off x="1143000" y="685800"/>
            <a:ext cx="4571280" cy="3428280"/>
          </a:xfrm>
          <a:prstGeom prst="rect">
            <a:avLst/>
          </a:prstGeom>
          <a:ln w="0">
            <a:noFill/>
          </a:ln>
        </p:spPr>
      </p:sp>
      <p:sp>
        <p:nvSpPr>
          <p:cNvPr id="29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RoBERTa reads the transcription of each utterance and predicts the emotion class. It's strong on Negative (precision 0.86 — when it says Negative it's usually right) because negative emotions have clear vocabulary. Neutral is hard because neutral sentences look like everything else.</a:t>
            </a:r>
            <a:endParaRPr b="0" lang="en-US" sz="2000" spc="-1" strike="noStrike">
              <a:solidFill>
                <a:srgbClr val="000000"/>
              </a:solidFill>
              <a:latin typeface="Arial"/>
            </a:endParaRPr>
          </a:p>
        </p:txBody>
      </p:sp>
      <p:sp>
        <p:nvSpPr>
          <p:cNvPr id="298" name="PlaceHolder 3"/>
          <p:cNvSpPr>
            <a:spLocks noGrp="1"/>
          </p:cNvSpPr>
          <p:nvPr>
            <p:ph type="sldNum" idx="3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90292A1-A44F-4246-BA01-82788078014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PlaceHolder 1"/>
          <p:cNvSpPr>
            <a:spLocks noGrp="1"/>
          </p:cNvSpPr>
          <p:nvPr>
            <p:ph type="sldImg"/>
          </p:nvPr>
        </p:nvSpPr>
        <p:spPr>
          <a:xfrm>
            <a:off x="1143000" y="685800"/>
            <a:ext cx="4571280" cy="3428280"/>
          </a:xfrm>
          <a:prstGeom prst="rect">
            <a:avLst/>
          </a:prstGeom>
          <a:ln w="0">
            <a:noFill/>
          </a:ln>
        </p:spPr>
      </p:sp>
      <p:sp>
        <p:nvSpPr>
          <p:cNvPr id="30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Wav2Vec2 listens to the raw audio waveform. It was pre-trained to understand speech sounds, so we only fine-tune the higher transformer layers. Results are similar to text. The important insight is that text and audio make different errors — which is exactly why combining them helps.</a:t>
            </a:r>
            <a:endParaRPr b="0" lang="en-US" sz="2000" spc="-1" strike="noStrike">
              <a:solidFill>
                <a:srgbClr val="000000"/>
              </a:solidFill>
              <a:latin typeface="Arial"/>
            </a:endParaRPr>
          </a:p>
        </p:txBody>
      </p:sp>
      <p:sp>
        <p:nvSpPr>
          <p:cNvPr id="301" name="PlaceHolder 3"/>
          <p:cNvSpPr>
            <a:spLocks noGrp="1"/>
          </p:cNvSpPr>
          <p:nvPr>
            <p:ph type="sldNum" idx="4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4A5F4C0-35E4-4E48-9983-19F1181F09C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sldImg"/>
          </p:nvPr>
        </p:nvSpPr>
        <p:spPr>
          <a:xfrm>
            <a:off x="1143000" y="685800"/>
            <a:ext cx="4571280" cy="3428280"/>
          </a:xfrm>
          <a:prstGeom prst="rect">
            <a:avLst/>
          </a:prstGeom>
          <a:ln w="0">
            <a:noFill/>
          </a:ln>
        </p:spPr>
      </p:sp>
      <p:sp>
        <p:nvSpPr>
          <p:cNvPr id="30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Late fusion just takes the two sets of output scores and adds them with weights 0.65 text and 0.35 audio. No training at all. The result is a massive jump — from 0.65 to 0.82 Macro F1. The Neutral class improves the most: from 0.48 to 0.71. This shows the two modalities are highly complementary — they make different errors, so combining them corrects a lot.</a:t>
            </a:r>
            <a:endParaRPr b="0" lang="en-US" sz="2000" spc="-1" strike="noStrike">
              <a:solidFill>
                <a:srgbClr val="000000"/>
              </a:solidFill>
              <a:latin typeface="Arial"/>
            </a:endParaRPr>
          </a:p>
        </p:txBody>
      </p:sp>
      <p:sp>
        <p:nvSpPr>
          <p:cNvPr id="304" name="PlaceHolder 3"/>
          <p:cNvSpPr>
            <a:spLocks noGrp="1"/>
          </p:cNvSpPr>
          <p:nvPr>
            <p:ph type="sldNum" idx="4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1F2EB15-099C-430D-ADDE-28085FC2389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type="sldImg"/>
          </p:nvPr>
        </p:nvSpPr>
        <p:spPr>
          <a:xfrm>
            <a:off x="1143000" y="685800"/>
            <a:ext cx="4571280" cy="3428280"/>
          </a:xfrm>
          <a:prstGeom prst="rect">
            <a:avLst/>
          </a:prstGeom>
          <a:ln w="0">
            <a:noFill/>
          </a:ln>
        </p:spPr>
      </p:sp>
      <p:sp>
        <p:nvSpPr>
          <p:cNvPr id="30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Intermediate fusion goes deeper than late fusion. Instead of just adding the final scores, we concatenate the internal representations of both models and train a small neural network on top — jointly. The idea is that both encoders can adapt to complement each other. Training is very slow because we're running both large models simultaneously. It's not yet complete.</a:t>
            </a:r>
            <a:endParaRPr b="0" lang="en-US" sz="2000" spc="-1" strike="noStrike">
              <a:solidFill>
                <a:srgbClr val="000000"/>
              </a:solidFill>
              <a:latin typeface="Arial"/>
            </a:endParaRPr>
          </a:p>
        </p:txBody>
      </p:sp>
      <p:sp>
        <p:nvSpPr>
          <p:cNvPr id="307" name="PlaceHolder 3"/>
          <p:cNvSpPr>
            <a:spLocks noGrp="1"/>
          </p:cNvSpPr>
          <p:nvPr>
            <p:ph type="sldNum" idx="4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555FFA3-04EF-4EF7-9953-D7DC10D505E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sldImg"/>
          </p:nvPr>
        </p:nvSpPr>
        <p:spPr>
          <a:xfrm>
            <a:off x="1143000" y="685800"/>
            <a:ext cx="4571280" cy="3428280"/>
          </a:xfrm>
          <a:prstGeom prst="rect">
            <a:avLst/>
          </a:prstGeom>
          <a:ln w="0">
            <a:noFill/>
          </a:ln>
        </p:spPr>
      </p:sp>
      <p:sp>
        <p:nvSpPr>
          <p:cNvPr id="30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The key result is the jump from ~0.65 to 0.82 Macro F1 with late fusion. Both unimodal models are similar to each other but significantly weaker than the combined model. Intermediate fusion results are not yet available — training is still running.</a:t>
            </a:r>
            <a:endParaRPr b="0" lang="en-US" sz="2000" spc="-1" strike="noStrike">
              <a:solidFill>
                <a:srgbClr val="000000"/>
              </a:solidFill>
              <a:latin typeface="Arial"/>
            </a:endParaRPr>
          </a:p>
        </p:txBody>
      </p:sp>
      <p:sp>
        <p:nvSpPr>
          <p:cNvPr id="310" name="PlaceHolder 3"/>
          <p:cNvSpPr>
            <a:spLocks noGrp="1"/>
          </p:cNvSpPr>
          <p:nvPr>
            <p:ph type="sldNum" idx="4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F6BF050-CB77-44A2-B461-3E3185F9DE1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 name="PlaceHolder 1"/>
          <p:cNvSpPr>
            <a:spLocks noGrp="1"/>
          </p:cNvSpPr>
          <p:nvPr>
            <p:ph type="sldImg"/>
          </p:nvPr>
        </p:nvSpPr>
        <p:spPr>
          <a:xfrm>
            <a:off x="1143000" y="685800"/>
            <a:ext cx="4571280" cy="3428280"/>
          </a:xfrm>
          <a:prstGeom prst="rect">
            <a:avLst/>
          </a:prstGeom>
          <a:ln w="0">
            <a:noFill/>
          </a:ln>
        </p:spPr>
      </p:sp>
      <p:sp>
        <p:nvSpPr>
          <p:cNvPr id="31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Summary of where the project stands. Everything up to and including late fusion is complete and results are confirmed. Intermediate fusion is the one remaining modelling step — it needs to run on someone's machine overnight. After that, the report gets the final numbers and is exported to PDF.</a:t>
            </a:r>
            <a:endParaRPr b="0" lang="en-US" sz="2000" spc="-1" strike="noStrike">
              <a:solidFill>
                <a:srgbClr val="000000"/>
              </a:solidFill>
              <a:latin typeface="Arial"/>
            </a:endParaRPr>
          </a:p>
        </p:txBody>
      </p:sp>
      <p:sp>
        <p:nvSpPr>
          <p:cNvPr id="313" name="PlaceHolder 3"/>
          <p:cNvSpPr>
            <a:spLocks noGrp="1"/>
          </p:cNvSpPr>
          <p:nvPr>
            <p:ph type="sldNum" idx="4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E0C2962-A6AD-4BAA-95AA-654A83197F3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5D4922BE-CB86-49B6-B9E9-670D87645CD9}"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9405AF0B-5C16-4C1C-B5C0-350CD6F85470}"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DC1F5F0A-D4E2-43C1-AE9D-5FAD3298A694}"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E83D6B22-B3F3-4C94-BEC6-15C08796A8B7}"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FE22D505-99E4-42A7-B68C-0689D13FBFA8}"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A9A6346D-6D81-4D77-BC4D-709EA9BCC595}"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5315011B-4907-4EA3-AEC2-38E70F6CC199}"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6DB951AF-A745-4477-8C37-A9CD566A4C2B}"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92CA4139-436E-4A11-9E44-1C5E31CDE9E2}"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D4027EA1-F82A-4A7E-967C-BCC88232C883}"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CE3ADDF8-041E-4428-AF0D-CB81B621234D}"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A7792A0E-517A-4061-A7E1-22603918753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3446810D-3B11-468E-93C2-D026D7E9D46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C4199C05-E6EB-4DF0-B029-8A5DBF4DDDA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609480" y="1604520"/>
            <a:ext cx="109717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F13BD851-FA2D-497C-ACDC-0C599C4C284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68A8D564-080D-4EB9-A4B6-39668D60156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D771F814-1960-4A40-A909-696932DA9DF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C4771C99-F0B0-469C-BF0C-5FD4ADD1059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11E6FD3B-757A-4D0E-B1E7-997C1AC8ABB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7DCB8566-460B-41F8-9F58-6DEF355A353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1783288E-0373-466D-A955-60CFBAD7467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D7E02B72-0B96-4B70-91BC-D0B29885517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Rectangle 1"/>
          <p:cNvSpPr/>
          <p:nvPr/>
        </p:nvSpPr>
        <p:spPr>
          <a:xfrm>
            <a:off x="0" y="0"/>
            <a:ext cx="12191040" cy="6857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 name="Rectangle 2"/>
          <p:cNvSpPr/>
          <p:nvPr/>
        </p:nvSpPr>
        <p:spPr>
          <a:xfrm>
            <a:off x="0" y="2286000"/>
            <a:ext cx="12191040" cy="2559600"/>
          </a:xfrm>
          <a:prstGeom prst="rect">
            <a:avLst/>
          </a:prstGeom>
          <a:solidFill>
            <a:srgbClr val="2e75b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8" name="TextBox 3"/>
          <p:cNvSpPr/>
          <p:nvPr/>
        </p:nvSpPr>
        <p:spPr>
          <a:xfrm>
            <a:off x="731520" y="502920"/>
            <a:ext cx="10514880" cy="1430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4400" spc="-1" strike="noStrike">
                <a:solidFill>
                  <a:srgbClr val="ffffff"/>
                </a:solidFill>
                <a:latin typeface="Calibri"/>
              </a:rPr>
              <a:t>Multimodal Speech</a:t>
            </a:r>
            <a:endParaRPr b="0" lang="en-US" sz="4400" spc="-1" strike="noStrike">
              <a:solidFill>
                <a:srgbClr val="000000"/>
              </a:solidFill>
              <a:latin typeface="Arial"/>
            </a:endParaRPr>
          </a:p>
          <a:p>
            <a:pPr defTabSz="457200">
              <a:lnSpc>
                <a:spcPct val="100000"/>
              </a:lnSpc>
            </a:pPr>
            <a:r>
              <a:rPr b="1" lang="en-US" sz="4400" spc="-1" strike="noStrike">
                <a:solidFill>
                  <a:srgbClr val="ffffff"/>
                </a:solidFill>
                <a:latin typeface="Calibri"/>
              </a:rPr>
              <a:t>Emotion Recognition</a:t>
            </a:r>
            <a:endParaRPr b="0" lang="en-US" sz="4400" spc="-1" strike="noStrike">
              <a:solidFill>
                <a:srgbClr val="000000"/>
              </a:solidFill>
              <a:latin typeface="Arial"/>
            </a:endParaRPr>
          </a:p>
        </p:txBody>
      </p:sp>
      <p:sp>
        <p:nvSpPr>
          <p:cNvPr id="59" name="TextBox 4"/>
          <p:cNvSpPr/>
          <p:nvPr/>
        </p:nvSpPr>
        <p:spPr>
          <a:xfrm>
            <a:off x="777240" y="2423160"/>
            <a:ext cx="9143280" cy="424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2200" spc="-1" strike="noStrike">
                <a:solidFill>
                  <a:srgbClr val="ddeaff"/>
                </a:solidFill>
                <a:latin typeface="Calibri"/>
              </a:rPr>
              <a:t>Using the IEMOCAP corpus</a:t>
            </a:r>
            <a:endParaRPr b="0" lang="en-US" sz="2200" spc="-1" strike="noStrike">
              <a:solidFill>
                <a:srgbClr val="000000"/>
              </a:solidFill>
              <a:latin typeface="Arial"/>
            </a:endParaRPr>
          </a:p>
        </p:txBody>
      </p:sp>
      <p:sp>
        <p:nvSpPr>
          <p:cNvPr id="60" name="TextBox 5"/>
          <p:cNvSpPr/>
          <p:nvPr/>
        </p:nvSpPr>
        <p:spPr>
          <a:xfrm>
            <a:off x="777240" y="3063240"/>
            <a:ext cx="9143280" cy="379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900" spc="-1" strike="noStrike">
                <a:solidFill>
                  <a:srgbClr val="ffffff"/>
                </a:solidFill>
                <a:latin typeface="Calibri"/>
              </a:rPr>
              <a:t>Chen Shmila  ·  Ohad Lavie</a:t>
            </a:r>
            <a:endParaRPr b="0" lang="en-US" sz="1900" spc="-1" strike="noStrike">
              <a:solidFill>
                <a:srgbClr val="000000"/>
              </a:solidFill>
              <a:latin typeface="Arial"/>
            </a:endParaRPr>
          </a:p>
        </p:txBody>
      </p:sp>
      <p:sp>
        <p:nvSpPr>
          <p:cNvPr id="61" name="TextBox 6"/>
          <p:cNvSpPr/>
          <p:nvPr/>
        </p:nvSpPr>
        <p:spPr>
          <a:xfrm>
            <a:off x="777240" y="3493080"/>
            <a:ext cx="91432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400" spc="-1" strike="noStrike">
                <a:solidFill>
                  <a:srgbClr val="aabbdd"/>
                </a:solidFill>
                <a:latin typeface="Calibri"/>
              </a:rPr>
              <a:t>Bar-Ilan University  ·  2026</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Our Approach</a:t>
            </a:r>
            <a:endParaRPr b="0" lang="en-US" sz="3000" spc="-1" strike="noStrike">
              <a:solidFill>
                <a:srgbClr val="000000"/>
              </a:solidFill>
              <a:latin typeface="Arial"/>
            </a:endParaRPr>
          </a:p>
        </p:txBody>
      </p:sp>
      <p:sp>
        <p:nvSpPr>
          <p:cNvPr id="64" name="TextBox 3"/>
          <p:cNvSpPr/>
          <p:nvPr/>
        </p:nvSpPr>
        <p:spPr>
          <a:xfrm>
            <a:off x="411480" y="749880"/>
            <a:ext cx="113680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bbccee"/>
                </a:solidFill>
                <a:latin typeface="Calibri"/>
              </a:rPr>
              <a:t>Four models - increasing complexity</a:t>
            </a:r>
            <a:endParaRPr b="0" lang="en-US" sz="1300" spc="-1" strike="noStrike">
              <a:solidFill>
                <a:srgbClr val="000000"/>
              </a:solidFill>
              <a:latin typeface="Arial"/>
            </a:endParaRPr>
          </a:p>
        </p:txBody>
      </p:sp>
      <p:sp>
        <p:nvSpPr>
          <p:cNvPr id="65" name="Rectangle 4"/>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 name="Rectangle 5"/>
          <p:cNvSpPr/>
          <p:nvPr/>
        </p:nvSpPr>
        <p:spPr>
          <a:xfrm>
            <a:off x="274320" y="1920240"/>
            <a:ext cx="2285280" cy="1736640"/>
          </a:xfrm>
          <a:prstGeom prst="rect">
            <a:avLst/>
          </a:prstGeom>
          <a:solidFill>
            <a:srgbClr val="2e75b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7" name="Rectangle 6"/>
          <p:cNvSpPr/>
          <p:nvPr/>
        </p:nvSpPr>
        <p:spPr>
          <a:xfrm>
            <a:off x="274320" y="3657600"/>
            <a:ext cx="2285280" cy="822240"/>
          </a:xfrm>
          <a:prstGeom prst="rect">
            <a:avLst/>
          </a:prstGeom>
          <a:solidFill>
            <a:srgbClr val="ffffff"/>
          </a:solidFill>
          <a:ln w="15240">
            <a:solidFill>
              <a:srgbClr val="2e75b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8" name="TextBox 7"/>
          <p:cNvSpPr/>
          <p:nvPr/>
        </p:nvSpPr>
        <p:spPr>
          <a:xfrm>
            <a:off x="365760" y="1965960"/>
            <a:ext cx="2102400" cy="3182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500" spc="-1" strike="noStrike">
                <a:solidFill>
                  <a:srgbClr val="ffffff"/>
                </a:solidFill>
                <a:latin typeface="Calibri"/>
              </a:rPr>
              <a:t>Text only</a:t>
            </a:r>
            <a:endParaRPr b="0" lang="en-US" sz="1500" spc="-1" strike="noStrike">
              <a:solidFill>
                <a:srgbClr val="000000"/>
              </a:solidFill>
              <a:latin typeface="Arial"/>
            </a:endParaRPr>
          </a:p>
        </p:txBody>
      </p:sp>
      <p:sp>
        <p:nvSpPr>
          <p:cNvPr id="69" name="TextBox 8"/>
          <p:cNvSpPr/>
          <p:nvPr/>
        </p:nvSpPr>
        <p:spPr>
          <a:xfrm>
            <a:off x="365760" y="2834640"/>
            <a:ext cx="2102400" cy="2725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200" spc="-1" strike="noStrike">
                <a:solidFill>
                  <a:srgbClr val="ffffff"/>
                </a:solidFill>
                <a:latin typeface="Calibri"/>
              </a:rPr>
              <a:t>RoBERTa</a:t>
            </a:r>
            <a:endParaRPr b="0" lang="en-US" sz="1200" spc="-1" strike="noStrike">
              <a:solidFill>
                <a:srgbClr val="000000"/>
              </a:solidFill>
              <a:latin typeface="Arial"/>
            </a:endParaRPr>
          </a:p>
        </p:txBody>
      </p:sp>
      <p:sp>
        <p:nvSpPr>
          <p:cNvPr id="70" name="TextBox 9"/>
          <p:cNvSpPr/>
          <p:nvPr/>
        </p:nvSpPr>
        <p:spPr>
          <a:xfrm>
            <a:off x="365760" y="3703320"/>
            <a:ext cx="2102400" cy="425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100" spc="-1" strike="noStrike">
                <a:solidFill>
                  <a:srgbClr val="555555"/>
                </a:solidFill>
                <a:latin typeface="Calibri"/>
              </a:rPr>
              <a:t>Session 5 test</a:t>
            </a:r>
            <a:endParaRPr b="0" lang="en-US" sz="1100" spc="-1" strike="noStrike">
              <a:solidFill>
                <a:srgbClr val="000000"/>
              </a:solidFill>
              <a:latin typeface="Arial"/>
            </a:endParaRPr>
          </a:p>
          <a:p>
            <a:pPr algn="ctr" defTabSz="457200">
              <a:lnSpc>
                <a:spcPct val="100000"/>
              </a:lnSpc>
            </a:pPr>
            <a:r>
              <a:rPr b="0" lang="en-US" sz="1100" spc="-1" strike="noStrike">
                <a:solidFill>
                  <a:srgbClr val="555555"/>
                </a:solidFill>
                <a:latin typeface="Calibri"/>
              </a:rPr>
              <a:t>(n=2,170)</a:t>
            </a:r>
            <a:endParaRPr b="0" lang="en-US" sz="1100" spc="-1" strike="noStrike">
              <a:solidFill>
                <a:srgbClr val="000000"/>
              </a:solidFill>
              <a:latin typeface="Arial"/>
            </a:endParaRPr>
          </a:p>
        </p:txBody>
      </p:sp>
      <p:sp>
        <p:nvSpPr>
          <p:cNvPr id="71" name="Rectangle 10"/>
          <p:cNvSpPr/>
          <p:nvPr/>
        </p:nvSpPr>
        <p:spPr>
          <a:xfrm>
            <a:off x="2834640" y="1920240"/>
            <a:ext cx="2285280" cy="1736640"/>
          </a:xfrm>
          <a:prstGeom prst="rect">
            <a:avLst/>
          </a:prstGeom>
          <a:solidFill>
            <a:srgbClr val="378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2" name="Rectangle 11"/>
          <p:cNvSpPr/>
          <p:nvPr/>
        </p:nvSpPr>
        <p:spPr>
          <a:xfrm>
            <a:off x="2834640" y="3657600"/>
            <a:ext cx="2285280" cy="822240"/>
          </a:xfrm>
          <a:prstGeom prst="rect">
            <a:avLst/>
          </a:prstGeom>
          <a:solidFill>
            <a:srgbClr val="ffffff"/>
          </a:solidFill>
          <a:ln w="15240">
            <a:solidFill>
              <a:srgbClr val="37865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3" name="TextBox 12"/>
          <p:cNvSpPr/>
          <p:nvPr/>
        </p:nvSpPr>
        <p:spPr>
          <a:xfrm>
            <a:off x="2926080" y="1965960"/>
            <a:ext cx="2102400" cy="3182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500" spc="-1" strike="noStrike">
                <a:solidFill>
                  <a:srgbClr val="ffffff"/>
                </a:solidFill>
                <a:latin typeface="Calibri"/>
              </a:rPr>
              <a:t>Audio only</a:t>
            </a:r>
            <a:endParaRPr b="0" lang="en-US" sz="1500" spc="-1" strike="noStrike">
              <a:solidFill>
                <a:srgbClr val="000000"/>
              </a:solidFill>
              <a:latin typeface="Arial"/>
            </a:endParaRPr>
          </a:p>
        </p:txBody>
      </p:sp>
      <p:sp>
        <p:nvSpPr>
          <p:cNvPr id="74" name="TextBox 13"/>
          <p:cNvSpPr/>
          <p:nvPr/>
        </p:nvSpPr>
        <p:spPr>
          <a:xfrm>
            <a:off x="2926080" y="2834640"/>
            <a:ext cx="2102400" cy="2725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200" spc="-1" strike="noStrike">
                <a:solidFill>
                  <a:srgbClr val="ffffff"/>
                </a:solidFill>
                <a:latin typeface="Calibri"/>
              </a:rPr>
              <a:t>Wav2Vec2</a:t>
            </a:r>
            <a:endParaRPr b="0" lang="en-US" sz="1200" spc="-1" strike="noStrike">
              <a:solidFill>
                <a:srgbClr val="000000"/>
              </a:solidFill>
              <a:latin typeface="Arial"/>
            </a:endParaRPr>
          </a:p>
        </p:txBody>
      </p:sp>
      <p:sp>
        <p:nvSpPr>
          <p:cNvPr id="75" name="TextBox 14"/>
          <p:cNvSpPr/>
          <p:nvPr/>
        </p:nvSpPr>
        <p:spPr>
          <a:xfrm>
            <a:off x="2926080" y="3703320"/>
            <a:ext cx="2102400" cy="425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100" spc="-1" strike="noStrike">
                <a:solidFill>
                  <a:srgbClr val="555555"/>
                </a:solidFill>
                <a:latin typeface="Calibri"/>
              </a:rPr>
              <a:t>Session 5 test</a:t>
            </a:r>
            <a:endParaRPr b="0" lang="en-US" sz="1100" spc="-1" strike="noStrike">
              <a:solidFill>
                <a:srgbClr val="000000"/>
              </a:solidFill>
              <a:latin typeface="Arial"/>
            </a:endParaRPr>
          </a:p>
          <a:p>
            <a:pPr algn="ctr" defTabSz="457200">
              <a:lnSpc>
                <a:spcPct val="100000"/>
              </a:lnSpc>
            </a:pPr>
            <a:r>
              <a:rPr b="0" lang="en-US" sz="1100" spc="-1" strike="noStrike">
                <a:solidFill>
                  <a:srgbClr val="555555"/>
                </a:solidFill>
                <a:latin typeface="Calibri"/>
              </a:rPr>
              <a:t>(n=2,170)</a:t>
            </a:r>
            <a:endParaRPr b="0" lang="en-US" sz="1100" spc="-1" strike="noStrike">
              <a:solidFill>
                <a:srgbClr val="000000"/>
              </a:solidFill>
              <a:latin typeface="Arial"/>
            </a:endParaRPr>
          </a:p>
        </p:txBody>
      </p:sp>
      <p:sp>
        <p:nvSpPr>
          <p:cNvPr id="76" name="Rectangle 15"/>
          <p:cNvSpPr/>
          <p:nvPr/>
        </p:nvSpPr>
        <p:spPr>
          <a:xfrm>
            <a:off x="5394960" y="1920240"/>
            <a:ext cx="2285280" cy="1736640"/>
          </a:xfrm>
          <a:prstGeom prst="rect">
            <a:avLst/>
          </a:prstGeom>
          <a:solidFill>
            <a:srgbClr val="7b49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7" name="Rectangle 16"/>
          <p:cNvSpPr/>
          <p:nvPr/>
        </p:nvSpPr>
        <p:spPr>
          <a:xfrm>
            <a:off x="5394960" y="3657600"/>
            <a:ext cx="2285280" cy="822240"/>
          </a:xfrm>
          <a:prstGeom prst="rect">
            <a:avLst/>
          </a:prstGeom>
          <a:solidFill>
            <a:srgbClr val="ffffff"/>
          </a:solidFill>
          <a:ln w="15240">
            <a:solidFill>
              <a:srgbClr val="7b49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 name="TextBox 17"/>
          <p:cNvSpPr/>
          <p:nvPr/>
        </p:nvSpPr>
        <p:spPr>
          <a:xfrm>
            <a:off x="5486400" y="1965960"/>
            <a:ext cx="2102400" cy="3182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500" spc="-1" strike="noStrike">
                <a:solidFill>
                  <a:srgbClr val="ffffff"/>
                </a:solidFill>
                <a:latin typeface="Calibri"/>
              </a:rPr>
              <a:t>Late Fusion</a:t>
            </a:r>
            <a:endParaRPr b="0" lang="en-US" sz="1500" spc="-1" strike="noStrike">
              <a:solidFill>
                <a:srgbClr val="000000"/>
              </a:solidFill>
              <a:latin typeface="Arial"/>
            </a:endParaRPr>
          </a:p>
        </p:txBody>
      </p:sp>
      <p:sp>
        <p:nvSpPr>
          <p:cNvPr id="79" name="TextBox 18"/>
          <p:cNvSpPr/>
          <p:nvPr/>
        </p:nvSpPr>
        <p:spPr>
          <a:xfrm>
            <a:off x="5486400" y="2834640"/>
            <a:ext cx="2102400" cy="455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200" spc="-1" strike="noStrike">
                <a:solidFill>
                  <a:srgbClr val="ffffff"/>
                </a:solidFill>
                <a:latin typeface="Calibri"/>
              </a:rPr>
              <a:t>Weighted logit</a:t>
            </a:r>
            <a:endParaRPr b="0" lang="en-US" sz="1200" spc="-1" strike="noStrike">
              <a:solidFill>
                <a:srgbClr val="000000"/>
              </a:solidFill>
              <a:latin typeface="Arial"/>
            </a:endParaRPr>
          </a:p>
          <a:p>
            <a:pPr algn="ctr" defTabSz="457200">
              <a:lnSpc>
                <a:spcPct val="100000"/>
              </a:lnSpc>
            </a:pPr>
            <a:r>
              <a:rPr b="0" lang="en-US" sz="1200" spc="-1" strike="noStrike">
                <a:solidFill>
                  <a:srgbClr val="ffffff"/>
                </a:solidFill>
                <a:latin typeface="Calibri"/>
              </a:rPr>
              <a:t>sum</a:t>
            </a:r>
            <a:endParaRPr b="0" lang="en-US" sz="1200" spc="-1" strike="noStrike">
              <a:solidFill>
                <a:srgbClr val="000000"/>
              </a:solidFill>
              <a:latin typeface="Arial"/>
            </a:endParaRPr>
          </a:p>
        </p:txBody>
      </p:sp>
      <p:sp>
        <p:nvSpPr>
          <p:cNvPr id="80" name="TextBox 19"/>
          <p:cNvSpPr/>
          <p:nvPr/>
        </p:nvSpPr>
        <p:spPr>
          <a:xfrm>
            <a:off x="5486400" y="3703320"/>
            <a:ext cx="2102400" cy="425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100" spc="-1" strike="noStrike">
                <a:solidFill>
                  <a:srgbClr val="555555"/>
                </a:solidFill>
                <a:latin typeface="Calibri"/>
              </a:rPr>
              <a:t>Session 5 test</a:t>
            </a:r>
            <a:endParaRPr b="0" lang="en-US" sz="1100" spc="-1" strike="noStrike">
              <a:solidFill>
                <a:srgbClr val="000000"/>
              </a:solidFill>
              <a:latin typeface="Arial"/>
            </a:endParaRPr>
          </a:p>
          <a:p>
            <a:pPr algn="ctr" defTabSz="457200">
              <a:lnSpc>
                <a:spcPct val="100000"/>
              </a:lnSpc>
            </a:pPr>
            <a:r>
              <a:rPr b="0" lang="en-US" sz="1100" spc="-1" strike="noStrike">
                <a:solidFill>
                  <a:srgbClr val="555555"/>
                </a:solidFill>
                <a:latin typeface="Calibri"/>
              </a:rPr>
              <a:t>(n=2,170)</a:t>
            </a:r>
            <a:endParaRPr b="0" lang="en-US" sz="1100" spc="-1" strike="noStrike">
              <a:solidFill>
                <a:srgbClr val="000000"/>
              </a:solidFill>
              <a:latin typeface="Arial"/>
            </a:endParaRPr>
          </a:p>
        </p:txBody>
      </p:sp>
      <p:sp>
        <p:nvSpPr>
          <p:cNvPr id="81" name="Rectangle 20"/>
          <p:cNvSpPr/>
          <p:nvPr/>
        </p:nvSpPr>
        <p:spPr>
          <a:xfrm>
            <a:off x="7955280" y="1920240"/>
            <a:ext cx="2285280" cy="1736640"/>
          </a:xfrm>
          <a:prstGeom prst="rect">
            <a:avLst/>
          </a:prstGeom>
          <a:solidFill>
            <a:srgbClr val="c55a1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2" name="Rectangle 21"/>
          <p:cNvSpPr/>
          <p:nvPr/>
        </p:nvSpPr>
        <p:spPr>
          <a:xfrm>
            <a:off x="7955280" y="3657600"/>
            <a:ext cx="2285280" cy="822240"/>
          </a:xfrm>
          <a:prstGeom prst="rect">
            <a:avLst/>
          </a:prstGeom>
          <a:solidFill>
            <a:srgbClr val="ffffff"/>
          </a:solidFill>
          <a:ln w="15240">
            <a:solidFill>
              <a:srgbClr val="c55a1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3" name="TextBox 22"/>
          <p:cNvSpPr/>
          <p:nvPr/>
        </p:nvSpPr>
        <p:spPr>
          <a:xfrm>
            <a:off x="8046720" y="1965960"/>
            <a:ext cx="2102400" cy="5468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500" spc="-1" strike="noStrike">
                <a:solidFill>
                  <a:srgbClr val="ffffff"/>
                </a:solidFill>
                <a:latin typeface="Calibri"/>
              </a:rPr>
              <a:t>Intermediate</a:t>
            </a:r>
            <a:endParaRPr b="0" lang="en-US" sz="1500" spc="-1" strike="noStrike">
              <a:solidFill>
                <a:srgbClr val="000000"/>
              </a:solidFill>
              <a:latin typeface="Arial"/>
            </a:endParaRPr>
          </a:p>
          <a:p>
            <a:pPr algn="ctr" defTabSz="457200">
              <a:lnSpc>
                <a:spcPct val="100000"/>
              </a:lnSpc>
            </a:pPr>
            <a:r>
              <a:rPr b="1" lang="en-US" sz="1500" spc="-1" strike="noStrike">
                <a:solidFill>
                  <a:srgbClr val="ffffff"/>
                </a:solidFill>
                <a:latin typeface="Calibri"/>
              </a:rPr>
              <a:t>Fusion</a:t>
            </a:r>
            <a:endParaRPr b="0" lang="en-US" sz="1500" spc="-1" strike="noStrike">
              <a:solidFill>
                <a:srgbClr val="000000"/>
              </a:solidFill>
              <a:latin typeface="Arial"/>
            </a:endParaRPr>
          </a:p>
        </p:txBody>
      </p:sp>
      <p:sp>
        <p:nvSpPr>
          <p:cNvPr id="84" name="TextBox 23"/>
          <p:cNvSpPr/>
          <p:nvPr/>
        </p:nvSpPr>
        <p:spPr>
          <a:xfrm>
            <a:off x="8046720" y="2834640"/>
            <a:ext cx="2102400" cy="455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200" spc="-1" strike="noStrike">
                <a:solidFill>
                  <a:srgbClr val="ffffff"/>
                </a:solidFill>
                <a:latin typeface="Calibri"/>
              </a:rPr>
              <a:t>Joint MLP</a:t>
            </a:r>
            <a:endParaRPr b="0" lang="en-US" sz="1200" spc="-1" strike="noStrike">
              <a:solidFill>
                <a:srgbClr val="000000"/>
              </a:solidFill>
              <a:latin typeface="Arial"/>
            </a:endParaRPr>
          </a:p>
          <a:p>
            <a:pPr algn="ctr" defTabSz="457200">
              <a:lnSpc>
                <a:spcPct val="100000"/>
              </a:lnSpc>
            </a:pPr>
            <a:r>
              <a:rPr b="0" lang="en-US" sz="1200" spc="-1" strike="noStrike">
                <a:solidFill>
                  <a:srgbClr val="ffffff"/>
                </a:solidFill>
                <a:latin typeface="Calibri"/>
              </a:rPr>
              <a:t>head</a:t>
            </a:r>
            <a:endParaRPr b="0" lang="en-US" sz="1200" spc="-1" strike="noStrike">
              <a:solidFill>
                <a:srgbClr val="000000"/>
              </a:solidFill>
              <a:latin typeface="Arial"/>
            </a:endParaRPr>
          </a:p>
        </p:txBody>
      </p:sp>
      <p:sp>
        <p:nvSpPr>
          <p:cNvPr id="85" name="TextBox 24"/>
          <p:cNvSpPr/>
          <p:nvPr/>
        </p:nvSpPr>
        <p:spPr>
          <a:xfrm>
            <a:off x="8046720" y="3703320"/>
            <a:ext cx="2102400" cy="425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100" spc="-1" strike="noStrike">
                <a:solidFill>
                  <a:srgbClr val="555555"/>
                </a:solidFill>
                <a:latin typeface="Calibri"/>
              </a:rPr>
              <a:t>Session 5 test</a:t>
            </a:r>
            <a:endParaRPr b="0" lang="en-US" sz="1100" spc="-1" strike="noStrike">
              <a:solidFill>
                <a:srgbClr val="000000"/>
              </a:solidFill>
              <a:latin typeface="Arial"/>
            </a:endParaRPr>
          </a:p>
          <a:p>
            <a:pPr algn="ctr" defTabSz="457200">
              <a:lnSpc>
                <a:spcPct val="100000"/>
              </a:lnSpc>
            </a:pPr>
            <a:r>
              <a:rPr b="0" lang="en-US" sz="1100" spc="-1" strike="noStrike">
                <a:solidFill>
                  <a:srgbClr val="555555"/>
                </a:solidFill>
                <a:latin typeface="Calibri"/>
              </a:rPr>
              <a:t>(n=2,170)</a:t>
            </a:r>
            <a:endParaRPr b="0" lang="en-US" sz="1100" spc="-1" strike="noStrike">
              <a:solidFill>
                <a:srgbClr val="000000"/>
              </a:solidFill>
              <a:latin typeface="Arial"/>
            </a:endParaRPr>
          </a:p>
        </p:txBody>
      </p:sp>
      <p:sp>
        <p:nvSpPr>
          <p:cNvPr id="86" name="TextBox 25"/>
          <p:cNvSpPr/>
          <p:nvPr/>
        </p:nvSpPr>
        <p:spPr>
          <a:xfrm>
            <a:off x="2578680" y="2468880"/>
            <a:ext cx="319320" cy="455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400" spc="-1" strike="noStrike">
                <a:solidFill>
                  <a:srgbClr val="555555"/>
                </a:solidFill>
                <a:latin typeface="Calibri"/>
              </a:rPr>
              <a:t>→</a:t>
            </a:r>
            <a:endParaRPr b="0" lang="en-US" sz="2400" spc="-1" strike="noStrike">
              <a:solidFill>
                <a:srgbClr val="000000"/>
              </a:solidFill>
              <a:latin typeface="Arial"/>
            </a:endParaRPr>
          </a:p>
        </p:txBody>
      </p:sp>
      <p:sp>
        <p:nvSpPr>
          <p:cNvPr id="87" name="TextBox 26"/>
          <p:cNvSpPr/>
          <p:nvPr/>
        </p:nvSpPr>
        <p:spPr>
          <a:xfrm>
            <a:off x="5139000" y="2468880"/>
            <a:ext cx="319320" cy="455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400" spc="-1" strike="noStrike">
                <a:solidFill>
                  <a:srgbClr val="555555"/>
                </a:solidFill>
                <a:latin typeface="Calibri"/>
              </a:rPr>
              <a:t>→</a:t>
            </a:r>
            <a:endParaRPr b="0" lang="en-US" sz="2400" spc="-1" strike="noStrike">
              <a:solidFill>
                <a:srgbClr val="000000"/>
              </a:solidFill>
              <a:latin typeface="Arial"/>
            </a:endParaRPr>
          </a:p>
        </p:txBody>
      </p:sp>
      <p:sp>
        <p:nvSpPr>
          <p:cNvPr id="88" name="TextBox 27"/>
          <p:cNvSpPr/>
          <p:nvPr/>
        </p:nvSpPr>
        <p:spPr>
          <a:xfrm>
            <a:off x="7699320" y="2468880"/>
            <a:ext cx="319320" cy="455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400" spc="-1" strike="noStrike">
                <a:solidFill>
                  <a:srgbClr val="555555"/>
                </a:solidFill>
                <a:latin typeface="Calibri"/>
              </a:rPr>
              <a:t>→</a:t>
            </a:r>
            <a:endParaRPr b="0" lang="en-US" sz="2400" spc="-1" strike="noStrike">
              <a:solidFill>
                <a:srgbClr val="000000"/>
              </a:solidFill>
              <a:latin typeface="Arial"/>
            </a:endParaRPr>
          </a:p>
        </p:txBody>
      </p:sp>
      <p:sp>
        <p:nvSpPr>
          <p:cNvPr id="89" name="TextBox 28"/>
          <p:cNvSpPr/>
          <p:nvPr/>
        </p:nvSpPr>
        <p:spPr>
          <a:xfrm>
            <a:off x="274320" y="4800600"/>
            <a:ext cx="1161216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i="1" lang="en-US" sz="1100" spc="-1" strike="noStrike">
                <a:solidFill>
                  <a:srgbClr val="555555"/>
                </a:solidFill>
                <a:latin typeface="Calibri"/>
              </a:rPr>
              <a:t>All models: 3-class grouping (Negative · Positive · Neutral)  |  Train Sessions 1–4, Test Session 5  |  Macro F1 primary metric</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Text Classification - RoBERTa</a:t>
            </a:r>
            <a:endParaRPr b="0" lang="en-US" sz="3000" spc="-1" strike="noStrike">
              <a:solidFill>
                <a:srgbClr val="000000"/>
              </a:solidFill>
              <a:latin typeface="Arial"/>
            </a:endParaRPr>
          </a:p>
        </p:txBody>
      </p:sp>
      <p:sp>
        <p:nvSpPr>
          <p:cNvPr id="92" name="Rectangle 3"/>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 name="Rectangle 4"/>
          <p:cNvSpPr/>
          <p:nvPr/>
        </p:nvSpPr>
        <p:spPr>
          <a:xfrm>
            <a:off x="274320" y="1417320"/>
            <a:ext cx="5302800" cy="2102400"/>
          </a:xfrm>
          <a:prstGeom prst="rect">
            <a:avLst/>
          </a:prstGeom>
          <a:solidFill>
            <a:srgbClr val="ffffff"/>
          </a:solidFill>
          <a:ln w="12700">
            <a:solidFill>
              <a:srgbClr val="2e75b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4" name="TextBox 5"/>
          <p:cNvSpPr/>
          <p:nvPr/>
        </p:nvSpPr>
        <p:spPr>
          <a:xfrm>
            <a:off x="411480" y="1463040"/>
            <a:ext cx="50284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2e75b6"/>
                </a:solidFill>
                <a:latin typeface="Calibri"/>
              </a:rPr>
              <a:t>What is RoBERTa?</a:t>
            </a:r>
            <a:endParaRPr b="0" lang="en-US" sz="1400" spc="-1" strike="noStrike">
              <a:solidFill>
                <a:srgbClr val="000000"/>
              </a:solidFill>
              <a:latin typeface="Arial"/>
            </a:endParaRPr>
          </a:p>
        </p:txBody>
      </p:sp>
      <p:sp>
        <p:nvSpPr>
          <p:cNvPr id="95" name="TextBox 6"/>
          <p:cNvSpPr/>
          <p:nvPr/>
        </p:nvSpPr>
        <p:spPr>
          <a:xfrm>
            <a:off x="411480" y="1920240"/>
            <a:ext cx="5074200" cy="1081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Pre-trained on 160 GB of English text</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Reads a sentence and understands meaning in context</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We fine-tune it to predict Negative / Positive / Neutral</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125M parameters  |  Learning rate: 2×10⁻⁵</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Early stopping at epoch 7 (best val F1 at epoch 4)</a:t>
            </a:r>
            <a:endParaRPr b="0" lang="en-US" sz="1300" spc="-1" strike="noStrike">
              <a:solidFill>
                <a:srgbClr val="000000"/>
              </a:solidFill>
              <a:latin typeface="Arial"/>
            </a:endParaRPr>
          </a:p>
        </p:txBody>
      </p:sp>
      <p:sp>
        <p:nvSpPr>
          <p:cNvPr id="96" name="Rectangle 7"/>
          <p:cNvSpPr/>
          <p:nvPr/>
        </p:nvSpPr>
        <p:spPr>
          <a:xfrm>
            <a:off x="5943600" y="1417320"/>
            <a:ext cx="5942880" cy="2102400"/>
          </a:xfrm>
          <a:prstGeom prst="rect">
            <a:avLst/>
          </a:prstGeom>
          <a:solidFill>
            <a:srgbClr val="ffffff"/>
          </a:solidFill>
          <a:ln w="12700">
            <a:solidFill>
              <a:srgbClr val="2e75b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7" name="TextBox 8"/>
          <p:cNvSpPr/>
          <p:nvPr/>
        </p:nvSpPr>
        <p:spPr>
          <a:xfrm>
            <a:off x="6080760" y="1463040"/>
            <a:ext cx="56685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2e75b6"/>
                </a:solidFill>
                <a:latin typeface="Calibri"/>
              </a:rPr>
              <a:t>Test Results  Session 5</a:t>
            </a:r>
            <a:endParaRPr b="0" lang="en-US" sz="1400" spc="-1" strike="noStrike">
              <a:solidFill>
                <a:srgbClr val="000000"/>
              </a:solidFill>
              <a:latin typeface="Arial"/>
            </a:endParaRPr>
          </a:p>
        </p:txBody>
      </p:sp>
      <p:sp>
        <p:nvSpPr>
          <p:cNvPr id="98" name="Rectangle 9"/>
          <p:cNvSpPr/>
          <p:nvPr/>
        </p:nvSpPr>
        <p:spPr>
          <a:xfrm>
            <a:off x="6080760" y="1920240"/>
            <a:ext cx="1736640" cy="685080"/>
          </a:xfrm>
          <a:prstGeom prst="rect">
            <a:avLst/>
          </a:prstGeom>
          <a:solidFill>
            <a:srgbClr val="2e75b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9" name="TextBox 10"/>
          <p:cNvSpPr/>
          <p:nvPr/>
        </p:nvSpPr>
        <p:spPr>
          <a:xfrm>
            <a:off x="6126480" y="1947600"/>
            <a:ext cx="1645200" cy="394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000" spc="-1" strike="noStrike">
                <a:solidFill>
                  <a:srgbClr val="ffffff"/>
                </a:solidFill>
                <a:latin typeface="Calibri"/>
              </a:rPr>
              <a:t>67.9%</a:t>
            </a:r>
            <a:endParaRPr b="0" lang="en-US" sz="2000" spc="-1" strike="noStrike">
              <a:solidFill>
                <a:srgbClr val="000000"/>
              </a:solidFill>
              <a:latin typeface="Arial"/>
            </a:endParaRPr>
          </a:p>
        </p:txBody>
      </p:sp>
      <p:sp>
        <p:nvSpPr>
          <p:cNvPr id="100" name="TextBox 11"/>
          <p:cNvSpPr/>
          <p:nvPr/>
        </p:nvSpPr>
        <p:spPr>
          <a:xfrm>
            <a:off x="6126480" y="2331720"/>
            <a:ext cx="16452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ffffff"/>
                </a:solidFill>
                <a:latin typeface="Calibri"/>
              </a:rPr>
              <a:t>Accuracy</a:t>
            </a:r>
            <a:endParaRPr b="0" lang="en-US" sz="1000" spc="-1" strike="noStrike">
              <a:solidFill>
                <a:srgbClr val="000000"/>
              </a:solidFill>
              <a:latin typeface="Arial"/>
            </a:endParaRPr>
          </a:p>
        </p:txBody>
      </p:sp>
      <p:sp>
        <p:nvSpPr>
          <p:cNvPr id="101" name="Rectangle 12"/>
          <p:cNvSpPr/>
          <p:nvPr/>
        </p:nvSpPr>
        <p:spPr>
          <a:xfrm>
            <a:off x="8001000" y="1920240"/>
            <a:ext cx="1736640" cy="6850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2" name="TextBox 13"/>
          <p:cNvSpPr/>
          <p:nvPr/>
        </p:nvSpPr>
        <p:spPr>
          <a:xfrm>
            <a:off x="8046720" y="1947600"/>
            <a:ext cx="1645200" cy="394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000" spc="-1" strike="noStrike">
                <a:solidFill>
                  <a:srgbClr val="ffffff"/>
                </a:solidFill>
                <a:latin typeface="Calibri"/>
              </a:rPr>
              <a:t>0.6519</a:t>
            </a:r>
            <a:endParaRPr b="0" lang="en-US" sz="2000" spc="-1" strike="noStrike">
              <a:solidFill>
                <a:srgbClr val="000000"/>
              </a:solidFill>
              <a:latin typeface="Arial"/>
            </a:endParaRPr>
          </a:p>
        </p:txBody>
      </p:sp>
      <p:sp>
        <p:nvSpPr>
          <p:cNvPr id="103" name="TextBox 14"/>
          <p:cNvSpPr/>
          <p:nvPr/>
        </p:nvSpPr>
        <p:spPr>
          <a:xfrm>
            <a:off x="8046720" y="2331720"/>
            <a:ext cx="16452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ffffff"/>
                </a:solidFill>
                <a:latin typeface="Calibri"/>
              </a:rPr>
              <a:t>Macro F1</a:t>
            </a:r>
            <a:endParaRPr b="0" lang="en-US" sz="1000" spc="-1" strike="noStrike">
              <a:solidFill>
                <a:srgbClr val="000000"/>
              </a:solidFill>
              <a:latin typeface="Arial"/>
            </a:endParaRPr>
          </a:p>
        </p:txBody>
      </p:sp>
      <p:sp>
        <p:nvSpPr>
          <p:cNvPr id="104" name="Rectangle 15"/>
          <p:cNvSpPr/>
          <p:nvPr/>
        </p:nvSpPr>
        <p:spPr>
          <a:xfrm>
            <a:off x="9921240" y="1920240"/>
            <a:ext cx="1736640" cy="685080"/>
          </a:xfrm>
          <a:prstGeom prst="rect">
            <a:avLst/>
          </a:prstGeom>
          <a:solidFill>
            <a:srgbClr val="55555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5" name="TextBox 16"/>
          <p:cNvSpPr/>
          <p:nvPr/>
        </p:nvSpPr>
        <p:spPr>
          <a:xfrm>
            <a:off x="9966960" y="1947600"/>
            <a:ext cx="1645200" cy="394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000" spc="-1" strike="noStrike">
                <a:solidFill>
                  <a:srgbClr val="ffffff"/>
                </a:solidFill>
                <a:latin typeface="Calibri"/>
              </a:rPr>
              <a:t>0.6900</a:t>
            </a:r>
            <a:endParaRPr b="0" lang="en-US" sz="2000" spc="-1" strike="noStrike">
              <a:solidFill>
                <a:srgbClr val="000000"/>
              </a:solidFill>
              <a:latin typeface="Arial"/>
            </a:endParaRPr>
          </a:p>
        </p:txBody>
      </p:sp>
      <p:sp>
        <p:nvSpPr>
          <p:cNvPr id="106" name="TextBox 17"/>
          <p:cNvSpPr/>
          <p:nvPr/>
        </p:nvSpPr>
        <p:spPr>
          <a:xfrm>
            <a:off x="9966960" y="2331720"/>
            <a:ext cx="16452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ffffff"/>
                </a:solidFill>
                <a:latin typeface="Calibri"/>
              </a:rPr>
              <a:t>Weighted F1</a:t>
            </a:r>
            <a:endParaRPr b="0" lang="en-US" sz="1000" spc="-1" strike="noStrike">
              <a:solidFill>
                <a:srgbClr val="000000"/>
              </a:solidFill>
              <a:latin typeface="Arial"/>
            </a:endParaRPr>
          </a:p>
        </p:txBody>
      </p:sp>
      <p:sp>
        <p:nvSpPr>
          <p:cNvPr id="107" name="Rectangle 18"/>
          <p:cNvSpPr/>
          <p:nvPr/>
        </p:nvSpPr>
        <p:spPr>
          <a:xfrm>
            <a:off x="5943600" y="2971800"/>
            <a:ext cx="5942880" cy="38340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8" name="TextBox 19"/>
          <p:cNvSpPr/>
          <p:nvPr/>
        </p:nvSpPr>
        <p:spPr>
          <a:xfrm>
            <a:off x="603504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Class</a:t>
            </a:r>
            <a:endParaRPr b="0" lang="en-US" sz="1300" spc="-1" strike="noStrike">
              <a:solidFill>
                <a:srgbClr val="000000"/>
              </a:solidFill>
              <a:latin typeface="Arial"/>
            </a:endParaRPr>
          </a:p>
        </p:txBody>
      </p:sp>
      <p:sp>
        <p:nvSpPr>
          <p:cNvPr id="109" name="TextBox 20"/>
          <p:cNvSpPr/>
          <p:nvPr/>
        </p:nvSpPr>
        <p:spPr>
          <a:xfrm>
            <a:off x="731520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Precision</a:t>
            </a:r>
            <a:endParaRPr b="0" lang="en-US" sz="1300" spc="-1" strike="noStrike">
              <a:solidFill>
                <a:srgbClr val="000000"/>
              </a:solidFill>
              <a:latin typeface="Arial"/>
            </a:endParaRPr>
          </a:p>
        </p:txBody>
      </p:sp>
      <p:sp>
        <p:nvSpPr>
          <p:cNvPr id="110" name="TextBox 21"/>
          <p:cNvSpPr/>
          <p:nvPr/>
        </p:nvSpPr>
        <p:spPr>
          <a:xfrm>
            <a:off x="854964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Recall</a:t>
            </a:r>
            <a:endParaRPr b="0" lang="en-US" sz="1300" spc="-1" strike="noStrike">
              <a:solidFill>
                <a:srgbClr val="000000"/>
              </a:solidFill>
              <a:latin typeface="Arial"/>
            </a:endParaRPr>
          </a:p>
        </p:txBody>
      </p:sp>
      <p:sp>
        <p:nvSpPr>
          <p:cNvPr id="111" name="TextBox 22"/>
          <p:cNvSpPr/>
          <p:nvPr/>
        </p:nvSpPr>
        <p:spPr>
          <a:xfrm>
            <a:off x="978408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F1</a:t>
            </a:r>
            <a:endParaRPr b="0" lang="en-US" sz="1300" spc="-1" strike="noStrike">
              <a:solidFill>
                <a:srgbClr val="000000"/>
              </a:solidFill>
              <a:latin typeface="Arial"/>
            </a:endParaRPr>
          </a:p>
        </p:txBody>
      </p:sp>
      <p:sp>
        <p:nvSpPr>
          <p:cNvPr id="112" name="Rectangle 23"/>
          <p:cNvSpPr/>
          <p:nvPr/>
        </p:nvSpPr>
        <p:spPr>
          <a:xfrm>
            <a:off x="5943600" y="3374280"/>
            <a:ext cx="5942880" cy="3834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3" name="TextBox 24"/>
          <p:cNvSpPr/>
          <p:nvPr/>
        </p:nvSpPr>
        <p:spPr>
          <a:xfrm>
            <a:off x="603504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Negative</a:t>
            </a:r>
            <a:endParaRPr b="0" lang="en-US" sz="1300" spc="-1" strike="noStrike">
              <a:solidFill>
                <a:srgbClr val="000000"/>
              </a:solidFill>
              <a:latin typeface="Arial"/>
            </a:endParaRPr>
          </a:p>
        </p:txBody>
      </p:sp>
      <p:sp>
        <p:nvSpPr>
          <p:cNvPr id="114" name="TextBox 25"/>
          <p:cNvSpPr/>
          <p:nvPr/>
        </p:nvSpPr>
        <p:spPr>
          <a:xfrm>
            <a:off x="731520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0.86</a:t>
            </a:r>
            <a:endParaRPr b="0" lang="en-US" sz="1300" spc="-1" strike="noStrike">
              <a:solidFill>
                <a:srgbClr val="000000"/>
              </a:solidFill>
              <a:latin typeface="Arial"/>
            </a:endParaRPr>
          </a:p>
        </p:txBody>
      </p:sp>
      <p:sp>
        <p:nvSpPr>
          <p:cNvPr id="115" name="TextBox 26"/>
          <p:cNvSpPr/>
          <p:nvPr/>
        </p:nvSpPr>
        <p:spPr>
          <a:xfrm>
            <a:off x="854964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0.68</a:t>
            </a:r>
            <a:endParaRPr b="0" lang="en-US" sz="1300" spc="-1" strike="noStrike">
              <a:solidFill>
                <a:srgbClr val="000000"/>
              </a:solidFill>
              <a:latin typeface="Arial"/>
            </a:endParaRPr>
          </a:p>
        </p:txBody>
      </p:sp>
      <p:sp>
        <p:nvSpPr>
          <p:cNvPr id="116" name="TextBox 27"/>
          <p:cNvSpPr/>
          <p:nvPr/>
        </p:nvSpPr>
        <p:spPr>
          <a:xfrm>
            <a:off x="978408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0.76</a:t>
            </a:r>
            <a:endParaRPr b="0" lang="en-US" sz="1300" spc="-1" strike="noStrike">
              <a:solidFill>
                <a:srgbClr val="000000"/>
              </a:solidFill>
              <a:latin typeface="Arial"/>
            </a:endParaRPr>
          </a:p>
        </p:txBody>
      </p:sp>
      <p:sp>
        <p:nvSpPr>
          <p:cNvPr id="117" name="Rectangle 28"/>
          <p:cNvSpPr/>
          <p:nvPr/>
        </p:nvSpPr>
        <p:spPr>
          <a:xfrm>
            <a:off x="5943600" y="3776400"/>
            <a:ext cx="5942880" cy="3834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8" name="TextBox 29"/>
          <p:cNvSpPr/>
          <p:nvPr/>
        </p:nvSpPr>
        <p:spPr>
          <a:xfrm>
            <a:off x="603504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Positive</a:t>
            </a:r>
            <a:endParaRPr b="0" lang="en-US" sz="1300" spc="-1" strike="noStrike">
              <a:solidFill>
                <a:srgbClr val="000000"/>
              </a:solidFill>
              <a:latin typeface="Arial"/>
            </a:endParaRPr>
          </a:p>
        </p:txBody>
      </p:sp>
      <p:sp>
        <p:nvSpPr>
          <p:cNvPr id="119" name="TextBox 30"/>
          <p:cNvSpPr/>
          <p:nvPr/>
        </p:nvSpPr>
        <p:spPr>
          <a:xfrm>
            <a:off x="731520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0.72</a:t>
            </a:r>
            <a:endParaRPr b="0" lang="en-US" sz="1300" spc="-1" strike="noStrike">
              <a:solidFill>
                <a:srgbClr val="000000"/>
              </a:solidFill>
              <a:latin typeface="Arial"/>
            </a:endParaRPr>
          </a:p>
        </p:txBody>
      </p:sp>
      <p:sp>
        <p:nvSpPr>
          <p:cNvPr id="120" name="TextBox 31"/>
          <p:cNvSpPr/>
          <p:nvPr/>
        </p:nvSpPr>
        <p:spPr>
          <a:xfrm>
            <a:off x="854964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0.71</a:t>
            </a:r>
            <a:endParaRPr b="0" lang="en-US" sz="1300" spc="-1" strike="noStrike">
              <a:solidFill>
                <a:srgbClr val="000000"/>
              </a:solidFill>
              <a:latin typeface="Arial"/>
            </a:endParaRPr>
          </a:p>
        </p:txBody>
      </p:sp>
      <p:sp>
        <p:nvSpPr>
          <p:cNvPr id="121" name="TextBox 32"/>
          <p:cNvSpPr/>
          <p:nvPr/>
        </p:nvSpPr>
        <p:spPr>
          <a:xfrm>
            <a:off x="978408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0.71</a:t>
            </a:r>
            <a:endParaRPr b="0" lang="en-US" sz="1300" spc="-1" strike="noStrike">
              <a:solidFill>
                <a:srgbClr val="000000"/>
              </a:solidFill>
              <a:latin typeface="Arial"/>
            </a:endParaRPr>
          </a:p>
        </p:txBody>
      </p:sp>
      <p:sp>
        <p:nvSpPr>
          <p:cNvPr id="122" name="Rectangle 33"/>
          <p:cNvSpPr/>
          <p:nvPr/>
        </p:nvSpPr>
        <p:spPr>
          <a:xfrm>
            <a:off x="5943600" y="4178880"/>
            <a:ext cx="5942880" cy="3834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3" name="TextBox 34"/>
          <p:cNvSpPr/>
          <p:nvPr/>
        </p:nvSpPr>
        <p:spPr>
          <a:xfrm>
            <a:off x="603504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Neutral</a:t>
            </a:r>
            <a:endParaRPr b="0" lang="en-US" sz="1300" spc="-1" strike="noStrike">
              <a:solidFill>
                <a:srgbClr val="000000"/>
              </a:solidFill>
              <a:latin typeface="Arial"/>
            </a:endParaRPr>
          </a:p>
        </p:txBody>
      </p:sp>
      <p:sp>
        <p:nvSpPr>
          <p:cNvPr id="124" name="TextBox 35"/>
          <p:cNvSpPr/>
          <p:nvPr/>
        </p:nvSpPr>
        <p:spPr>
          <a:xfrm>
            <a:off x="731520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0.39</a:t>
            </a:r>
            <a:endParaRPr b="0" lang="en-US" sz="1300" spc="-1" strike="noStrike">
              <a:solidFill>
                <a:srgbClr val="000000"/>
              </a:solidFill>
              <a:latin typeface="Arial"/>
            </a:endParaRPr>
          </a:p>
        </p:txBody>
      </p:sp>
      <p:sp>
        <p:nvSpPr>
          <p:cNvPr id="125" name="TextBox 36"/>
          <p:cNvSpPr/>
          <p:nvPr/>
        </p:nvSpPr>
        <p:spPr>
          <a:xfrm>
            <a:off x="854964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0.62</a:t>
            </a:r>
            <a:endParaRPr b="0" lang="en-US" sz="1300" spc="-1" strike="noStrike">
              <a:solidFill>
                <a:srgbClr val="000000"/>
              </a:solidFill>
              <a:latin typeface="Arial"/>
            </a:endParaRPr>
          </a:p>
        </p:txBody>
      </p:sp>
      <p:sp>
        <p:nvSpPr>
          <p:cNvPr id="126" name="TextBox 37"/>
          <p:cNvSpPr/>
          <p:nvPr/>
        </p:nvSpPr>
        <p:spPr>
          <a:xfrm>
            <a:off x="978408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0.48</a:t>
            </a:r>
            <a:endParaRPr b="0" lang="en-US" sz="1300" spc="-1" strike="noStrike">
              <a:solidFill>
                <a:srgbClr val="000000"/>
              </a:solidFill>
              <a:latin typeface="Arial"/>
            </a:endParaRPr>
          </a:p>
        </p:txBody>
      </p:sp>
      <p:sp>
        <p:nvSpPr>
          <p:cNvPr id="127" name="TextBox 38"/>
          <p:cNvSpPr/>
          <p:nvPr/>
        </p:nvSpPr>
        <p:spPr>
          <a:xfrm>
            <a:off x="274320" y="3703320"/>
            <a:ext cx="1161216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i="1" lang="en-US" sz="1300" spc="-1" strike="noStrike">
                <a:solidFill>
                  <a:srgbClr val="c55a11"/>
                </a:solidFill>
                <a:latin typeface="Calibri"/>
              </a:rPr>
              <a:t>⚠  </a:t>
            </a:r>
            <a:r>
              <a:rPr b="0" i="1" lang="en-US" sz="1300" spc="-1" strike="noStrike">
                <a:solidFill>
                  <a:srgbClr val="c55a11"/>
                </a:solidFill>
                <a:latin typeface="Calibri"/>
              </a:rPr>
              <a:t>Neutral precision 0.39  model struggles to identify neutral speech</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9"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Audio Classification - Wav2Vec2</a:t>
            </a:r>
            <a:endParaRPr b="0" lang="en-US" sz="3000" spc="-1" strike="noStrike">
              <a:solidFill>
                <a:srgbClr val="000000"/>
              </a:solidFill>
              <a:latin typeface="Arial"/>
            </a:endParaRPr>
          </a:p>
        </p:txBody>
      </p:sp>
      <p:sp>
        <p:nvSpPr>
          <p:cNvPr id="130" name="Rectangle 3"/>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 name="Rectangle 4"/>
          <p:cNvSpPr/>
          <p:nvPr/>
        </p:nvSpPr>
        <p:spPr>
          <a:xfrm>
            <a:off x="274320" y="1417320"/>
            <a:ext cx="5302800" cy="2102400"/>
          </a:xfrm>
          <a:prstGeom prst="rect">
            <a:avLst/>
          </a:prstGeom>
          <a:solidFill>
            <a:srgbClr val="ffffff"/>
          </a:solidFill>
          <a:ln w="12700">
            <a:solidFill>
              <a:srgbClr val="37865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2" name="TextBox 5"/>
          <p:cNvSpPr/>
          <p:nvPr/>
        </p:nvSpPr>
        <p:spPr>
          <a:xfrm>
            <a:off x="411480" y="1463040"/>
            <a:ext cx="50284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37865f"/>
                </a:solidFill>
                <a:latin typeface="Calibri"/>
              </a:rPr>
              <a:t>What is Wav2Vec2?</a:t>
            </a:r>
            <a:endParaRPr b="0" lang="en-US" sz="1400" spc="-1" strike="noStrike">
              <a:solidFill>
                <a:srgbClr val="000000"/>
              </a:solidFill>
              <a:latin typeface="Arial"/>
            </a:endParaRPr>
          </a:p>
        </p:txBody>
      </p:sp>
      <p:sp>
        <p:nvSpPr>
          <p:cNvPr id="133" name="TextBox 6"/>
          <p:cNvSpPr/>
          <p:nvPr/>
        </p:nvSpPr>
        <p:spPr>
          <a:xfrm>
            <a:off x="411480" y="1920240"/>
            <a:ext cx="5074200" cy="1081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Pre-trained on 960 hours of speech learns from raw audio</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No hand-crafted features needed (no MFCCs)</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Frozen conv. encoder + fine-tuned transformer layers</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Input: 4-second waveform at 16kHz (64,000 samples)</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Mean-pool hidden states → classification head</a:t>
            </a:r>
            <a:endParaRPr b="0" lang="en-US" sz="1300" spc="-1" strike="noStrike">
              <a:solidFill>
                <a:srgbClr val="000000"/>
              </a:solidFill>
              <a:latin typeface="Arial"/>
            </a:endParaRPr>
          </a:p>
        </p:txBody>
      </p:sp>
      <p:sp>
        <p:nvSpPr>
          <p:cNvPr id="134" name="Rectangle 7"/>
          <p:cNvSpPr/>
          <p:nvPr/>
        </p:nvSpPr>
        <p:spPr>
          <a:xfrm>
            <a:off x="5943600" y="1417320"/>
            <a:ext cx="5942880" cy="2102400"/>
          </a:xfrm>
          <a:prstGeom prst="rect">
            <a:avLst/>
          </a:prstGeom>
          <a:solidFill>
            <a:srgbClr val="ffffff"/>
          </a:solidFill>
          <a:ln w="12700">
            <a:solidFill>
              <a:srgbClr val="37865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 name="TextBox 8"/>
          <p:cNvSpPr/>
          <p:nvPr/>
        </p:nvSpPr>
        <p:spPr>
          <a:xfrm>
            <a:off x="6080760" y="1463040"/>
            <a:ext cx="56685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37865f"/>
                </a:solidFill>
                <a:latin typeface="Calibri"/>
              </a:rPr>
              <a:t>Test Results - Session 5</a:t>
            </a:r>
            <a:endParaRPr b="0" lang="en-US" sz="1400" spc="-1" strike="noStrike">
              <a:solidFill>
                <a:srgbClr val="000000"/>
              </a:solidFill>
              <a:latin typeface="Arial"/>
            </a:endParaRPr>
          </a:p>
        </p:txBody>
      </p:sp>
      <p:sp>
        <p:nvSpPr>
          <p:cNvPr id="136" name="Rectangle 9"/>
          <p:cNvSpPr/>
          <p:nvPr/>
        </p:nvSpPr>
        <p:spPr>
          <a:xfrm>
            <a:off x="6080760" y="1920240"/>
            <a:ext cx="1736640" cy="685080"/>
          </a:xfrm>
          <a:prstGeom prst="rect">
            <a:avLst/>
          </a:prstGeom>
          <a:solidFill>
            <a:srgbClr val="378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7" name="TextBox 10"/>
          <p:cNvSpPr/>
          <p:nvPr/>
        </p:nvSpPr>
        <p:spPr>
          <a:xfrm>
            <a:off x="6126480" y="1947600"/>
            <a:ext cx="1645200" cy="394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000" spc="-1" strike="noStrike">
                <a:solidFill>
                  <a:srgbClr val="ffffff"/>
                </a:solidFill>
                <a:latin typeface="Calibri"/>
              </a:rPr>
              <a:t>67.8%</a:t>
            </a:r>
            <a:endParaRPr b="0" lang="en-US" sz="2000" spc="-1" strike="noStrike">
              <a:solidFill>
                <a:srgbClr val="000000"/>
              </a:solidFill>
              <a:latin typeface="Arial"/>
            </a:endParaRPr>
          </a:p>
        </p:txBody>
      </p:sp>
      <p:sp>
        <p:nvSpPr>
          <p:cNvPr id="138" name="TextBox 11"/>
          <p:cNvSpPr/>
          <p:nvPr/>
        </p:nvSpPr>
        <p:spPr>
          <a:xfrm>
            <a:off x="6126480" y="2331720"/>
            <a:ext cx="16452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ffffff"/>
                </a:solidFill>
                <a:latin typeface="Calibri"/>
              </a:rPr>
              <a:t>Accuracy</a:t>
            </a:r>
            <a:endParaRPr b="0" lang="en-US" sz="1000" spc="-1" strike="noStrike">
              <a:solidFill>
                <a:srgbClr val="000000"/>
              </a:solidFill>
              <a:latin typeface="Arial"/>
            </a:endParaRPr>
          </a:p>
        </p:txBody>
      </p:sp>
      <p:sp>
        <p:nvSpPr>
          <p:cNvPr id="139" name="Rectangle 12"/>
          <p:cNvSpPr/>
          <p:nvPr/>
        </p:nvSpPr>
        <p:spPr>
          <a:xfrm>
            <a:off x="8001000" y="1920240"/>
            <a:ext cx="1736640" cy="685080"/>
          </a:xfrm>
          <a:prstGeom prst="rect">
            <a:avLst/>
          </a:prstGeom>
          <a:solidFill>
            <a:srgbClr val="1d5c4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0" name="TextBox 13"/>
          <p:cNvSpPr/>
          <p:nvPr/>
        </p:nvSpPr>
        <p:spPr>
          <a:xfrm>
            <a:off x="8046720" y="1947600"/>
            <a:ext cx="1645200" cy="394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000" spc="-1" strike="noStrike">
                <a:solidFill>
                  <a:srgbClr val="ffffff"/>
                </a:solidFill>
                <a:latin typeface="Calibri"/>
              </a:rPr>
              <a:t>0.6324</a:t>
            </a:r>
            <a:endParaRPr b="0" lang="en-US" sz="2000" spc="-1" strike="noStrike">
              <a:solidFill>
                <a:srgbClr val="000000"/>
              </a:solidFill>
              <a:latin typeface="Arial"/>
            </a:endParaRPr>
          </a:p>
        </p:txBody>
      </p:sp>
      <p:sp>
        <p:nvSpPr>
          <p:cNvPr id="141" name="TextBox 14"/>
          <p:cNvSpPr/>
          <p:nvPr/>
        </p:nvSpPr>
        <p:spPr>
          <a:xfrm>
            <a:off x="8046720" y="2331720"/>
            <a:ext cx="16452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ffffff"/>
                </a:solidFill>
                <a:latin typeface="Calibri"/>
              </a:rPr>
              <a:t>Macro F1</a:t>
            </a:r>
            <a:endParaRPr b="0" lang="en-US" sz="1000" spc="-1" strike="noStrike">
              <a:solidFill>
                <a:srgbClr val="000000"/>
              </a:solidFill>
              <a:latin typeface="Arial"/>
            </a:endParaRPr>
          </a:p>
        </p:txBody>
      </p:sp>
      <p:sp>
        <p:nvSpPr>
          <p:cNvPr id="142" name="Rectangle 15"/>
          <p:cNvSpPr/>
          <p:nvPr/>
        </p:nvSpPr>
        <p:spPr>
          <a:xfrm>
            <a:off x="9921240" y="1920240"/>
            <a:ext cx="1736640" cy="685080"/>
          </a:xfrm>
          <a:prstGeom prst="rect">
            <a:avLst/>
          </a:prstGeom>
          <a:solidFill>
            <a:srgbClr val="55555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3" name="TextBox 16"/>
          <p:cNvSpPr/>
          <p:nvPr/>
        </p:nvSpPr>
        <p:spPr>
          <a:xfrm>
            <a:off x="9966960" y="1947600"/>
            <a:ext cx="1645200" cy="394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000" spc="-1" strike="noStrike">
                <a:solidFill>
                  <a:srgbClr val="ffffff"/>
                </a:solidFill>
                <a:latin typeface="Calibri"/>
              </a:rPr>
              <a:t>0.6799</a:t>
            </a:r>
            <a:endParaRPr b="0" lang="en-US" sz="2000" spc="-1" strike="noStrike">
              <a:solidFill>
                <a:srgbClr val="000000"/>
              </a:solidFill>
              <a:latin typeface="Arial"/>
            </a:endParaRPr>
          </a:p>
        </p:txBody>
      </p:sp>
      <p:sp>
        <p:nvSpPr>
          <p:cNvPr id="144" name="TextBox 17"/>
          <p:cNvSpPr/>
          <p:nvPr/>
        </p:nvSpPr>
        <p:spPr>
          <a:xfrm>
            <a:off x="9966960" y="2331720"/>
            <a:ext cx="16452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ffffff"/>
                </a:solidFill>
                <a:latin typeface="Calibri"/>
              </a:rPr>
              <a:t>Weighted F1</a:t>
            </a:r>
            <a:endParaRPr b="0" lang="en-US" sz="1000" spc="-1" strike="noStrike">
              <a:solidFill>
                <a:srgbClr val="000000"/>
              </a:solidFill>
              <a:latin typeface="Arial"/>
            </a:endParaRPr>
          </a:p>
        </p:txBody>
      </p:sp>
      <p:sp>
        <p:nvSpPr>
          <p:cNvPr id="145" name="Rectangle 18"/>
          <p:cNvSpPr/>
          <p:nvPr/>
        </p:nvSpPr>
        <p:spPr>
          <a:xfrm>
            <a:off x="5943600" y="2971800"/>
            <a:ext cx="5942880" cy="383400"/>
          </a:xfrm>
          <a:prstGeom prst="rect">
            <a:avLst/>
          </a:prstGeom>
          <a:solidFill>
            <a:srgbClr val="1d5c4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6" name="TextBox 19"/>
          <p:cNvSpPr/>
          <p:nvPr/>
        </p:nvSpPr>
        <p:spPr>
          <a:xfrm>
            <a:off x="603504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Class</a:t>
            </a:r>
            <a:endParaRPr b="0" lang="en-US" sz="1300" spc="-1" strike="noStrike">
              <a:solidFill>
                <a:srgbClr val="000000"/>
              </a:solidFill>
              <a:latin typeface="Arial"/>
            </a:endParaRPr>
          </a:p>
        </p:txBody>
      </p:sp>
      <p:sp>
        <p:nvSpPr>
          <p:cNvPr id="147" name="TextBox 20"/>
          <p:cNvSpPr/>
          <p:nvPr/>
        </p:nvSpPr>
        <p:spPr>
          <a:xfrm>
            <a:off x="731520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Precision</a:t>
            </a:r>
            <a:endParaRPr b="0" lang="en-US" sz="1300" spc="-1" strike="noStrike">
              <a:solidFill>
                <a:srgbClr val="000000"/>
              </a:solidFill>
              <a:latin typeface="Arial"/>
            </a:endParaRPr>
          </a:p>
        </p:txBody>
      </p:sp>
      <p:sp>
        <p:nvSpPr>
          <p:cNvPr id="148" name="TextBox 21"/>
          <p:cNvSpPr/>
          <p:nvPr/>
        </p:nvSpPr>
        <p:spPr>
          <a:xfrm>
            <a:off x="854964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Recall</a:t>
            </a:r>
            <a:endParaRPr b="0" lang="en-US" sz="1300" spc="-1" strike="noStrike">
              <a:solidFill>
                <a:srgbClr val="000000"/>
              </a:solidFill>
              <a:latin typeface="Arial"/>
            </a:endParaRPr>
          </a:p>
        </p:txBody>
      </p:sp>
      <p:sp>
        <p:nvSpPr>
          <p:cNvPr id="149" name="TextBox 22"/>
          <p:cNvSpPr/>
          <p:nvPr/>
        </p:nvSpPr>
        <p:spPr>
          <a:xfrm>
            <a:off x="9784080" y="30175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00" spc="-1" strike="noStrike">
                <a:solidFill>
                  <a:srgbClr val="ffffff"/>
                </a:solidFill>
                <a:latin typeface="Calibri"/>
              </a:rPr>
              <a:t>F1</a:t>
            </a:r>
            <a:endParaRPr b="0" lang="en-US" sz="1300" spc="-1" strike="noStrike">
              <a:solidFill>
                <a:srgbClr val="000000"/>
              </a:solidFill>
              <a:latin typeface="Arial"/>
            </a:endParaRPr>
          </a:p>
        </p:txBody>
      </p:sp>
      <p:sp>
        <p:nvSpPr>
          <p:cNvPr id="150" name="Rectangle 23"/>
          <p:cNvSpPr/>
          <p:nvPr/>
        </p:nvSpPr>
        <p:spPr>
          <a:xfrm>
            <a:off x="5943600" y="3374280"/>
            <a:ext cx="5942880" cy="3834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1" name="TextBox 24"/>
          <p:cNvSpPr/>
          <p:nvPr/>
        </p:nvSpPr>
        <p:spPr>
          <a:xfrm>
            <a:off x="603504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Negative</a:t>
            </a:r>
            <a:endParaRPr b="0" lang="en-US" sz="1300" spc="-1" strike="noStrike">
              <a:solidFill>
                <a:srgbClr val="000000"/>
              </a:solidFill>
              <a:latin typeface="Arial"/>
            </a:endParaRPr>
          </a:p>
        </p:txBody>
      </p:sp>
      <p:sp>
        <p:nvSpPr>
          <p:cNvPr id="152" name="TextBox 25"/>
          <p:cNvSpPr/>
          <p:nvPr/>
        </p:nvSpPr>
        <p:spPr>
          <a:xfrm>
            <a:off x="731520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0.76</a:t>
            </a:r>
            <a:endParaRPr b="0" lang="en-US" sz="1300" spc="-1" strike="noStrike">
              <a:solidFill>
                <a:srgbClr val="000000"/>
              </a:solidFill>
              <a:latin typeface="Arial"/>
            </a:endParaRPr>
          </a:p>
        </p:txBody>
      </p:sp>
      <p:sp>
        <p:nvSpPr>
          <p:cNvPr id="153" name="TextBox 26"/>
          <p:cNvSpPr/>
          <p:nvPr/>
        </p:nvSpPr>
        <p:spPr>
          <a:xfrm>
            <a:off x="854964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0.78</a:t>
            </a:r>
            <a:endParaRPr b="0" lang="en-US" sz="1300" spc="-1" strike="noStrike">
              <a:solidFill>
                <a:srgbClr val="000000"/>
              </a:solidFill>
              <a:latin typeface="Arial"/>
            </a:endParaRPr>
          </a:p>
        </p:txBody>
      </p:sp>
      <p:sp>
        <p:nvSpPr>
          <p:cNvPr id="154" name="TextBox 27"/>
          <p:cNvSpPr/>
          <p:nvPr/>
        </p:nvSpPr>
        <p:spPr>
          <a:xfrm>
            <a:off x="9784080" y="34200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0.77</a:t>
            </a:r>
            <a:endParaRPr b="0" lang="en-US" sz="1300" spc="-1" strike="noStrike">
              <a:solidFill>
                <a:srgbClr val="000000"/>
              </a:solidFill>
              <a:latin typeface="Arial"/>
            </a:endParaRPr>
          </a:p>
        </p:txBody>
      </p:sp>
      <p:sp>
        <p:nvSpPr>
          <p:cNvPr id="155" name="Rectangle 28"/>
          <p:cNvSpPr/>
          <p:nvPr/>
        </p:nvSpPr>
        <p:spPr>
          <a:xfrm>
            <a:off x="5943600" y="3776400"/>
            <a:ext cx="5942880" cy="3834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6" name="TextBox 29"/>
          <p:cNvSpPr/>
          <p:nvPr/>
        </p:nvSpPr>
        <p:spPr>
          <a:xfrm>
            <a:off x="603504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Positive</a:t>
            </a:r>
            <a:endParaRPr b="0" lang="en-US" sz="1300" spc="-1" strike="noStrike">
              <a:solidFill>
                <a:srgbClr val="000000"/>
              </a:solidFill>
              <a:latin typeface="Arial"/>
            </a:endParaRPr>
          </a:p>
        </p:txBody>
      </p:sp>
      <p:sp>
        <p:nvSpPr>
          <p:cNvPr id="157" name="TextBox 30"/>
          <p:cNvSpPr/>
          <p:nvPr/>
        </p:nvSpPr>
        <p:spPr>
          <a:xfrm>
            <a:off x="731520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0.72</a:t>
            </a:r>
            <a:endParaRPr b="0" lang="en-US" sz="1300" spc="-1" strike="noStrike">
              <a:solidFill>
                <a:srgbClr val="000000"/>
              </a:solidFill>
              <a:latin typeface="Arial"/>
            </a:endParaRPr>
          </a:p>
        </p:txBody>
      </p:sp>
      <p:sp>
        <p:nvSpPr>
          <p:cNvPr id="158" name="TextBox 31"/>
          <p:cNvSpPr/>
          <p:nvPr/>
        </p:nvSpPr>
        <p:spPr>
          <a:xfrm>
            <a:off x="854964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0.56</a:t>
            </a:r>
            <a:endParaRPr b="0" lang="en-US" sz="1300" spc="-1" strike="noStrike">
              <a:solidFill>
                <a:srgbClr val="000000"/>
              </a:solidFill>
              <a:latin typeface="Arial"/>
            </a:endParaRPr>
          </a:p>
        </p:txBody>
      </p:sp>
      <p:sp>
        <p:nvSpPr>
          <p:cNvPr id="159" name="TextBox 32"/>
          <p:cNvSpPr/>
          <p:nvPr/>
        </p:nvSpPr>
        <p:spPr>
          <a:xfrm>
            <a:off x="9784080" y="382212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0.63</a:t>
            </a:r>
            <a:endParaRPr b="0" lang="en-US" sz="1300" spc="-1" strike="noStrike">
              <a:solidFill>
                <a:srgbClr val="000000"/>
              </a:solidFill>
              <a:latin typeface="Arial"/>
            </a:endParaRPr>
          </a:p>
        </p:txBody>
      </p:sp>
      <p:sp>
        <p:nvSpPr>
          <p:cNvPr id="160" name="Rectangle 33"/>
          <p:cNvSpPr/>
          <p:nvPr/>
        </p:nvSpPr>
        <p:spPr>
          <a:xfrm>
            <a:off x="5943600" y="4178880"/>
            <a:ext cx="5942880" cy="3834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1" name="TextBox 34"/>
          <p:cNvSpPr/>
          <p:nvPr/>
        </p:nvSpPr>
        <p:spPr>
          <a:xfrm>
            <a:off x="603504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Neutral</a:t>
            </a:r>
            <a:endParaRPr b="0" lang="en-US" sz="1300" spc="-1" strike="noStrike">
              <a:solidFill>
                <a:srgbClr val="000000"/>
              </a:solidFill>
              <a:latin typeface="Arial"/>
            </a:endParaRPr>
          </a:p>
        </p:txBody>
      </p:sp>
      <p:sp>
        <p:nvSpPr>
          <p:cNvPr id="162" name="TextBox 35"/>
          <p:cNvSpPr/>
          <p:nvPr/>
        </p:nvSpPr>
        <p:spPr>
          <a:xfrm>
            <a:off x="731520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0.45</a:t>
            </a:r>
            <a:endParaRPr b="0" lang="en-US" sz="1300" spc="-1" strike="noStrike">
              <a:solidFill>
                <a:srgbClr val="000000"/>
              </a:solidFill>
              <a:latin typeface="Arial"/>
            </a:endParaRPr>
          </a:p>
        </p:txBody>
      </p:sp>
      <p:sp>
        <p:nvSpPr>
          <p:cNvPr id="163" name="TextBox 36"/>
          <p:cNvSpPr/>
          <p:nvPr/>
        </p:nvSpPr>
        <p:spPr>
          <a:xfrm>
            <a:off x="854964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0.55</a:t>
            </a:r>
            <a:endParaRPr b="0" lang="en-US" sz="1300" spc="-1" strike="noStrike">
              <a:solidFill>
                <a:srgbClr val="000000"/>
              </a:solidFill>
              <a:latin typeface="Arial"/>
            </a:endParaRPr>
          </a:p>
        </p:txBody>
      </p:sp>
      <p:sp>
        <p:nvSpPr>
          <p:cNvPr id="164" name="TextBox 37"/>
          <p:cNvSpPr/>
          <p:nvPr/>
        </p:nvSpPr>
        <p:spPr>
          <a:xfrm>
            <a:off x="9784080" y="4224600"/>
            <a:ext cx="1188000" cy="2880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300" spc="-1" strike="noStrike">
                <a:solidFill>
                  <a:srgbClr val="1a1a1a"/>
                </a:solidFill>
                <a:latin typeface="Calibri"/>
              </a:rPr>
              <a:t>0.49</a:t>
            </a:r>
            <a:endParaRPr b="0" lang="en-US" sz="1300" spc="-1" strike="noStrike">
              <a:solidFill>
                <a:srgbClr val="000000"/>
              </a:solidFill>
              <a:latin typeface="Arial"/>
            </a:endParaRPr>
          </a:p>
        </p:txBody>
      </p:sp>
      <p:sp>
        <p:nvSpPr>
          <p:cNvPr id="165" name="Rectangle 38"/>
          <p:cNvSpPr/>
          <p:nvPr/>
        </p:nvSpPr>
        <p:spPr>
          <a:xfrm>
            <a:off x="274680" y="4938120"/>
            <a:ext cx="11612160" cy="776520"/>
          </a:xfrm>
          <a:prstGeom prst="rect">
            <a:avLst/>
          </a:prstGeom>
          <a:solidFill>
            <a:srgbClr val="ffffff"/>
          </a:solidFill>
          <a:ln w="10160">
            <a:solidFill>
              <a:srgbClr val="5555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 name="TextBox 39"/>
          <p:cNvSpPr/>
          <p:nvPr/>
        </p:nvSpPr>
        <p:spPr>
          <a:xfrm>
            <a:off x="457200" y="5000040"/>
            <a:ext cx="11246400" cy="4863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300" spc="-1" strike="noStrike">
                <a:solidFill>
                  <a:srgbClr val="1a1a1a"/>
                </a:solidFill>
                <a:latin typeface="Calibri"/>
              </a:rPr>
              <a:t>Text vs. Audio:  both score ~0.63–0.65 Macro F1 - similar overall, but they fail on different examples.</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Text is better at high-arousal negative speech; audio is better when tone says more than words.</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Late Fusion</a:t>
            </a:r>
            <a:endParaRPr b="0" lang="en-US" sz="3000" spc="-1" strike="noStrike">
              <a:solidFill>
                <a:srgbClr val="000000"/>
              </a:solidFill>
              <a:latin typeface="Arial"/>
            </a:endParaRPr>
          </a:p>
        </p:txBody>
      </p:sp>
      <p:sp>
        <p:nvSpPr>
          <p:cNvPr id="169" name="TextBox 3"/>
          <p:cNvSpPr/>
          <p:nvPr/>
        </p:nvSpPr>
        <p:spPr>
          <a:xfrm>
            <a:off x="411480" y="749880"/>
            <a:ext cx="113680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bbccee"/>
                </a:solidFill>
                <a:latin typeface="Calibri"/>
              </a:rPr>
              <a:t>Combining text + audio outputs - no extra training needed</a:t>
            </a:r>
            <a:endParaRPr b="0" lang="en-US" sz="1300" spc="-1" strike="noStrike">
              <a:solidFill>
                <a:srgbClr val="000000"/>
              </a:solidFill>
              <a:latin typeface="Arial"/>
            </a:endParaRPr>
          </a:p>
        </p:txBody>
      </p:sp>
      <p:sp>
        <p:nvSpPr>
          <p:cNvPr id="170" name="Rectangle 4"/>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 name="Rectangle 5"/>
          <p:cNvSpPr/>
          <p:nvPr/>
        </p:nvSpPr>
        <p:spPr>
          <a:xfrm>
            <a:off x="274320" y="1463040"/>
            <a:ext cx="7497360" cy="1050840"/>
          </a:xfrm>
          <a:prstGeom prst="rect">
            <a:avLst/>
          </a:prstGeom>
          <a:solidFill>
            <a:srgbClr val="ffffff"/>
          </a:solidFill>
          <a:ln w="12700">
            <a:solidFill>
              <a:srgbClr val="7b49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2" name="TextBox 6"/>
          <p:cNvSpPr/>
          <p:nvPr/>
        </p:nvSpPr>
        <p:spPr>
          <a:xfrm>
            <a:off x="457200" y="1508760"/>
            <a:ext cx="27424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300" spc="-1" strike="noStrike">
                <a:solidFill>
                  <a:srgbClr val="7b49a8"/>
                </a:solidFill>
                <a:latin typeface="Calibri"/>
              </a:rPr>
              <a:t>How it works:</a:t>
            </a:r>
            <a:endParaRPr b="0" lang="en-US" sz="1300" spc="-1" strike="noStrike">
              <a:solidFill>
                <a:srgbClr val="000000"/>
              </a:solidFill>
              <a:latin typeface="Arial"/>
            </a:endParaRPr>
          </a:p>
        </p:txBody>
      </p:sp>
      <p:sp>
        <p:nvSpPr>
          <p:cNvPr id="173" name="TextBox 7"/>
          <p:cNvSpPr/>
          <p:nvPr/>
        </p:nvSpPr>
        <p:spPr>
          <a:xfrm>
            <a:off x="457200" y="1828800"/>
            <a:ext cx="7131600" cy="3639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800" spc="-1" strike="noStrike">
                <a:solidFill>
                  <a:srgbClr val="1a1a1a"/>
                </a:solidFill>
                <a:latin typeface="Calibri"/>
              </a:rPr>
              <a:t>ŷ_fused  =  0.65 × ŷ_text  +  0.35 × ŷ_audio</a:t>
            </a:r>
            <a:endParaRPr b="0" lang="en-US" sz="1800" spc="-1" strike="noStrike">
              <a:solidFill>
                <a:srgbClr val="000000"/>
              </a:solidFill>
              <a:latin typeface="Arial"/>
            </a:endParaRPr>
          </a:p>
        </p:txBody>
      </p:sp>
      <p:sp>
        <p:nvSpPr>
          <p:cNvPr id="174" name="TextBox 8"/>
          <p:cNvSpPr/>
          <p:nvPr/>
        </p:nvSpPr>
        <p:spPr>
          <a:xfrm>
            <a:off x="457200" y="2606040"/>
            <a:ext cx="7131600" cy="943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400" spc="-1" strike="noStrike">
                <a:solidFill>
                  <a:srgbClr val="1a1a1a"/>
                </a:solidFill>
                <a:latin typeface="Calibri"/>
              </a:rPr>
              <a:t>Weighted sum of the output logits (raw scores) from both models</a:t>
            </a:r>
            <a:endParaRPr b="0" lang="en-US" sz="1400" spc="-1" strike="noStrike">
              <a:solidFill>
                <a:srgbClr val="000000"/>
              </a:solidFill>
              <a:latin typeface="Arial"/>
            </a:endParaRPr>
          </a:p>
          <a:p>
            <a:pPr defTabSz="457200">
              <a:lnSpc>
                <a:spcPct val="100000"/>
              </a:lnSpc>
            </a:pPr>
            <a:r>
              <a:rPr b="0" lang="en-US" sz="1400" spc="-1" strike="noStrike">
                <a:solidFill>
                  <a:srgbClr val="1a1a1a"/>
                </a:solidFill>
                <a:latin typeface="Calibri"/>
              </a:rPr>
              <a:t>Weights reflect text model's slightly higher validation performance</a:t>
            </a:r>
            <a:endParaRPr b="0" lang="en-US" sz="1400" spc="-1" strike="noStrike">
              <a:solidFill>
                <a:srgbClr val="000000"/>
              </a:solidFill>
              <a:latin typeface="Arial"/>
            </a:endParaRPr>
          </a:p>
          <a:p>
            <a:pPr defTabSz="457200">
              <a:lnSpc>
                <a:spcPct val="100000"/>
              </a:lnSpc>
            </a:pPr>
            <a:r>
              <a:rPr b="0" lang="en-US" sz="1400" spc="-1" strike="noStrike">
                <a:solidFill>
                  <a:srgbClr val="1a1a1a"/>
                </a:solidFill>
                <a:latin typeface="Calibri"/>
              </a:rPr>
              <a:t>No new training uses the already-trained checkpoints</a:t>
            </a:r>
            <a:endParaRPr b="0" lang="en-US" sz="1400" spc="-1" strike="noStrike">
              <a:solidFill>
                <a:srgbClr val="000000"/>
              </a:solidFill>
              <a:latin typeface="Arial"/>
            </a:endParaRPr>
          </a:p>
          <a:p>
            <a:pPr defTabSz="457200">
              <a:lnSpc>
                <a:spcPct val="100000"/>
              </a:lnSpc>
            </a:pPr>
            <a:r>
              <a:rPr b="0" lang="en-US" sz="1400" spc="-1" strike="noStrike">
                <a:solidFill>
                  <a:srgbClr val="1a1a1a"/>
                </a:solidFill>
                <a:latin typeface="Calibri"/>
              </a:rPr>
              <a:t>Simple, interpretable, and surprisingly powerful</a:t>
            </a:r>
            <a:endParaRPr b="0" lang="en-US" sz="1400" spc="-1" strike="noStrike">
              <a:solidFill>
                <a:srgbClr val="000000"/>
              </a:solidFill>
              <a:latin typeface="Arial"/>
            </a:endParaRPr>
          </a:p>
        </p:txBody>
      </p:sp>
      <p:sp>
        <p:nvSpPr>
          <p:cNvPr id="175" name="Rectangle 9"/>
          <p:cNvSpPr/>
          <p:nvPr/>
        </p:nvSpPr>
        <p:spPr>
          <a:xfrm>
            <a:off x="8092440" y="1463040"/>
            <a:ext cx="3794040" cy="2513880"/>
          </a:xfrm>
          <a:prstGeom prst="rect">
            <a:avLst/>
          </a:prstGeom>
          <a:solidFill>
            <a:srgbClr val="7b49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6" name="TextBox 10"/>
          <p:cNvSpPr/>
          <p:nvPr/>
        </p:nvSpPr>
        <p:spPr>
          <a:xfrm>
            <a:off x="8183880" y="1554480"/>
            <a:ext cx="3565440" cy="3182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500" spc="-1" strike="noStrike">
                <a:solidFill>
                  <a:srgbClr val="ffffff"/>
                </a:solidFill>
                <a:latin typeface="Calibri"/>
              </a:rPr>
              <a:t>Macro F1</a:t>
            </a:r>
            <a:endParaRPr b="0" lang="en-US" sz="1500" spc="-1" strike="noStrike">
              <a:solidFill>
                <a:srgbClr val="000000"/>
              </a:solidFill>
              <a:latin typeface="Arial"/>
            </a:endParaRPr>
          </a:p>
        </p:txBody>
      </p:sp>
      <p:sp>
        <p:nvSpPr>
          <p:cNvPr id="177" name="TextBox 11"/>
          <p:cNvSpPr/>
          <p:nvPr/>
        </p:nvSpPr>
        <p:spPr>
          <a:xfrm>
            <a:off x="8183880" y="1920240"/>
            <a:ext cx="3565440" cy="790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600" spc="-1" strike="noStrike">
                <a:solidFill>
                  <a:srgbClr val="ffffff"/>
                </a:solidFill>
                <a:latin typeface="Calibri"/>
              </a:rPr>
              <a:t>0.8173</a:t>
            </a:r>
            <a:endParaRPr b="0" lang="en-US" sz="4600" spc="-1" strike="noStrike">
              <a:solidFill>
                <a:srgbClr val="000000"/>
              </a:solidFill>
              <a:latin typeface="Arial"/>
            </a:endParaRPr>
          </a:p>
        </p:txBody>
      </p:sp>
      <p:sp>
        <p:nvSpPr>
          <p:cNvPr id="178" name="TextBox 12"/>
          <p:cNvSpPr/>
          <p:nvPr/>
        </p:nvSpPr>
        <p:spPr>
          <a:xfrm>
            <a:off x="8183880" y="2743200"/>
            <a:ext cx="356544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400" spc="-1" strike="noStrike">
                <a:solidFill>
                  <a:srgbClr val="ddccff"/>
                </a:solidFill>
                <a:latin typeface="Calibri"/>
              </a:rPr>
              <a:t>+0.17 over text-only</a:t>
            </a:r>
            <a:endParaRPr b="0" lang="en-US" sz="1400" spc="-1" strike="noStrike">
              <a:solidFill>
                <a:srgbClr val="000000"/>
              </a:solidFill>
              <a:latin typeface="Arial"/>
            </a:endParaRPr>
          </a:p>
          <a:p>
            <a:pPr algn="ctr" defTabSz="457200">
              <a:lnSpc>
                <a:spcPct val="100000"/>
              </a:lnSpc>
            </a:pPr>
            <a:r>
              <a:rPr b="0" lang="en-US" sz="1400" spc="-1" strike="noStrike">
                <a:solidFill>
                  <a:srgbClr val="ddccff"/>
                </a:solidFill>
                <a:latin typeface="Calibri"/>
              </a:rPr>
              <a:t>+0.19 over audio-only</a:t>
            </a:r>
            <a:endParaRPr b="0" lang="en-US" sz="1400" spc="-1" strike="noStrike">
              <a:solidFill>
                <a:srgbClr val="000000"/>
              </a:solidFill>
              <a:latin typeface="Arial"/>
            </a:endParaRPr>
          </a:p>
        </p:txBody>
      </p:sp>
      <p:sp>
        <p:nvSpPr>
          <p:cNvPr id="179" name="Rectangle 13"/>
          <p:cNvSpPr/>
          <p:nvPr/>
        </p:nvSpPr>
        <p:spPr>
          <a:xfrm>
            <a:off x="274320" y="4114800"/>
            <a:ext cx="11612160" cy="1782360"/>
          </a:xfrm>
          <a:prstGeom prst="rect">
            <a:avLst/>
          </a:prstGeom>
          <a:solidFill>
            <a:srgbClr val="ffffff"/>
          </a:solidFill>
          <a:ln w="10160">
            <a:solidFill>
              <a:srgbClr val="7b49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0" name="TextBox 14"/>
          <p:cNvSpPr/>
          <p:nvPr/>
        </p:nvSpPr>
        <p:spPr>
          <a:xfrm>
            <a:off x="457200" y="4160520"/>
            <a:ext cx="109720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300" spc="-1" strike="noStrike">
                <a:solidFill>
                  <a:srgbClr val="7b49a8"/>
                </a:solidFill>
                <a:latin typeface="Calibri"/>
              </a:rPr>
              <a:t>Per-class F1 scores  before and after fusion</a:t>
            </a:r>
            <a:endParaRPr b="0" lang="en-US" sz="1300" spc="-1" strike="noStrike">
              <a:solidFill>
                <a:srgbClr val="000000"/>
              </a:solidFill>
              <a:latin typeface="Arial"/>
            </a:endParaRPr>
          </a:p>
        </p:txBody>
      </p:sp>
      <p:sp>
        <p:nvSpPr>
          <p:cNvPr id="181" name="TextBox 15"/>
          <p:cNvSpPr/>
          <p:nvPr/>
        </p:nvSpPr>
        <p:spPr>
          <a:xfrm>
            <a:off x="457200" y="4526280"/>
            <a:ext cx="22852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Class</a:t>
            </a:r>
            <a:endParaRPr b="0" lang="en-US" sz="1200" spc="-1" strike="noStrike">
              <a:solidFill>
                <a:srgbClr val="000000"/>
              </a:solidFill>
              <a:latin typeface="Arial"/>
            </a:endParaRPr>
          </a:p>
        </p:txBody>
      </p:sp>
      <p:sp>
        <p:nvSpPr>
          <p:cNvPr id="182" name="TextBox 16"/>
          <p:cNvSpPr/>
          <p:nvPr/>
        </p:nvSpPr>
        <p:spPr>
          <a:xfrm>
            <a:off x="2926080" y="4526280"/>
            <a:ext cx="22852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Text only</a:t>
            </a:r>
            <a:endParaRPr b="0" lang="en-US" sz="1200" spc="-1" strike="noStrike">
              <a:solidFill>
                <a:srgbClr val="000000"/>
              </a:solidFill>
              <a:latin typeface="Arial"/>
            </a:endParaRPr>
          </a:p>
        </p:txBody>
      </p:sp>
      <p:sp>
        <p:nvSpPr>
          <p:cNvPr id="183" name="TextBox 17"/>
          <p:cNvSpPr/>
          <p:nvPr/>
        </p:nvSpPr>
        <p:spPr>
          <a:xfrm>
            <a:off x="5394960" y="4526280"/>
            <a:ext cx="22852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Audio only</a:t>
            </a:r>
            <a:endParaRPr b="0" lang="en-US" sz="1200" spc="-1" strike="noStrike">
              <a:solidFill>
                <a:srgbClr val="000000"/>
              </a:solidFill>
              <a:latin typeface="Arial"/>
            </a:endParaRPr>
          </a:p>
        </p:txBody>
      </p:sp>
      <p:sp>
        <p:nvSpPr>
          <p:cNvPr id="184" name="TextBox 18"/>
          <p:cNvSpPr/>
          <p:nvPr/>
        </p:nvSpPr>
        <p:spPr>
          <a:xfrm>
            <a:off x="7863840" y="4526280"/>
            <a:ext cx="22852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Late Fusion</a:t>
            </a:r>
            <a:endParaRPr b="0" lang="en-US" sz="1200" spc="-1" strike="noStrike">
              <a:solidFill>
                <a:srgbClr val="000000"/>
              </a:solidFill>
              <a:latin typeface="Arial"/>
            </a:endParaRPr>
          </a:p>
        </p:txBody>
      </p:sp>
      <p:sp>
        <p:nvSpPr>
          <p:cNvPr id="185" name="TextBox 19"/>
          <p:cNvSpPr/>
          <p:nvPr/>
        </p:nvSpPr>
        <p:spPr>
          <a:xfrm>
            <a:off x="457200" y="489204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Negative</a:t>
            </a:r>
            <a:endParaRPr b="0" lang="en-US" sz="1300" spc="-1" strike="noStrike">
              <a:solidFill>
                <a:srgbClr val="000000"/>
              </a:solidFill>
              <a:latin typeface="Arial"/>
            </a:endParaRPr>
          </a:p>
        </p:txBody>
      </p:sp>
      <p:sp>
        <p:nvSpPr>
          <p:cNvPr id="186" name="TextBox 20"/>
          <p:cNvSpPr/>
          <p:nvPr/>
        </p:nvSpPr>
        <p:spPr>
          <a:xfrm>
            <a:off x="2926080" y="489204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555555"/>
                </a:solidFill>
                <a:latin typeface="Calibri"/>
              </a:rPr>
              <a:t>0.76</a:t>
            </a:r>
            <a:endParaRPr b="0" lang="en-US" sz="1300" spc="-1" strike="noStrike">
              <a:solidFill>
                <a:srgbClr val="000000"/>
              </a:solidFill>
              <a:latin typeface="Arial"/>
            </a:endParaRPr>
          </a:p>
        </p:txBody>
      </p:sp>
      <p:sp>
        <p:nvSpPr>
          <p:cNvPr id="187" name="TextBox 21"/>
          <p:cNvSpPr/>
          <p:nvPr/>
        </p:nvSpPr>
        <p:spPr>
          <a:xfrm>
            <a:off x="5394960" y="489204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555555"/>
                </a:solidFill>
                <a:latin typeface="Calibri"/>
              </a:rPr>
              <a:t>0.77</a:t>
            </a:r>
            <a:endParaRPr b="0" lang="en-US" sz="1300" spc="-1" strike="noStrike">
              <a:solidFill>
                <a:srgbClr val="000000"/>
              </a:solidFill>
              <a:latin typeface="Arial"/>
            </a:endParaRPr>
          </a:p>
        </p:txBody>
      </p:sp>
      <p:sp>
        <p:nvSpPr>
          <p:cNvPr id="188" name="TextBox 22"/>
          <p:cNvSpPr/>
          <p:nvPr/>
        </p:nvSpPr>
        <p:spPr>
          <a:xfrm>
            <a:off x="7863840" y="489204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300" spc="-1" strike="noStrike">
                <a:solidFill>
                  <a:srgbClr val="1e8b4c"/>
                </a:solidFill>
                <a:latin typeface="Calibri"/>
              </a:rPr>
              <a:t>0.85</a:t>
            </a:r>
            <a:endParaRPr b="0" lang="en-US" sz="1300" spc="-1" strike="noStrike">
              <a:solidFill>
                <a:srgbClr val="000000"/>
              </a:solidFill>
              <a:latin typeface="Arial"/>
            </a:endParaRPr>
          </a:p>
        </p:txBody>
      </p:sp>
      <p:sp>
        <p:nvSpPr>
          <p:cNvPr id="189" name="TextBox 23"/>
          <p:cNvSpPr/>
          <p:nvPr/>
        </p:nvSpPr>
        <p:spPr>
          <a:xfrm>
            <a:off x="457200" y="518472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Positive</a:t>
            </a:r>
            <a:endParaRPr b="0" lang="en-US" sz="1300" spc="-1" strike="noStrike">
              <a:solidFill>
                <a:srgbClr val="000000"/>
              </a:solidFill>
              <a:latin typeface="Arial"/>
            </a:endParaRPr>
          </a:p>
        </p:txBody>
      </p:sp>
      <p:sp>
        <p:nvSpPr>
          <p:cNvPr id="190" name="TextBox 24"/>
          <p:cNvSpPr/>
          <p:nvPr/>
        </p:nvSpPr>
        <p:spPr>
          <a:xfrm>
            <a:off x="2926080" y="518472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555555"/>
                </a:solidFill>
                <a:latin typeface="Calibri"/>
              </a:rPr>
              <a:t>0.71</a:t>
            </a:r>
            <a:endParaRPr b="0" lang="en-US" sz="1300" spc="-1" strike="noStrike">
              <a:solidFill>
                <a:srgbClr val="000000"/>
              </a:solidFill>
              <a:latin typeface="Arial"/>
            </a:endParaRPr>
          </a:p>
        </p:txBody>
      </p:sp>
      <p:sp>
        <p:nvSpPr>
          <p:cNvPr id="191" name="TextBox 25"/>
          <p:cNvSpPr/>
          <p:nvPr/>
        </p:nvSpPr>
        <p:spPr>
          <a:xfrm>
            <a:off x="5394960" y="518472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555555"/>
                </a:solidFill>
                <a:latin typeface="Calibri"/>
              </a:rPr>
              <a:t>0.63</a:t>
            </a:r>
            <a:endParaRPr b="0" lang="en-US" sz="1300" spc="-1" strike="noStrike">
              <a:solidFill>
                <a:srgbClr val="000000"/>
              </a:solidFill>
              <a:latin typeface="Arial"/>
            </a:endParaRPr>
          </a:p>
        </p:txBody>
      </p:sp>
      <p:sp>
        <p:nvSpPr>
          <p:cNvPr id="192" name="TextBox 26"/>
          <p:cNvSpPr/>
          <p:nvPr/>
        </p:nvSpPr>
        <p:spPr>
          <a:xfrm>
            <a:off x="7863840" y="518472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300" spc="-1" strike="noStrike">
                <a:solidFill>
                  <a:srgbClr val="1e8b4c"/>
                </a:solidFill>
                <a:latin typeface="Calibri"/>
              </a:rPr>
              <a:t>0.86</a:t>
            </a:r>
            <a:endParaRPr b="0" lang="en-US" sz="1300" spc="-1" strike="noStrike">
              <a:solidFill>
                <a:srgbClr val="000000"/>
              </a:solidFill>
              <a:latin typeface="Arial"/>
            </a:endParaRPr>
          </a:p>
        </p:txBody>
      </p:sp>
      <p:sp>
        <p:nvSpPr>
          <p:cNvPr id="193" name="TextBox 27"/>
          <p:cNvSpPr/>
          <p:nvPr/>
        </p:nvSpPr>
        <p:spPr>
          <a:xfrm>
            <a:off x="457200" y="547740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Neutral</a:t>
            </a:r>
            <a:endParaRPr b="0" lang="en-US" sz="1300" spc="-1" strike="noStrike">
              <a:solidFill>
                <a:srgbClr val="000000"/>
              </a:solidFill>
              <a:latin typeface="Arial"/>
            </a:endParaRPr>
          </a:p>
        </p:txBody>
      </p:sp>
      <p:sp>
        <p:nvSpPr>
          <p:cNvPr id="194" name="TextBox 28"/>
          <p:cNvSpPr/>
          <p:nvPr/>
        </p:nvSpPr>
        <p:spPr>
          <a:xfrm>
            <a:off x="2926080" y="547740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555555"/>
                </a:solidFill>
                <a:latin typeface="Calibri"/>
              </a:rPr>
              <a:t>0.48</a:t>
            </a:r>
            <a:endParaRPr b="0" lang="en-US" sz="1300" spc="-1" strike="noStrike">
              <a:solidFill>
                <a:srgbClr val="000000"/>
              </a:solidFill>
              <a:latin typeface="Arial"/>
            </a:endParaRPr>
          </a:p>
        </p:txBody>
      </p:sp>
      <p:sp>
        <p:nvSpPr>
          <p:cNvPr id="195" name="TextBox 29"/>
          <p:cNvSpPr/>
          <p:nvPr/>
        </p:nvSpPr>
        <p:spPr>
          <a:xfrm>
            <a:off x="5394960" y="547740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555555"/>
                </a:solidFill>
                <a:latin typeface="Calibri"/>
              </a:rPr>
              <a:t>0.49</a:t>
            </a:r>
            <a:endParaRPr b="0" lang="en-US" sz="1300" spc="-1" strike="noStrike">
              <a:solidFill>
                <a:srgbClr val="000000"/>
              </a:solidFill>
              <a:latin typeface="Arial"/>
            </a:endParaRPr>
          </a:p>
        </p:txBody>
      </p:sp>
      <p:sp>
        <p:nvSpPr>
          <p:cNvPr id="196" name="TextBox 30"/>
          <p:cNvSpPr/>
          <p:nvPr/>
        </p:nvSpPr>
        <p:spPr>
          <a:xfrm>
            <a:off x="7863840" y="547740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300" spc="-1" strike="noStrike">
                <a:solidFill>
                  <a:srgbClr val="1e8b4c"/>
                </a:solidFill>
                <a:latin typeface="Calibri"/>
              </a:rPr>
              <a:t>0.71</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Intermediate Fusion</a:t>
            </a:r>
            <a:endParaRPr b="0" lang="en-US" sz="3000" spc="-1" strike="noStrike">
              <a:solidFill>
                <a:srgbClr val="000000"/>
              </a:solidFill>
              <a:latin typeface="Arial"/>
            </a:endParaRPr>
          </a:p>
        </p:txBody>
      </p:sp>
      <p:sp>
        <p:nvSpPr>
          <p:cNvPr id="199" name="TextBox 3"/>
          <p:cNvSpPr/>
          <p:nvPr/>
        </p:nvSpPr>
        <p:spPr>
          <a:xfrm>
            <a:off x="411480" y="749880"/>
            <a:ext cx="113680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bbccee"/>
                </a:solidFill>
                <a:latin typeface="Calibri"/>
              </a:rPr>
              <a:t>Deeper combination joint training at the feature level</a:t>
            </a:r>
            <a:endParaRPr b="0" lang="en-US" sz="1300" spc="-1" strike="noStrike">
              <a:solidFill>
                <a:srgbClr val="000000"/>
              </a:solidFill>
              <a:latin typeface="Arial"/>
            </a:endParaRPr>
          </a:p>
        </p:txBody>
      </p:sp>
      <p:sp>
        <p:nvSpPr>
          <p:cNvPr id="200" name="Rectangle 4"/>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 name="Rectangle 5"/>
          <p:cNvSpPr/>
          <p:nvPr/>
        </p:nvSpPr>
        <p:spPr>
          <a:xfrm>
            <a:off x="274320" y="1417320"/>
            <a:ext cx="6948720" cy="3199680"/>
          </a:xfrm>
          <a:prstGeom prst="rect">
            <a:avLst/>
          </a:prstGeom>
          <a:solidFill>
            <a:srgbClr val="ffffff"/>
          </a:solidFill>
          <a:ln w="12700">
            <a:solidFill>
              <a:srgbClr val="c55a1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2" name="TextBox 6"/>
          <p:cNvSpPr/>
          <p:nvPr/>
        </p:nvSpPr>
        <p:spPr>
          <a:xfrm>
            <a:off x="457200" y="1463040"/>
            <a:ext cx="65829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c55a11"/>
                </a:solidFill>
                <a:latin typeface="Calibri"/>
              </a:rPr>
              <a:t>How it differs from late fusion:</a:t>
            </a:r>
            <a:endParaRPr b="0" lang="en-US" sz="1400" spc="-1" strike="noStrike">
              <a:solidFill>
                <a:srgbClr val="000000"/>
              </a:solidFill>
              <a:latin typeface="Arial"/>
            </a:endParaRPr>
          </a:p>
        </p:txBody>
      </p:sp>
      <p:sp>
        <p:nvSpPr>
          <p:cNvPr id="203" name="TextBox 7"/>
          <p:cNvSpPr/>
          <p:nvPr/>
        </p:nvSpPr>
        <p:spPr>
          <a:xfrm>
            <a:off x="457200" y="1874520"/>
            <a:ext cx="6674400" cy="199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1a1a"/>
                </a:solidFill>
                <a:latin typeface="Calibri"/>
              </a:rPr>
              <a:t>Late fusion: each model trained separately → combine outputs at the end</a:t>
            </a: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Intermediate fusion: both encoders trained together through one shared loss</a:t>
            </a:r>
            <a:endParaRPr b="0" lang="en-US" sz="1250" spc="-1" strike="noStrike">
              <a:solidFill>
                <a:srgbClr val="000000"/>
              </a:solidFill>
              <a:latin typeface="Arial"/>
            </a:endParaRPr>
          </a:p>
          <a:p>
            <a:pPr defTabSz="457200">
              <a:lnSpc>
                <a:spcPct val="100000"/>
              </a:lnSpc>
            </a:pP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Architecture:</a:t>
            </a: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  </a:t>
            </a:r>
            <a:r>
              <a:rPr b="0" lang="en-US" sz="1250" spc="-1" strike="noStrike">
                <a:solidFill>
                  <a:srgbClr val="1a1a1a"/>
                </a:solidFill>
                <a:latin typeface="Calibri"/>
              </a:rPr>
              <a:t>1. Mean-pool RoBERTa hidden states  →  768-dim vector</a:t>
            </a: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  </a:t>
            </a:r>
            <a:r>
              <a:rPr b="0" lang="en-US" sz="1250" spc="-1" strike="noStrike">
                <a:solidFill>
                  <a:srgbClr val="1a1a1a"/>
                </a:solidFill>
                <a:latin typeface="Calibri"/>
              </a:rPr>
              <a:t>2. Mean-pool Wav2Vec2 hidden states  →  768-dim vector</a:t>
            </a: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  </a:t>
            </a:r>
            <a:r>
              <a:rPr b="0" lang="en-US" sz="1250" spc="-1" strike="noStrike">
                <a:solidFill>
                  <a:srgbClr val="1a1a1a"/>
                </a:solidFill>
                <a:latin typeface="Calibri"/>
              </a:rPr>
              <a:t>3. Concatenate  →  1536-dim joint representation</a:t>
            </a: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  </a:t>
            </a:r>
            <a:r>
              <a:rPr b="0" lang="en-US" sz="1250" spc="-1" strike="noStrike">
                <a:solidFill>
                  <a:srgbClr val="1a1a1a"/>
                </a:solidFill>
                <a:latin typeface="Calibri"/>
              </a:rPr>
              <a:t>4. MLP head (256 hidden, dropout 0.3)  →  3 class scores</a:t>
            </a:r>
            <a:endParaRPr b="0" lang="en-US" sz="1250" spc="-1" strike="noStrike">
              <a:solidFill>
                <a:srgbClr val="000000"/>
              </a:solidFill>
              <a:latin typeface="Arial"/>
            </a:endParaRPr>
          </a:p>
          <a:p>
            <a:pPr defTabSz="457200">
              <a:lnSpc>
                <a:spcPct val="100000"/>
              </a:lnSpc>
            </a:pPr>
            <a:endParaRPr b="0" lang="en-US" sz="1250" spc="-1" strike="noStrike">
              <a:solidFill>
                <a:srgbClr val="000000"/>
              </a:solidFill>
              <a:latin typeface="Arial"/>
            </a:endParaRPr>
          </a:p>
          <a:p>
            <a:pPr defTabSz="457200">
              <a:lnSpc>
                <a:spcPct val="100000"/>
              </a:lnSpc>
            </a:pPr>
            <a:r>
              <a:rPr b="0" lang="en-US" sz="1250" spc="-1" strike="noStrike">
                <a:solidFill>
                  <a:srgbClr val="1a1a1a"/>
                </a:solidFill>
                <a:latin typeface="Calibri"/>
              </a:rPr>
              <a:t>Differential learning rates: encoders 1×10⁻⁵  |  MLP head 1×10⁻⁴</a:t>
            </a:r>
            <a:endParaRPr b="0" lang="en-US" sz="1250" spc="-1" strike="noStrike">
              <a:solidFill>
                <a:srgbClr val="000000"/>
              </a:solidFill>
              <a:latin typeface="Arial"/>
            </a:endParaRPr>
          </a:p>
        </p:txBody>
      </p:sp>
      <p:sp>
        <p:nvSpPr>
          <p:cNvPr id="204" name="Rectangle 8"/>
          <p:cNvSpPr/>
          <p:nvPr/>
        </p:nvSpPr>
        <p:spPr>
          <a:xfrm>
            <a:off x="7498080" y="1417320"/>
            <a:ext cx="4388400" cy="3199680"/>
          </a:xfrm>
          <a:prstGeom prst="rect">
            <a:avLst/>
          </a:prstGeom>
          <a:solidFill>
            <a:srgbClr val="fce4d6"/>
          </a:solidFill>
          <a:ln w="12700">
            <a:solidFill>
              <a:srgbClr val="c55a1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5" name="TextBox 9"/>
          <p:cNvSpPr/>
          <p:nvPr/>
        </p:nvSpPr>
        <p:spPr>
          <a:xfrm>
            <a:off x="7680960" y="1463040"/>
            <a:ext cx="402264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c55a11"/>
                </a:solidFill>
                <a:latin typeface="Calibri"/>
              </a:rPr>
              <a:t>Status</a:t>
            </a:r>
            <a:endParaRPr b="0" lang="en-US" sz="1400" spc="-1" strike="noStrike">
              <a:solidFill>
                <a:srgbClr val="000000"/>
              </a:solidFill>
              <a:latin typeface="Arial"/>
            </a:endParaRPr>
          </a:p>
        </p:txBody>
      </p:sp>
      <p:sp>
        <p:nvSpPr>
          <p:cNvPr id="206" name="TextBox 10"/>
          <p:cNvSpPr/>
          <p:nvPr/>
        </p:nvSpPr>
        <p:spPr>
          <a:xfrm>
            <a:off x="7680960" y="1920240"/>
            <a:ext cx="402264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c55a11"/>
                </a:solidFill>
                <a:latin typeface="Calibri"/>
              </a:rPr>
              <a:t>⏳  </a:t>
            </a:r>
            <a:r>
              <a:rPr b="1" lang="en-US" sz="1600" spc="-1" strike="noStrike">
                <a:solidFill>
                  <a:srgbClr val="c55a11"/>
                </a:solidFill>
                <a:latin typeface="Calibri"/>
              </a:rPr>
              <a:t>Training in progress</a:t>
            </a:r>
            <a:endParaRPr b="0" lang="en-US" sz="1600" spc="-1" strike="noStrike">
              <a:solidFill>
                <a:srgbClr val="000000"/>
              </a:solidFill>
              <a:latin typeface="Arial"/>
            </a:endParaRPr>
          </a:p>
        </p:txBody>
      </p:sp>
      <p:sp>
        <p:nvSpPr>
          <p:cNvPr id="207" name="TextBox 11"/>
          <p:cNvSpPr/>
          <p:nvPr/>
        </p:nvSpPr>
        <p:spPr>
          <a:xfrm>
            <a:off x="7680960" y="2423160"/>
            <a:ext cx="4022640" cy="1552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1a1a1a"/>
                </a:solidFill>
                <a:latin typeface="Calibri"/>
              </a:rPr>
              <a:t>Started: 2026-06-17</a:t>
            </a:r>
            <a:endParaRPr b="0" lang="en-US" sz="1200" spc="-1" strike="noStrike">
              <a:solidFill>
                <a:srgbClr val="000000"/>
              </a:solidFill>
              <a:latin typeface="Arial"/>
            </a:endParaRPr>
          </a:p>
          <a:p>
            <a:pPr defTabSz="457200">
              <a:lnSpc>
                <a:spcPct val="100000"/>
              </a:lnSpc>
            </a:pPr>
            <a:r>
              <a:rPr b="0" lang="en-US" sz="1200" spc="-1" strike="noStrike">
                <a:solidFill>
                  <a:srgbClr val="1a1a1a"/>
                </a:solidFill>
                <a:latin typeface="Calibri"/>
              </a:rPr>
              <a:t>Estimated time: ~9 hrs on local GPU</a:t>
            </a:r>
            <a:endParaRPr b="0" lang="en-US" sz="1200" spc="-1" strike="noStrike">
              <a:solidFill>
                <a:srgbClr val="000000"/>
              </a:solidFill>
              <a:latin typeface="Arial"/>
            </a:endParaRPr>
          </a:p>
          <a:p>
            <a:pPr defTabSz="457200">
              <a:lnSpc>
                <a:spcPct val="100000"/>
              </a:lnSpc>
            </a:pPr>
            <a:r>
              <a:rPr b="0" lang="en-US" sz="1200" spc="-1" strike="noStrike">
                <a:solidFill>
                  <a:srgbClr val="1a1a1a"/>
                </a:solidFill>
                <a:latin typeface="Calibri"/>
              </a:rPr>
              <a:t>Not yet complete</a:t>
            </a:r>
            <a:endParaRPr b="0" lang="en-US" sz="1200" spc="-1" strike="noStrike">
              <a:solidFill>
                <a:srgbClr val="000000"/>
              </a:solidFill>
              <a:latin typeface="Arial"/>
            </a:endParaRPr>
          </a:p>
          <a:p>
            <a:pPr defTabSz="457200">
              <a:lnSpc>
                <a:spcPct val="100000"/>
              </a:lnSpc>
            </a:pPr>
            <a:endParaRPr b="0" lang="en-US" sz="1200" spc="-1" strike="noStrike">
              <a:solidFill>
                <a:srgbClr val="000000"/>
              </a:solidFill>
              <a:latin typeface="Arial"/>
            </a:endParaRPr>
          </a:p>
          <a:p>
            <a:pPr defTabSz="457200">
              <a:lnSpc>
                <a:spcPct val="100000"/>
              </a:lnSpc>
            </a:pPr>
            <a:r>
              <a:rPr b="0" lang="en-US" sz="1200" spc="-1" strike="noStrike">
                <a:solidFill>
                  <a:srgbClr val="1a1a1a"/>
                </a:solidFill>
                <a:latin typeface="Calibri"/>
              </a:rPr>
              <a:t>To resume:</a:t>
            </a:r>
            <a:endParaRPr b="0" lang="en-US" sz="1200" spc="-1" strike="noStrike">
              <a:solidFill>
                <a:srgbClr val="000000"/>
              </a:solidFill>
              <a:latin typeface="Arial"/>
            </a:endParaRPr>
          </a:p>
          <a:p>
            <a:pPr defTabSz="457200">
              <a:lnSpc>
                <a:spcPct val="100000"/>
              </a:lnSpc>
            </a:pPr>
            <a:r>
              <a:rPr b="0" lang="en-US" sz="1200" spc="-1" strike="noStrike">
                <a:solidFill>
                  <a:srgbClr val="1a1a1a"/>
                </a:solidFill>
                <a:latin typeface="Calibri"/>
              </a:rPr>
              <a:t>  → </a:t>
            </a:r>
            <a:r>
              <a:rPr b="0" lang="en-US" sz="1200" spc="-1" strike="noStrike">
                <a:solidFill>
                  <a:srgbClr val="1a1a1a"/>
                </a:solidFill>
                <a:latin typeface="Calibri"/>
              </a:rPr>
              <a:t>Need text + audio checkpoints</a:t>
            </a:r>
            <a:endParaRPr b="0" lang="en-US" sz="1200" spc="-1" strike="noStrike">
              <a:solidFill>
                <a:srgbClr val="000000"/>
              </a:solidFill>
              <a:latin typeface="Arial"/>
            </a:endParaRPr>
          </a:p>
          <a:p>
            <a:pPr defTabSz="457200">
              <a:lnSpc>
                <a:spcPct val="100000"/>
              </a:lnSpc>
            </a:pPr>
            <a:r>
              <a:rPr b="0" lang="en-US" sz="1200" spc="-1" strike="noStrike">
                <a:solidFill>
                  <a:srgbClr val="1a1a1a"/>
                </a:solidFill>
                <a:latin typeface="Calibri"/>
              </a:rPr>
              <a:t>  → </a:t>
            </a:r>
            <a:r>
              <a:rPr b="0" lang="en-US" sz="1200" spc="-1" strike="noStrike">
                <a:solidFill>
                  <a:srgbClr val="1a1a1a"/>
                </a:solidFill>
                <a:latin typeface="Calibri"/>
              </a:rPr>
              <a:t>Run intermediate_fusion.ipynb</a:t>
            </a:r>
            <a:endParaRPr b="0" lang="en-US" sz="1200" spc="-1" strike="noStrike">
              <a:solidFill>
                <a:srgbClr val="000000"/>
              </a:solidFill>
              <a:latin typeface="Arial"/>
            </a:endParaRPr>
          </a:p>
          <a:p>
            <a:pPr defTabSz="457200">
              <a:lnSpc>
                <a:spcPct val="100000"/>
              </a:lnSpc>
            </a:pPr>
            <a:r>
              <a:rPr b="0" lang="en-US" sz="1200" spc="-1" strike="noStrike">
                <a:solidFill>
                  <a:srgbClr val="1a1a1a"/>
                </a:solidFill>
                <a:latin typeface="Calibri"/>
              </a:rPr>
              <a:t>  → </a:t>
            </a:r>
            <a:r>
              <a:rPr b="0" lang="en-US" sz="1200" spc="-1" strike="noStrike">
                <a:solidFill>
                  <a:srgbClr val="1a1a1a"/>
                </a:solidFill>
                <a:latin typeface="Calibri"/>
              </a:rPr>
              <a:t>Results will be added to report</a:t>
            </a:r>
            <a:endParaRPr b="0" lang="en-US" sz="1200" spc="-1" strike="noStrike">
              <a:solidFill>
                <a:srgbClr val="000000"/>
              </a:solidFill>
              <a:latin typeface="Arial"/>
            </a:endParaRPr>
          </a:p>
        </p:txBody>
      </p:sp>
      <p:sp>
        <p:nvSpPr>
          <p:cNvPr id="208" name="Rectangle 12"/>
          <p:cNvSpPr/>
          <p:nvPr/>
        </p:nvSpPr>
        <p:spPr>
          <a:xfrm>
            <a:off x="274320" y="4754880"/>
            <a:ext cx="11612160" cy="776520"/>
          </a:xfrm>
          <a:prstGeom prst="rect">
            <a:avLst/>
          </a:prstGeom>
          <a:solidFill>
            <a:srgbClr val="ffffff"/>
          </a:solidFill>
          <a:ln w="10160">
            <a:solidFill>
              <a:srgbClr val="5555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9" name="TextBox 13"/>
          <p:cNvSpPr/>
          <p:nvPr/>
        </p:nvSpPr>
        <p:spPr>
          <a:xfrm>
            <a:off x="457200" y="4800600"/>
            <a:ext cx="11246400" cy="470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1a1a"/>
                </a:solidFill>
                <a:latin typeface="Calibri"/>
              </a:rPr>
              <a:t>Why it might outperform late fusion:  the encoders can learn representations that are specifically complementary to each other, because both are fine-tuned jointly on the same emotion labels. The MLP head can also learn non-linear cross-modal interactions.</a:t>
            </a:r>
            <a:endParaRPr b="0" lang="en-US"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1"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Results Summary</a:t>
            </a:r>
            <a:endParaRPr b="0" lang="en-US" sz="3000" spc="-1" strike="noStrike">
              <a:solidFill>
                <a:srgbClr val="000000"/>
              </a:solidFill>
              <a:latin typeface="Arial"/>
            </a:endParaRPr>
          </a:p>
        </p:txBody>
      </p:sp>
      <p:sp>
        <p:nvSpPr>
          <p:cNvPr id="212" name="TextBox 3"/>
          <p:cNvSpPr/>
          <p:nvPr/>
        </p:nvSpPr>
        <p:spPr>
          <a:xfrm>
            <a:off x="411480" y="749880"/>
            <a:ext cx="113680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bbccee"/>
                </a:solidFill>
                <a:latin typeface="Calibri"/>
              </a:rPr>
              <a:t>All models evaluated on Session 5  speaker-independent (n=2,170)</a:t>
            </a:r>
            <a:endParaRPr b="0" lang="en-US" sz="1300" spc="-1" strike="noStrike">
              <a:solidFill>
                <a:srgbClr val="000000"/>
              </a:solidFill>
              <a:latin typeface="Arial"/>
            </a:endParaRPr>
          </a:p>
        </p:txBody>
      </p:sp>
      <p:sp>
        <p:nvSpPr>
          <p:cNvPr id="213" name="Rectangle 4"/>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 name="Rectangle 5"/>
          <p:cNvSpPr/>
          <p:nvPr/>
        </p:nvSpPr>
        <p:spPr>
          <a:xfrm>
            <a:off x="320040" y="1508760"/>
            <a:ext cx="11566440" cy="4564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5" name="TextBox 6"/>
          <p:cNvSpPr/>
          <p:nvPr/>
        </p:nvSpPr>
        <p:spPr>
          <a:xfrm>
            <a:off x="365760" y="1572840"/>
            <a:ext cx="457128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Calibri"/>
              </a:rPr>
              <a:t>Model</a:t>
            </a:r>
            <a:endParaRPr b="0" lang="en-US" sz="1400" spc="-1" strike="noStrike">
              <a:solidFill>
                <a:srgbClr val="000000"/>
              </a:solidFill>
              <a:latin typeface="Arial"/>
            </a:endParaRPr>
          </a:p>
        </p:txBody>
      </p:sp>
      <p:sp>
        <p:nvSpPr>
          <p:cNvPr id="216" name="TextBox 7"/>
          <p:cNvSpPr/>
          <p:nvPr/>
        </p:nvSpPr>
        <p:spPr>
          <a:xfrm>
            <a:off x="5166360" y="1572840"/>
            <a:ext cx="182808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Calibri"/>
              </a:rPr>
              <a:t>Accuracy</a:t>
            </a:r>
            <a:endParaRPr b="0" lang="en-US" sz="1400" spc="-1" strike="noStrike">
              <a:solidFill>
                <a:srgbClr val="000000"/>
              </a:solidFill>
              <a:latin typeface="Arial"/>
            </a:endParaRPr>
          </a:p>
        </p:txBody>
      </p:sp>
      <p:sp>
        <p:nvSpPr>
          <p:cNvPr id="217" name="TextBox 8"/>
          <p:cNvSpPr/>
          <p:nvPr/>
        </p:nvSpPr>
        <p:spPr>
          <a:xfrm>
            <a:off x="7269480" y="1572840"/>
            <a:ext cx="182808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Calibri"/>
              </a:rPr>
              <a:t>Macro F1</a:t>
            </a:r>
            <a:endParaRPr b="0" lang="en-US" sz="1400" spc="-1" strike="noStrike">
              <a:solidFill>
                <a:srgbClr val="000000"/>
              </a:solidFill>
              <a:latin typeface="Arial"/>
            </a:endParaRPr>
          </a:p>
        </p:txBody>
      </p:sp>
      <p:sp>
        <p:nvSpPr>
          <p:cNvPr id="218" name="TextBox 9"/>
          <p:cNvSpPr/>
          <p:nvPr/>
        </p:nvSpPr>
        <p:spPr>
          <a:xfrm>
            <a:off x="9464040" y="1572840"/>
            <a:ext cx="246816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Calibri"/>
              </a:rPr>
              <a:t>Weighted F1</a:t>
            </a:r>
            <a:endParaRPr b="0" lang="en-US" sz="1400" spc="-1" strike="noStrike">
              <a:solidFill>
                <a:srgbClr val="000000"/>
              </a:solidFill>
              <a:latin typeface="Arial"/>
            </a:endParaRPr>
          </a:p>
        </p:txBody>
      </p:sp>
      <p:sp>
        <p:nvSpPr>
          <p:cNvPr id="219" name="Rectangle 10"/>
          <p:cNvSpPr/>
          <p:nvPr/>
        </p:nvSpPr>
        <p:spPr>
          <a:xfrm>
            <a:off x="320040" y="2057400"/>
            <a:ext cx="11566440" cy="685080"/>
          </a:xfrm>
          <a:prstGeom prst="rect">
            <a:avLst/>
          </a:prstGeom>
          <a:solidFill>
            <a:srgbClr val="2e75b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0" name="TextBox 11"/>
          <p:cNvSpPr/>
          <p:nvPr/>
        </p:nvSpPr>
        <p:spPr>
          <a:xfrm>
            <a:off x="365760" y="2167200"/>
            <a:ext cx="4571280" cy="318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500" spc="-1" strike="noStrike">
                <a:solidFill>
                  <a:srgbClr val="ffffff"/>
                </a:solidFill>
                <a:latin typeface="Calibri"/>
              </a:rPr>
              <a:t>RoBERTa  (text only)</a:t>
            </a:r>
            <a:endParaRPr b="0" lang="en-US" sz="1500" spc="-1" strike="noStrike">
              <a:solidFill>
                <a:srgbClr val="000000"/>
              </a:solidFill>
              <a:latin typeface="Arial"/>
            </a:endParaRPr>
          </a:p>
        </p:txBody>
      </p:sp>
      <p:sp>
        <p:nvSpPr>
          <p:cNvPr id="221" name="TextBox 12"/>
          <p:cNvSpPr/>
          <p:nvPr/>
        </p:nvSpPr>
        <p:spPr>
          <a:xfrm>
            <a:off x="5166360" y="216720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0.6793</a:t>
            </a:r>
            <a:endParaRPr b="0" lang="en-US" sz="1600" spc="-1" strike="noStrike">
              <a:solidFill>
                <a:srgbClr val="000000"/>
              </a:solidFill>
              <a:latin typeface="Arial"/>
            </a:endParaRPr>
          </a:p>
        </p:txBody>
      </p:sp>
      <p:sp>
        <p:nvSpPr>
          <p:cNvPr id="222" name="TextBox 13"/>
          <p:cNvSpPr/>
          <p:nvPr/>
        </p:nvSpPr>
        <p:spPr>
          <a:xfrm>
            <a:off x="7269480" y="216720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0.6519</a:t>
            </a:r>
            <a:endParaRPr b="0" lang="en-US" sz="1600" spc="-1" strike="noStrike">
              <a:solidFill>
                <a:srgbClr val="000000"/>
              </a:solidFill>
              <a:latin typeface="Arial"/>
            </a:endParaRPr>
          </a:p>
        </p:txBody>
      </p:sp>
      <p:sp>
        <p:nvSpPr>
          <p:cNvPr id="223" name="TextBox 14"/>
          <p:cNvSpPr/>
          <p:nvPr/>
        </p:nvSpPr>
        <p:spPr>
          <a:xfrm>
            <a:off x="9464040" y="2167200"/>
            <a:ext cx="246816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0.6900</a:t>
            </a:r>
            <a:endParaRPr b="0" lang="en-US" sz="1600" spc="-1" strike="noStrike">
              <a:solidFill>
                <a:srgbClr val="000000"/>
              </a:solidFill>
              <a:latin typeface="Arial"/>
            </a:endParaRPr>
          </a:p>
        </p:txBody>
      </p:sp>
      <p:sp>
        <p:nvSpPr>
          <p:cNvPr id="224" name="Rectangle 15"/>
          <p:cNvSpPr/>
          <p:nvPr/>
        </p:nvSpPr>
        <p:spPr>
          <a:xfrm>
            <a:off x="320040" y="2807280"/>
            <a:ext cx="11566440" cy="685080"/>
          </a:xfrm>
          <a:prstGeom prst="rect">
            <a:avLst/>
          </a:prstGeom>
          <a:solidFill>
            <a:srgbClr val="378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5" name="TextBox 16"/>
          <p:cNvSpPr/>
          <p:nvPr/>
        </p:nvSpPr>
        <p:spPr>
          <a:xfrm>
            <a:off x="365760" y="2917080"/>
            <a:ext cx="4571280" cy="318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500" spc="-1" strike="noStrike">
                <a:solidFill>
                  <a:srgbClr val="ffffff"/>
                </a:solidFill>
                <a:latin typeface="Calibri"/>
              </a:rPr>
              <a:t>Wav2Vec2  (audio only)</a:t>
            </a:r>
            <a:endParaRPr b="0" lang="en-US" sz="1500" spc="-1" strike="noStrike">
              <a:solidFill>
                <a:srgbClr val="000000"/>
              </a:solidFill>
              <a:latin typeface="Arial"/>
            </a:endParaRPr>
          </a:p>
        </p:txBody>
      </p:sp>
      <p:sp>
        <p:nvSpPr>
          <p:cNvPr id="226" name="TextBox 17"/>
          <p:cNvSpPr/>
          <p:nvPr/>
        </p:nvSpPr>
        <p:spPr>
          <a:xfrm>
            <a:off x="5166360" y="291708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0.6779</a:t>
            </a:r>
            <a:endParaRPr b="0" lang="en-US" sz="1600" spc="-1" strike="noStrike">
              <a:solidFill>
                <a:srgbClr val="000000"/>
              </a:solidFill>
              <a:latin typeface="Arial"/>
            </a:endParaRPr>
          </a:p>
        </p:txBody>
      </p:sp>
      <p:sp>
        <p:nvSpPr>
          <p:cNvPr id="227" name="TextBox 18"/>
          <p:cNvSpPr/>
          <p:nvPr/>
        </p:nvSpPr>
        <p:spPr>
          <a:xfrm>
            <a:off x="7269480" y="291708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0.6324</a:t>
            </a:r>
            <a:endParaRPr b="0" lang="en-US" sz="1600" spc="-1" strike="noStrike">
              <a:solidFill>
                <a:srgbClr val="000000"/>
              </a:solidFill>
              <a:latin typeface="Arial"/>
            </a:endParaRPr>
          </a:p>
        </p:txBody>
      </p:sp>
      <p:sp>
        <p:nvSpPr>
          <p:cNvPr id="228" name="TextBox 19"/>
          <p:cNvSpPr/>
          <p:nvPr/>
        </p:nvSpPr>
        <p:spPr>
          <a:xfrm>
            <a:off x="9464040" y="2917080"/>
            <a:ext cx="246816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0.6799</a:t>
            </a:r>
            <a:endParaRPr b="0" lang="en-US" sz="1600" spc="-1" strike="noStrike">
              <a:solidFill>
                <a:srgbClr val="000000"/>
              </a:solidFill>
              <a:latin typeface="Arial"/>
            </a:endParaRPr>
          </a:p>
        </p:txBody>
      </p:sp>
      <p:sp>
        <p:nvSpPr>
          <p:cNvPr id="229" name="Rectangle 20"/>
          <p:cNvSpPr/>
          <p:nvPr/>
        </p:nvSpPr>
        <p:spPr>
          <a:xfrm>
            <a:off x="320040" y="3557160"/>
            <a:ext cx="11566440" cy="685080"/>
          </a:xfrm>
          <a:prstGeom prst="rect">
            <a:avLst/>
          </a:prstGeom>
          <a:solidFill>
            <a:srgbClr val="7b49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0" name="TextBox 21"/>
          <p:cNvSpPr/>
          <p:nvPr/>
        </p:nvSpPr>
        <p:spPr>
          <a:xfrm>
            <a:off x="365760" y="3666600"/>
            <a:ext cx="4571280" cy="318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500" spc="-1" strike="noStrike">
                <a:solidFill>
                  <a:srgbClr val="ffffff"/>
                </a:solidFill>
                <a:latin typeface="Calibri"/>
              </a:rPr>
              <a:t>Late Fusion  (α=0.65/0.35)</a:t>
            </a:r>
            <a:endParaRPr b="0" lang="en-US" sz="1500" spc="-1" strike="noStrike">
              <a:solidFill>
                <a:srgbClr val="000000"/>
              </a:solidFill>
              <a:latin typeface="Arial"/>
            </a:endParaRPr>
          </a:p>
        </p:txBody>
      </p:sp>
      <p:sp>
        <p:nvSpPr>
          <p:cNvPr id="231" name="TextBox 22"/>
          <p:cNvSpPr/>
          <p:nvPr/>
        </p:nvSpPr>
        <p:spPr>
          <a:xfrm>
            <a:off x="5166360" y="366660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0.8392</a:t>
            </a:r>
            <a:endParaRPr b="0" lang="en-US" sz="1600" spc="-1" strike="noStrike">
              <a:solidFill>
                <a:srgbClr val="000000"/>
              </a:solidFill>
              <a:latin typeface="Arial"/>
            </a:endParaRPr>
          </a:p>
        </p:txBody>
      </p:sp>
      <p:sp>
        <p:nvSpPr>
          <p:cNvPr id="232" name="TextBox 23"/>
          <p:cNvSpPr/>
          <p:nvPr/>
        </p:nvSpPr>
        <p:spPr>
          <a:xfrm>
            <a:off x="7269480" y="366660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0.8173</a:t>
            </a:r>
            <a:endParaRPr b="0" lang="en-US" sz="1600" spc="-1" strike="noStrike">
              <a:solidFill>
                <a:srgbClr val="000000"/>
              </a:solidFill>
              <a:latin typeface="Arial"/>
            </a:endParaRPr>
          </a:p>
        </p:txBody>
      </p:sp>
      <p:sp>
        <p:nvSpPr>
          <p:cNvPr id="233" name="TextBox 24"/>
          <p:cNvSpPr/>
          <p:nvPr/>
        </p:nvSpPr>
        <p:spPr>
          <a:xfrm>
            <a:off x="9464040" y="3666600"/>
            <a:ext cx="246816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ffffff"/>
                </a:solidFill>
                <a:latin typeface="Calibri"/>
              </a:rPr>
              <a:t>0.8431</a:t>
            </a:r>
            <a:endParaRPr b="0" lang="en-US" sz="1600" spc="-1" strike="noStrike">
              <a:solidFill>
                <a:srgbClr val="000000"/>
              </a:solidFill>
              <a:latin typeface="Arial"/>
            </a:endParaRPr>
          </a:p>
        </p:txBody>
      </p:sp>
      <p:sp>
        <p:nvSpPr>
          <p:cNvPr id="234" name="Rectangle 25"/>
          <p:cNvSpPr/>
          <p:nvPr/>
        </p:nvSpPr>
        <p:spPr>
          <a:xfrm>
            <a:off x="320040" y="4306680"/>
            <a:ext cx="11566440" cy="685080"/>
          </a:xfrm>
          <a:prstGeom prst="rect">
            <a:avLst/>
          </a:prstGeom>
          <a:solidFill>
            <a:srgbClr val="bbbbb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5" name="TextBox 26"/>
          <p:cNvSpPr/>
          <p:nvPr/>
        </p:nvSpPr>
        <p:spPr>
          <a:xfrm>
            <a:off x="365760" y="4416480"/>
            <a:ext cx="4571280" cy="318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500" spc="-1" strike="noStrike">
                <a:solidFill>
                  <a:srgbClr val="555555"/>
                </a:solidFill>
                <a:latin typeface="Calibri"/>
              </a:rPr>
              <a:t>Intermediate Fusion</a:t>
            </a:r>
            <a:endParaRPr b="0" lang="en-US" sz="1500" spc="-1" strike="noStrike">
              <a:solidFill>
                <a:srgbClr val="000000"/>
              </a:solidFill>
              <a:latin typeface="Arial"/>
            </a:endParaRPr>
          </a:p>
        </p:txBody>
      </p:sp>
      <p:sp>
        <p:nvSpPr>
          <p:cNvPr id="236" name="TextBox 27"/>
          <p:cNvSpPr/>
          <p:nvPr/>
        </p:nvSpPr>
        <p:spPr>
          <a:xfrm>
            <a:off x="5166360" y="441648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555555"/>
                </a:solidFill>
                <a:latin typeface="Calibri"/>
              </a:rPr>
              <a:t>-</a:t>
            </a:r>
            <a:endParaRPr b="0" lang="en-US" sz="1600" spc="-1" strike="noStrike">
              <a:solidFill>
                <a:srgbClr val="000000"/>
              </a:solidFill>
              <a:latin typeface="Arial"/>
            </a:endParaRPr>
          </a:p>
        </p:txBody>
      </p:sp>
      <p:sp>
        <p:nvSpPr>
          <p:cNvPr id="237" name="TextBox 28"/>
          <p:cNvSpPr/>
          <p:nvPr/>
        </p:nvSpPr>
        <p:spPr>
          <a:xfrm>
            <a:off x="7269480" y="4416480"/>
            <a:ext cx="182808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555555"/>
                </a:solidFill>
                <a:latin typeface="Calibri"/>
              </a:rPr>
              <a:t>-</a:t>
            </a:r>
            <a:endParaRPr b="0" lang="en-US" sz="1600" spc="-1" strike="noStrike">
              <a:solidFill>
                <a:srgbClr val="000000"/>
              </a:solidFill>
              <a:latin typeface="Arial"/>
            </a:endParaRPr>
          </a:p>
        </p:txBody>
      </p:sp>
      <p:sp>
        <p:nvSpPr>
          <p:cNvPr id="238" name="TextBox 29"/>
          <p:cNvSpPr/>
          <p:nvPr/>
        </p:nvSpPr>
        <p:spPr>
          <a:xfrm>
            <a:off x="9464040" y="4416480"/>
            <a:ext cx="246816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555555"/>
                </a:solidFill>
                <a:latin typeface="Calibri"/>
              </a:rPr>
              <a:t>-</a:t>
            </a:r>
            <a:endParaRPr b="0" lang="en-US" sz="1600" spc="-1" strike="noStrike">
              <a:solidFill>
                <a:srgbClr val="000000"/>
              </a:solidFill>
              <a:latin typeface="Arial"/>
            </a:endParaRPr>
          </a:p>
        </p:txBody>
      </p:sp>
      <p:sp>
        <p:nvSpPr>
          <p:cNvPr id="239" name="TextBox 30"/>
          <p:cNvSpPr/>
          <p:nvPr/>
        </p:nvSpPr>
        <p:spPr>
          <a:xfrm>
            <a:off x="320040" y="5120640"/>
            <a:ext cx="68572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7b49a8"/>
                </a:solidFill>
                <a:latin typeface="Calibri"/>
              </a:rPr>
              <a:t>↑ </a:t>
            </a:r>
            <a:r>
              <a:rPr b="1" lang="en-US" sz="1400" spc="-1" strike="noStrike">
                <a:solidFill>
                  <a:srgbClr val="7b49a8"/>
                </a:solidFill>
                <a:latin typeface="Calibri"/>
              </a:rPr>
              <a:t>+0.17 Macro F1  from simple fusion alone</a:t>
            </a:r>
            <a:endParaRPr b="0" lang="en-US" sz="1400" spc="-1" strike="noStrike">
              <a:solidFill>
                <a:srgbClr val="000000"/>
              </a:solidFill>
              <a:latin typeface="Arial"/>
            </a:endParaRPr>
          </a:p>
        </p:txBody>
      </p:sp>
      <p:sp>
        <p:nvSpPr>
          <p:cNvPr id="240" name="TextBox 31"/>
          <p:cNvSpPr/>
          <p:nvPr/>
        </p:nvSpPr>
        <p:spPr>
          <a:xfrm>
            <a:off x="320040" y="5440680"/>
            <a:ext cx="68572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i="1" lang="en-US" sz="1200" spc="-1" strike="noStrike">
                <a:solidFill>
                  <a:srgbClr val="555555"/>
                </a:solidFill>
                <a:latin typeface="Calibri"/>
              </a:rPr>
              <a:t>Intermediate fusion results pending</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2"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Ground-Truth Refinement</a:t>
            </a:r>
            <a:endParaRPr b="0" lang="en-US" sz="3000" spc="-1" strike="noStrike">
              <a:solidFill>
                <a:srgbClr val="000000"/>
              </a:solidFill>
              <a:latin typeface="Arial"/>
            </a:endParaRPr>
          </a:p>
        </p:txBody>
      </p:sp>
      <p:sp>
        <p:nvSpPr>
          <p:cNvPr id="243" name="TextBox 3"/>
          <p:cNvSpPr/>
          <p:nvPr/>
        </p:nvSpPr>
        <p:spPr>
          <a:xfrm>
            <a:off x="411480" y="749880"/>
            <a:ext cx="113680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bbccee"/>
                </a:solidFill>
                <a:latin typeface="Calibri"/>
              </a:rPr>
              <a:t>Sum-then-Argmax Methodology</a:t>
            </a:r>
            <a:endParaRPr b="0" lang="en-US" sz="1300" spc="-1" strike="noStrike">
              <a:solidFill>
                <a:srgbClr val="000000"/>
              </a:solidFill>
              <a:latin typeface="Arial"/>
            </a:endParaRPr>
          </a:p>
        </p:txBody>
      </p:sp>
      <p:sp>
        <p:nvSpPr>
          <p:cNvPr id="244" name="Rectangle 4"/>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5" name="Rectangle 5"/>
          <p:cNvSpPr/>
          <p:nvPr/>
        </p:nvSpPr>
        <p:spPr>
          <a:xfrm>
            <a:off x="274320" y="1417320"/>
            <a:ext cx="5302800" cy="2331000"/>
          </a:xfrm>
          <a:prstGeom prst="rect">
            <a:avLst/>
          </a:prstGeom>
          <a:solidFill>
            <a:srgbClr val="ffffff"/>
          </a:solidFill>
          <a:ln w="12700">
            <a:solidFill>
              <a:srgbClr val="2e75b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6" name="TextBox 6"/>
          <p:cNvSpPr/>
          <p:nvPr/>
        </p:nvSpPr>
        <p:spPr>
          <a:xfrm>
            <a:off x="411480" y="1463040"/>
            <a:ext cx="50284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2e75b6"/>
                </a:solidFill>
                <a:latin typeface="Calibri"/>
              </a:rPr>
              <a:t>What is Sum-then-Argmax?</a:t>
            </a:r>
            <a:endParaRPr b="0" lang="en-US" sz="1400" spc="-1" strike="noStrike">
              <a:solidFill>
                <a:srgbClr val="000000"/>
              </a:solidFill>
              <a:latin typeface="Arial"/>
            </a:endParaRPr>
          </a:p>
        </p:txBody>
      </p:sp>
      <p:sp>
        <p:nvSpPr>
          <p:cNvPr id="247" name="TextBox 7"/>
          <p:cNvSpPr/>
          <p:nvPr/>
        </p:nvSpPr>
        <p:spPr>
          <a:xfrm>
            <a:off x="411480" y="1920240"/>
            <a:ext cx="5074200" cy="1609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Instead of relying on the major_emotion hard label, we sum the raw 9-dimensional annotator probabilities into three clusters:</a:t>
            </a:r>
            <a:endParaRPr b="0" lang="en-US" sz="1300" spc="-1" strike="noStrike">
              <a:solidFill>
                <a:srgbClr val="000000"/>
              </a:solidFill>
              <a:latin typeface="Arial"/>
            </a:endParaRPr>
          </a:p>
          <a:p>
            <a:pPr algn="ctr" defTabSz="457200">
              <a:lnSpc>
                <a:spcPct val="100000"/>
              </a:lnSpc>
              <a:spcBef>
                <a:spcPts val="1001"/>
              </a:spcBef>
            </a:pPr>
            <a:r>
              <a:rPr b="1" lang="en-US" sz="1800" spc="-1" strike="noStrike">
                <a:solidFill>
                  <a:srgbClr val="1a1a1a"/>
                </a:solidFill>
                <a:latin typeface="Calibri"/>
              </a:rPr>
              <a:t>P_Class  =  Σ p_Annotator</a:t>
            </a:r>
            <a:endParaRPr b="0" lang="en-US" sz="1800" spc="-1" strike="noStrike">
              <a:solidFill>
                <a:srgbClr val="000000"/>
              </a:solidFill>
              <a:latin typeface="Arial"/>
            </a:endParaRPr>
          </a:p>
          <a:p>
            <a:pPr defTabSz="457200">
              <a:lnSpc>
                <a:spcPct val="100000"/>
              </a:lnSpc>
              <a:spcBef>
                <a:spcPts val="1001"/>
              </a:spcBef>
            </a:pPr>
            <a:r>
              <a:rPr b="0" lang="en-US" sz="1300" spc="-1" strike="noStrike">
                <a:solidFill>
                  <a:srgbClr val="1a1a1a"/>
                </a:solidFill>
                <a:latin typeface="Calibri"/>
              </a:rPr>
              <a:t>This prevents “Neutral” bias when annotators are tied between Negative and other labels.</a:t>
            </a:r>
            <a:endParaRPr b="0" lang="en-US" sz="1300" spc="-1" strike="noStrike">
              <a:solidFill>
                <a:srgbClr val="000000"/>
              </a:solidFill>
              <a:latin typeface="Arial"/>
            </a:endParaRPr>
          </a:p>
        </p:txBody>
      </p:sp>
      <p:sp>
        <p:nvSpPr>
          <p:cNvPr id="248" name="Rectangle 8"/>
          <p:cNvSpPr/>
          <p:nvPr/>
        </p:nvSpPr>
        <p:spPr>
          <a:xfrm>
            <a:off x="5943600" y="1417320"/>
            <a:ext cx="5942880" cy="2331000"/>
          </a:xfrm>
          <a:prstGeom prst="rect">
            <a:avLst/>
          </a:prstGeom>
          <a:solidFill>
            <a:srgbClr val="ffffff"/>
          </a:solidFill>
          <a:ln w="12700">
            <a:solidFill>
              <a:srgbClr val="2e75b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9" name="TextBox 9"/>
          <p:cNvSpPr/>
          <p:nvPr/>
        </p:nvSpPr>
        <p:spPr>
          <a:xfrm>
            <a:off x="6080760" y="1463040"/>
            <a:ext cx="56685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2e75b6"/>
                </a:solidFill>
                <a:latin typeface="Calibri"/>
              </a:rPr>
              <a:t>The Consensus Score (cᵢ)</a:t>
            </a:r>
            <a:endParaRPr b="0" lang="en-US" sz="1400" spc="-1" strike="noStrike">
              <a:solidFill>
                <a:srgbClr val="000000"/>
              </a:solidFill>
              <a:latin typeface="Arial"/>
            </a:endParaRPr>
          </a:p>
        </p:txBody>
      </p:sp>
      <p:sp>
        <p:nvSpPr>
          <p:cNvPr id="250" name="TextBox 10"/>
          <p:cNvSpPr/>
          <p:nvPr/>
        </p:nvSpPr>
        <p:spPr>
          <a:xfrm>
            <a:off x="6080760" y="1920240"/>
            <a:ext cx="5668560" cy="1208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The maximum value of the grouped distribution defines our confidence tier. It allows us to distinguish between:</a:t>
            </a:r>
            <a:endParaRPr b="0" lang="en-US" sz="1300" spc="-1" strike="noStrike">
              <a:solidFill>
                <a:srgbClr val="000000"/>
              </a:solidFill>
              <a:latin typeface="Arial"/>
            </a:endParaRPr>
          </a:p>
          <a:p>
            <a:pPr defTabSz="457200">
              <a:lnSpc>
                <a:spcPct val="100000"/>
              </a:lnSpc>
              <a:spcBef>
                <a:spcPts val="1001"/>
              </a:spcBef>
            </a:pPr>
            <a:r>
              <a:rPr b="0" lang="en-US" sz="1300" spc="-1" strike="noStrike">
                <a:solidFill>
                  <a:srgbClr val="1a1a1a"/>
                </a:solidFill>
                <a:latin typeface="Calibri"/>
              </a:rPr>
              <a:t>•  </a:t>
            </a:r>
            <a:r>
              <a:rPr b="0" lang="en-US" sz="1300" spc="-1" strike="noStrike">
                <a:solidFill>
                  <a:srgbClr val="1a1a1a"/>
                </a:solidFill>
                <a:latin typeface="Calibri"/>
              </a:rPr>
              <a:t>High Agreement: Clear, unambiguous signal.</a:t>
            </a:r>
            <a:endParaRPr b="0" lang="en-US" sz="1300" spc="-1" strike="noStrike">
              <a:solidFill>
                <a:srgbClr val="000000"/>
              </a:solidFill>
              <a:latin typeface="Arial"/>
            </a:endParaRPr>
          </a:p>
          <a:p>
            <a:pPr defTabSz="457200">
              <a:lnSpc>
                <a:spcPct val="100000"/>
              </a:lnSpc>
            </a:pPr>
            <a:r>
              <a:rPr b="0" lang="en-US" sz="1300" spc="-1" strike="noStrike">
                <a:solidFill>
                  <a:srgbClr val="1a1a1a"/>
                </a:solidFill>
                <a:latin typeface="Calibri"/>
              </a:rPr>
              <a:t>•  </a:t>
            </a:r>
            <a:r>
              <a:rPr b="0" lang="en-US" sz="1300" spc="-1" strike="noStrike">
                <a:solidFill>
                  <a:srgbClr val="1a1a1a"/>
                </a:solidFill>
                <a:latin typeface="Calibri"/>
              </a:rPr>
              <a:t>Low Agreement: Utterances that were intrinsically confusing to humans.</a:t>
            </a:r>
            <a:endParaRPr b="0" lang="en-US" sz="1300" spc="-1" strike="noStrike">
              <a:solidFill>
                <a:srgbClr val="000000"/>
              </a:solidFill>
              <a:latin typeface="Arial"/>
            </a:endParaRPr>
          </a:p>
        </p:txBody>
      </p:sp>
      <p:sp>
        <p:nvSpPr>
          <p:cNvPr id="251" name="Rectangle 11"/>
          <p:cNvSpPr/>
          <p:nvPr/>
        </p:nvSpPr>
        <p:spPr>
          <a:xfrm>
            <a:off x="274320" y="4023360"/>
            <a:ext cx="11612160" cy="178236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 name="TextBox 12"/>
          <p:cNvSpPr/>
          <p:nvPr/>
        </p:nvSpPr>
        <p:spPr>
          <a:xfrm>
            <a:off x="457200" y="4069080"/>
            <a:ext cx="109720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2e75b6"/>
                </a:solidFill>
                <a:latin typeface="Calibri"/>
              </a:rPr>
              <a:t>Consensus Tier Table</a:t>
            </a:r>
            <a:endParaRPr b="0" lang="en-US" sz="1400" spc="-1" strike="noStrike">
              <a:solidFill>
                <a:srgbClr val="000000"/>
              </a:solidFill>
              <a:latin typeface="Arial"/>
            </a:endParaRPr>
          </a:p>
        </p:txBody>
      </p:sp>
      <p:sp>
        <p:nvSpPr>
          <p:cNvPr id="253" name="TextBox 13"/>
          <p:cNvSpPr/>
          <p:nvPr/>
        </p:nvSpPr>
        <p:spPr>
          <a:xfrm>
            <a:off x="457200" y="4434840"/>
            <a:ext cx="18280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Consensus Tier</a:t>
            </a:r>
            <a:endParaRPr b="0" lang="en-US" sz="1200" spc="-1" strike="noStrike">
              <a:solidFill>
                <a:srgbClr val="000000"/>
              </a:solidFill>
              <a:latin typeface="Arial"/>
            </a:endParaRPr>
          </a:p>
        </p:txBody>
      </p:sp>
      <p:sp>
        <p:nvSpPr>
          <p:cNvPr id="254" name="TextBox 14"/>
          <p:cNvSpPr/>
          <p:nvPr/>
        </p:nvSpPr>
        <p:spPr>
          <a:xfrm>
            <a:off x="2468880" y="4434840"/>
            <a:ext cx="22852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Confidence (cᵢ)</a:t>
            </a:r>
            <a:endParaRPr b="0" lang="en-US" sz="1200" spc="-1" strike="noStrike">
              <a:solidFill>
                <a:srgbClr val="000000"/>
              </a:solidFill>
              <a:latin typeface="Arial"/>
            </a:endParaRPr>
          </a:p>
        </p:txBody>
      </p:sp>
      <p:sp>
        <p:nvSpPr>
          <p:cNvPr id="255" name="TextBox 15"/>
          <p:cNvSpPr/>
          <p:nvPr/>
        </p:nvSpPr>
        <p:spPr>
          <a:xfrm>
            <a:off x="4937760" y="4434840"/>
            <a:ext cx="283392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Human Raters</a:t>
            </a:r>
            <a:endParaRPr b="0" lang="en-US" sz="1200" spc="-1" strike="noStrike">
              <a:solidFill>
                <a:srgbClr val="000000"/>
              </a:solidFill>
              <a:latin typeface="Arial"/>
            </a:endParaRPr>
          </a:p>
        </p:txBody>
      </p:sp>
      <p:sp>
        <p:nvSpPr>
          <p:cNvPr id="256" name="TextBox 16"/>
          <p:cNvSpPr/>
          <p:nvPr/>
        </p:nvSpPr>
        <p:spPr>
          <a:xfrm>
            <a:off x="7955280" y="4434840"/>
            <a:ext cx="329112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200" spc="-1" strike="noStrike">
                <a:solidFill>
                  <a:srgbClr val="555555"/>
                </a:solidFill>
                <a:latin typeface="Calibri"/>
              </a:rPr>
              <a:t>Model Expectation</a:t>
            </a:r>
            <a:endParaRPr b="0" lang="en-US" sz="1200" spc="-1" strike="noStrike">
              <a:solidFill>
                <a:srgbClr val="000000"/>
              </a:solidFill>
              <a:latin typeface="Arial"/>
            </a:endParaRPr>
          </a:p>
        </p:txBody>
      </p:sp>
      <p:sp>
        <p:nvSpPr>
          <p:cNvPr id="257" name="Rounded Rectangle 17"/>
          <p:cNvSpPr/>
          <p:nvPr/>
        </p:nvSpPr>
        <p:spPr>
          <a:xfrm>
            <a:off x="457200" y="4800600"/>
            <a:ext cx="1299240" cy="319320"/>
          </a:xfrm>
          <a:prstGeom prst="roundRect">
            <a:avLst>
              <a:gd name="adj" fmla="val 50000"/>
            </a:avLst>
          </a:prstGeom>
          <a:solidFill>
            <a:srgbClr val="2e75b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rIns="0" tIns="18360" bIns="0" anchor="ctr">
            <a:noAutofit/>
          </a:bodyPr>
          <a:p>
            <a:pPr algn="ctr" defTabSz="457200">
              <a:lnSpc>
                <a:spcPct val="100000"/>
              </a:lnSpc>
            </a:pPr>
            <a:r>
              <a:rPr b="1" lang="en-US" sz="1300" spc="-1" strike="noStrike">
                <a:solidFill>
                  <a:srgbClr val="ffffff"/>
                </a:solidFill>
                <a:latin typeface="Calibri"/>
              </a:rPr>
              <a:t>High</a:t>
            </a:r>
            <a:endParaRPr b="0" lang="en-US" sz="1300" spc="-1" strike="noStrike">
              <a:solidFill>
                <a:srgbClr val="ffffff"/>
              </a:solidFill>
              <a:latin typeface="Arial"/>
            </a:endParaRPr>
          </a:p>
        </p:txBody>
      </p:sp>
      <p:sp>
        <p:nvSpPr>
          <p:cNvPr id="258" name="TextBox 18"/>
          <p:cNvSpPr/>
          <p:nvPr/>
        </p:nvSpPr>
        <p:spPr>
          <a:xfrm>
            <a:off x="2468880" y="480060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&gt;0.75</a:t>
            </a:r>
            <a:endParaRPr b="0" lang="en-US" sz="1300" spc="-1" strike="noStrike">
              <a:solidFill>
                <a:srgbClr val="000000"/>
              </a:solidFill>
              <a:latin typeface="Arial"/>
            </a:endParaRPr>
          </a:p>
        </p:txBody>
      </p:sp>
      <p:sp>
        <p:nvSpPr>
          <p:cNvPr id="259" name="TextBox 19"/>
          <p:cNvSpPr/>
          <p:nvPr/>
        </p:nvSpPr>
        <p:spPr>
          <a:xfrm>
            <a:off x="4937760" y="4800600"/>
            <a:ext cx="283392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Strong Agreement</a:t>
            </a:r>
            <a:endParaRPr b="0" lang="en-US" sz="1300" spc="-1" strike="noStrike">
              <a:solidFill>
                <a:srgbClr val="000000"/>
              </a:solidFill>
              <a:latin typeface="Arial"/>
            </a:endParaRPr>
          </a:p>
        </p:txBody>
      </p:sp>
      <p:sp>
        <p:nvSpPr>
          <p:cNvPr id="260" name="TextBox 20"/>
          <p:cNvSpPr/>
          <p:nvPr/>
        </p:nvSpPr>
        <p:spPr>
          <a:xfrm>
            <a:off x="7955280" y="4800600"/>
            <a:ext cx="329112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Expected High Accuracy</a:t>
            </a:r>
            <a:endParaRPr b="0" lang="en-US" sz="1300" spc="-1" strike="noStrike">
              <a:solidFill>
                <a:srgbClr val="000000"/>
              </a:solidFill>
              <a:latin typeface="Arial"/>
            </a:endParaRPr>
          </a:p>
        </p:txBody>
      </p:sp>
      <p:sp>
        <p:nvSpPr>
          <p:cNvPr id="261" name="Rounded Rectangle 21"/>
          <p:cNvSpPr/>
          <p:nvPr/>
        </p:nvSpPr>
        <p:spPr>
          <a:xfrm>
            <a:off x="457200" y="5093280"/>
            <a:ext cx="1299240" cy="319320"/>
          </a:xfrm>
          <a:prstGeom prst="roundRect">
            <a:avLst>
              <a:gd name="adj" fmla="val 50000"/>
            </a:avLst>
          </a:prstGeom>
          <a:solidFill>
            <a:srgbClr val="bdd7e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rIns="0" tIns="18360" bIns="0" anchor="ctr">
            <a:noAutofit/>
          </a:bodyPr>
          <a:p>
            <a:pPr algn="ctr" defTabSz="457200">
              <a:lnSpc>
                <a:spcPct val="100000"/>
              </a:lnSpc>
            </a:pPr>
            <a:r>
              <a:rPr b="1" lang="en-US" sz="1300" spc="-1" strike="noStrike">
                <a:solidFill>
                  <a:srgbClr val="1f3564"/>
                </a:solidFill>
                <a:latin typeface="Calibri"/>
              </a:rPr>
              <a:t>Medium</a:t>
            </a:r>
            <a:endParaRPr b="0" lang="en-US" sz="1300" spc="-1" strike="noStrike">
              <a:solidFill>
                <a:srgbClr val="000000"/>
              </a:solidFill>
              <a:latin typeface="Arial"/>
            </a:endParaRPr>
          </a:p>
        </p:txBody>
      </p:sp>
      <p:sp>
        <p:nvSpPr>
          <p:cNvPr id="262" name="TextBox 22"/>
          <p:cNvSpPr/>
          <p:nvPr/>
        </p:nvSpPr>
        <p:spPr>
          <a:xfrm>
            <a:off x="2468880" y="509328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0.50 - 0.75</a:t>
            </a:r>
            <a:endParaRPr b="0" lang="en-US" sz="1300" spc="-1" strike="noStrike">
              <a:solidFill>
                <a:srgbClr val="000000"/>
              </a:solidFill>
              <a:latin typeface="Arial"/>
            </a:endParaRPr>
          </a:p>
        </p:txBody>
      </p:sp>
      <p:sp>
        <p:nvSpPr>
          <p:cNvPr id="263" name="TextBox 23"/>
          <p:cNvSpPr/>
          <p:nvPr/>
        </p:nvSpPr>
        <p:spPr>
          <a:xfrm>
            <a:off x="4937760" y="5093280"/>
            <a:ext cx="283392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Clear Majority</a:t>
            </a:r>
            <a:endParaRPr b="0" lang="en-US" sz="1300" spc="-1" strike="noStrike">
              <a:solidFill>
                <a:srgbClr val="000000"/>
              </a:solidFill>
              <a:latin typeface="Arial"/>
            </a:endParaRPr>
          </a:p>
        </p:txBody>
      </p:sp>
      <p:sp>
        <p:nvSpPr>
          <p:cNvPr id="264" name="TextBox 24"/>
          <p:cNvSpPr/>
          <p:nvPr/>
        </p:nvSpPr>
        <p:spPr>
          <a:xfrm>
            <a:off x="7955280" y="5093280"/>
            <a:ext cx="329112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Standard Baseline</a:t>
            </a:r>
            <a:endParaRPr b="0" lang="en-US" sz="1300" spc="-1" strike="noStrike">
              <a:solidFill>
                <a:srgbClr val="000000"/>
              </a:solidFill>
              <a:latin typeface="Arial"/>
            </a:endParaRPr>
          </a:p>
        </p:txBody>
      </p:sp>
      <p:sp>
        <p:nvSpPr>
          <p:cNvPr id="265" name="Rounded Rectangle 25"/>
          <p:cNvSpPr/>
          <p:nvPr/>
        </p:nvSpPr>
        <p:spPr>
          <a:xfrm>
            <a:off x="457200" y="5385960"/>
            <a:ext cx="1299240" cy="319320"/>
          </a:xfrm>
          <a:prstGeom prst="roundRect">
            <a:avLst>
              <a:gd name="adj" fmla="val 50000"/>
            </a:avLst>
          </a:prstGeom>
          <a:solidFill>
            <a:srgbClr val="e7e6e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rIns="0" tIns="18360" bIns="0" anchor="ctr">
            <a:noAutofit/>
          </a:bodyPr>
          <a:p>
            <a:pPr algn="ctr" defTabSz="457200">
              <a:lnSpc>
                <a:spcPct val="100000"/>
              </a:lnSpc>
            </a:pPr>
            <a:r>
              <a:rPr b="1" lang="en-US" sz="1300" spc="-1" strike="noStrike">
                <a:solidFill>
                  <a:srgbClr val="555555"/>
                </a:solidFill>
                <a:latin typeface="Calibri"/>
              </a:rPr>
              <a:t>Low</a:t>
            </a:r>
            <a:endParaRPr b="0" lang="en-US" sz="1300" spc="-1" strike="noStrike">
              <a:solidFill>
                <a:srgbClr val="000000"/>
              </a:solidFill>
              <a:latin typeface="Arial"/>
            </a:endParaRPr>
          </a:p>
        </p:txBody>
      </p:sp>
      <p:sp>
        <p:nvSpPr>
          <p:cNvPr id="266" name="TextBox 26"/>
          <p:cNvSpPr/>
          <p:nvPr/>
        </p:nvSpPr>
        <p:spPr>
          <a:xfrm>
            <a:off x="2468880" y="5385960"/>
            <a:ext cx="228528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&lt; 0.50</a:t>
            </a:r>
            <a:endParaRPr b="0" lang="en-US" sz="1300" spc="-1" strike="noStrike">
              <a:solidFill>
                <a:srgbClr val="000000"/>
              </a:solidFill>
              <a:latin typeface="Arial"/>
            </a:endParaRPr>
          </a:p>
        </p:txBody>
      </p:sp>
      <p:sp>
        <p:nvSpPr>
          <p:cNvPr id="267" name="TextBox 27"/>
          <p:cNvSpPr/>
          <p:nvPr/>
        </p:nvSpPr>
        <p:spPr>
          <a:xfrm>
            <a:off x="4937760" y="5385960"/>
            <a:ext cx="283392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No Clear Majority</a:t>
            </a:r>
            <a:endParaRPr b="0" lang="en-US" sz="1300" spc="-1" strike="noStrike">
              <a:solidFill>
                <a:srgbClr val="000000"/>
              </a:solidFill>
              <a:latin typeface="Arial"/>
            </a:endParaRPr>
          </a:p>
        </p:txBody>
      </p:sp>
      <p:sp>
        <p:nvSpPr>
          <p:cNvPr id="268" name="TextBox 28"/>
          <p:cNvSpPr/>
          <p:nvPr/>
        </p:nvSpPr>
        <p:spPr>
          <a:xfrm>
            <a:off x="7955280" y="5385960"/>
            <a:ext cx="3291120" cy="288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300" spc="-1" strike="noStrike">
                <a:solidFill>
                  <a:srgbClr val="1a1a1a"/>
                </a:solidFill>
                <a:latin typeface="Calibri"/>
              </a:rPr>
              <a:t>Expected Lower Accuracy</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Rectangle 1"/>
          <p:cNvSpPr/>
          <p:nvPr/>
        </p:nvSpPr>
        <p:spPr>
          <a:xfrm>
            <a:off x="0" y="0"/>
            <a:ext cx="12191040" cy="1142280"/>
          </a:xfrm>
          <a:prstGeom prst="rect">
            <a:avLst/>
          </a:prstGeom>
          <a:solidFill>
            <a:srgbClr val="1f356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0" name="TextBox 2"/>
          <p:cNvSpPr/>
          <p:nvPr/>
        </p:nvSpPr>
        <p:spPr>
          <a:xfrm>
            <a:off x="411480" y="13716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Calibri"/>
              </a:rPr>
              <a:t>Where We Are &amp; What's Left</a:t>
            </a:r>
            <a:endParaRPr b="0" lang="en-US" sz="3000" spc="-1" strike="noStrike">
              <a:solidFill>
                <a:srgbClr val="000000"/>
              </a:solidFill>
              <a:latin typeface="Arial"/>
            </a:endParaRPr>
          </a:p>
        </p:txBody>
      </p:sp>
      <p:sp>
        <p:nvSpPr>
          <p:cNvPr id="271" name="Rectangle 3"/>
          <p:cNvSpPr/>
          <p:nvPr/>
        </p:nvSpPr>
        <p:spPr>
          <a:xfrm>
            <a:off x="0" y="1143000"/>
            <a:ext cx="12191040" cy="5714280"/>
          </a:xfrm>
          <a:prstGeom prst="rect">
            <a:avLst/>
          </a:prstGeom>
          <a:solidFill>
            <a:srgbClr val="f2f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2" name="Rectangle 4"/>
          <p:cNvSpPr/>
          <p:nvPr/>
        </p:nvSpPr>
        <p:spPr>
          <a:xfrm>
            <a:off x="274320" y="1417320"/>
            <a:ext cx="5119920" cy="410760"/>
          </a:xfrm>
          <a:prstGeom prst="rect">
            <a:avLst/>
          </a:prstGeom>
          <a:solidFill>
            <a:srgbClr val="1e8b4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3" name="TextBox 5"/>
          <p:cNvSpPr/>
          <p:nvPr/>
        </p:nvSpPr>
        <p:spPr>
          <a:xfrm>
            <a:off x="457200" y="1463040"/>
            <a:ext cx="475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ffffff"/>
                </a:solidFill>
                <a:latin typeface="Calibri"/>
              </a:rPr>
              <a:t>✓  </a:t>
            </a:r>
            <a:r>
              <a:rPr b="1" lang="en-US" sz="1400" spc="-1" strike="noStrike">
                <a:solidFill>
                  <a:srgbClr val="ffffff"/>
                </a:solidFill>
                <a:latin typeface="Calibri"/>
              </a:rPr>
              <a:t>Completed</a:t>
            </a:r>
            <a:endParaRPr b="0" lang="en-US" sz="1400" spc="-1" strike="noStrike">
              <a:solidFill>
                <a:srgbClr val="000000"/>
              </a:solidFill>
              <a:latin typeface="Arial"/>
            </a:endParaRPr>
          </a:p>
        </p:txBody>
      </p:sp>
      <p:sp>
        <p:nvSpPr>
          <p:cNvPr id="274" name="Rectangle 6"/>
          <p:cNvSpPr/>
          <p:nvPr/>
        </p:nvSpPr>
        <p:spPr>
          <a:xfrm>
            <a:off x="274320" y="1874520"/>
            <a:ext cx="5119920" cy="2696760"/>
          </a:xfrm>
          <a:prstGeom prst="rect">
            <a:avLst/>
          </a:prstGeom>
          <a:solidFill>
            <a:srgbClr val="e2efda"/>
          </a:solidFill>
          <a:ln w="10160">
            <a:solidFill>
              <a:srgbClr val="1e8b4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5" name="TextBox 7"/>
          <p:cNvSpPr/>
          <p:nvPr/>
        </p:nvSpPr>
        <p:spPr>
          <a:xfrm>
            <a:off x="457200" y="1965960"/>
            <a:ext cx="4845600" cy="280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5c36"/>
                </a:solidFill>
                <a:latin typeface="Calibri"/>
              </a:rPr>
              <a:t>✓  </a:t>
            </a:r>
            <a:r>
              <a:rPr b="0" lang="en-US" sz="1250" spc="-1" strike="noStrike">
                <a:solidFill>
                  <a:srgbClr val="1a5c36"/>
                </a:solidFill>
                <a:latin typeface="Calibri"/>
              </a:rPr>
              <a:t>Exploratory Data Analysis</a:t>
            </a:r>
            <a:endParaRPr b="0" lang="en-US" sz="1250" spc="-1" strike="noStrike">
              <a:solidFill>
                <a:srgbClr val="000000"/>
              </a:solidFill>
              <a:latin typeface="Arial"/>
            </a:endParaRPr>
          </a:p>
        </p:txBody>
      </p:sp>
      <p:sp>
        <p:nvSpPr>
          <p:cNvPr id="276" name="TextBox 8"/>
          <p:cNvSpPr/>
          <p:nvPr/>
        </p:nvSpPr>
        <p:spPr>
          <a:xfrm>
            <a:off x="457200" y="2468880"/>
            <a:ext cx="4845600" cy="280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5c36"/>
                </a:solidFill>
                <a:latin typeface="Calibri"/>
              </a:rPr>
              <a:t>✓  </a:t>
            </a:r>
            <a:r>
              <a:rPr b="0" lang="en-US" sz="1250" spc="-1" strike="noStrike">
                <a:solidFill>
                  <a:srgbClr val="1a5c36"/>
                </a:solidFill>
                <a:latin typeface="Calibri"/>
              </a:rPr>
              <a:t>Text Classification  (RoBERTa) -  Macro F1: 0.6519</a:t>
            </a:r>
            <a:endParaRPr b="0" lang="en-US" sz="1250" spc="-1" strike="noStrike">
              <a:solidFill>
                <a:srgbClr val="000000"/>
              </a:solidFill>
              <a:latin typeface="Arial"/>
            </a:endParaRPr>
          </a:p>
        </p:txBody>
      </p:sp>
      <p:sp>
        <p:nvSpPr>
          <p:cNvPr id="277" name="TextBox 9"/>
          <p:cNvSpPr/>
          <p:nvPr/>
        </p:nvSpPr>
        <p:spPr>
          <a:xfrm>
            <a:off x="457200" y="2971800"/>
            <a:ext cx="4845600" cy="280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5c36"/>
                </a:solidFill>
                <a:latin typeface="Calibri"/>
              </a:rPr>
              <a:t>✓  </a:t>
            </a:r>
            <a:r>
              <a:rPr b="0" lang="en-US" sz="1250" spc="-1" strike="noStrike">
                <a:solidFill>
                  <a:srgbClr val="1a5c36"/>
                </a:solidFill>
                <a:latin typeface="Calibri"/>
              </a:rPr>
              <a:t>Audio Classification  (Wav2Vec2)  -  Macro F1: 0.6324</a:t>
            </a:r>
            <a:endParaRPr b="0" lang="en-US" sz="1250" spc="-1" strike="noStrike">
              <a:solidFill>
                <a:srgbClr val="000000"/>
              </a:solidFill>
              <a:latin typeface="Arial"/>
            </a:endParaRPr>
          </a:p>
        </p:txBody>
      </p:sp>
      <p:sp>
        <p:nvSpPr>
          <p:cNvPr id="278" name="TextBox 10"/>
          <p:cNvSpPr/>
          <p:nvPr/>
        </p:nvSpPr>
        <p:spPr>
          <a:xfrm>
            <a:off x="457200" y="3474720"/>
            <a:ext cx="4845600" cy="280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5c36"/>
                </a:solidFill>
                <a:latin typeface="Calibri"/>
              </a:rPr>
              <a:t>✓  </a:t>
            </a:r>
            <a:r>
              <a:rPr b="0" lang="en-US" sz="1250" spc="-1" strike="noStrike">
                <a:solidFill>
                  <a:srgbClr val="1a5c36"/>
                </a:solidFill>
                <a:latin typeface="Calibri"/>
              </a:rPr>
              <a:t>Late Fusion  -  Macro F1: 0.8173</a:t>
            </a:r>
            <a:endParaRPr b="0" lang="en-US" sz="1250" spc="-1" strike="noStrike">
              <a:solidFill>
                <a:srgbClr val="000000"/>
              </a:solidFill>
              <a:latin typeface="Arial"/>
            </a:endParaRPr>
          </a:p>
        </p:txBody>
      </p:sp>
      <p:sp>
        <p:nvSpPr>
          <p:cNvPr id="279" name="TextBox 11"/>
          <p:cNvSpPr/>
          <p:nvPr/>
        </p:nvSpPr>
        <p:spPr>
          <a:xfrm>
            <a:off x="457200" y="3977640"/>
            <a:ext cx="4845600" cy="280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1a5c36"/>
                </a:solidFill>
                <a:latin typeface="Calibri"/>
              </a:rPr>
              <a:t>✓  </a:t>
            </a:r>
            <a:r>
              <a:rPr b="0" lang="en-US" sz="1250" spc="-1" strike="noStrike">
                <a:solidFill>
                  <a:srgbClr val="1a5c36"/>
                </a:solidFill>
                <a:latin typeface="Calibri"/>
              </a:rPr>
              <a:t>Project report (draft)</a:t>
            </a:r>
            <a:endParaRPr b="0" lang="en-US" sz="1250" spc="-1" strike="noStrike">
              <a:solidFill>
                <a:srgbClr val="000000"/>
              </a:solidFill>
              <a:latin typeface="Arial"/>
            </a:endParaRPr>
          </a:p>
        </p:txBody>
      </p:sp>
      <p:sp>
        <p:nvSpPr>
          <p:cNvPr id="280" name="Rectangle 12"/>
          <p:cNvSpPr/>
          <p:nvPr/>
        </p:nvSpPr>
        <p:spPr>
          <a:xfrm>
            <a:off x="5669280" y="1417320"/>
            <a:ext cx="3108240" cy="410760"/>
          </a:xfrm>
          <a:prstGeom prst="rect">
            <a:avLst/>
          </a:prstGeom>
          <a:solidFill>
            <a:srgbClr val="c55a1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1" name="TextBox 13"/>
          <p:cNvSpPr/>
          <p:nvPr/>
        </p:nvSpPr>
        <p:spPr>
          <a:xfrm>
            <a:off x="5806440" y="1463040"/>
            <a:ext cx="283392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ffffff"/>
                </a:solidFill>
                <a:latin typeface="Calibri"/>
              </a:rPr>
              <a:t>⏳  </a:t>
            </a:r>
            <a:r>
              <a:rPr b="1" lang="en-US" sz="1400" spc="-1" strike="noStrike">
                <a:solidFill>
                  <a:srgbClr val="ffffff"/>
                </a:solidFill>
                <a:latin typeface="Calibri"/>
              </a:rPr>
              <a:t>In Progress</a:t>
            </a:r>
            <a:endParaRPr b="0" lang="en-US" sz="1400" spc="-1" strike="noStrike">
              <a:solidFill>
                <a:srgbClr val="000000"/>
              </a:solidFill>
              <a:latin typeface="Arial"/>
            </a:endParaRPr>
          </a:p>
        </p:txBody>
      </p:sp>
      <p:sp>
        <p:nvSpPr>
          <p:cNvPr id="282" name="Rectangle 14"/>
          <p:cNvSpPr/>
          <p:nvPr/>
        </p:nvSpPr>
        <p:spPr>
          <a:xfrm>
            <a:off x="5669280" y="1874520"/>
            <a:ext cx="3108240" cy="822240"/>
          </a:xfrm>
          <a:prstGeom prst="rect">
            <a:avLst/>
          </a:prstGeom>
          <a:solidFill>
            <a:srgbClr val="fce4d6"/>
          </a:solidFill>
          <a:ln w="10160">
            <a:solidFill>
              <a:srgbClr val="c55a1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3" name="TextBox 15"/>
          <p:cNvSpPr/>
          <p:nvPr/>
        </p:nvSpPr>
        <p:spPr>
          <a:xfrm>
            <a:off x="5806440" y="1965960"/>
            <a:ext cx="2925360" cy="470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50" spc="-1" strike="noStrike">
                <a:solidFill>
                  <a:srgbClr val="7a3508"/>
                </a:solidFill>
                <a:latin typeface="Calibri"/>
              </a:rPr>
              <a:t>Intermediate Fusion training  (~9 hrs, needs to run to completion)</a:t>
            </a:r>
            <a:endParaRPr b="0" lang="en-US" sz="1250" spc="-1" strike="noStrike">
              <a:solidFill>
                <a:srgbClr val="000000"/>
              </a:solidFill>
              <a:latin typeface="Arial"/>
            </a:endParaRPr>
          </a:p>
        </p:txBody>
      </p:sp>
      <p:sp>
        <p:nvSpPr>
          <p:cNvPr id="284" name="Rectangle 16"/>
          <p:cNvSpPr/>
          <p:nvPr/>
        </p:nvSpPr>
        <p:spPr>
          <a:xfrm>
            <a:off x="9052560" y="1417320"/>
            <a:ext cx="2833920" cy="410760"/>
          </a:xfrm>
          <a:prstGeom prst="rect">
            <a:avLst/>
          </a:prstGeom>
          <a:solidFill>
            <a:srgbClr val="4444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5" name="TextBox 17"/>
          <p:cNvSpPr/>
          <p:nvPr/>
        </p:nvSpPr>
        <p:spPr>
          <a:xfrm>
            <a:off x="9189720" y="1463040"/>
            <a:ext cx="25596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ffffff"/>
                </a:solidFill>
                <a:latin typeface="Calibri"/>
              </a:rPr>
              <a:t>→  </a:t>
            </a:r>
            <a:r>
              <a:rPr b="1" lang="en-US" sz="1400" spc="-1" strike="noStrike">
                <a:solidFill>
                  <a:srgbClr val="ffffff"/>
                </a:solidFill>
                <a:latin typeface="Calibri"/>
              </a:rPr>
              <a:t>To Do</a:t>
            </a:r>
            <a:endParaRPr b="0" lang="en-US" sz="1400" spc="-1" strike="noStrike">
              <a:solidFill>
                <a:srgbClr val="000000"/>
              </a:solidFill>
              <a:latin typeface="Arial"/>
            </a:endParaRPr>
          </a:p>
        </p:txBody>
      </p:sp>
      <p:sp>
        <p:nvSpPr>
          <p:cNvPr id="286" name="Rectangle 18"/>
          <p:cNvSpPr/>
          <p:nvPr/>
        </p:nvSpPr>
        <p:spPr>
          <a:xfrm>
            <a:off x="9052560" y="1874520"/>
            <a:ext cx="2833920" cy="1828080"/>
          </a:xfrm>
          <a:prstGeom prst="rect">
            <a:avLst/>
          </a:prstGeom>
          <a:solidFill>
            <a:srgbClr val="ffffff"/>
          </a:solidFill>
          <a:ln w="10160">
            <a:solidFill>
              <a:srgbClr val="44444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 name="TextBox 19"/>
          <p:cNvSpPr/>
          <p:nvPr/>
        </p:nvSpPr>
        <p:spPr>
          <a:xfrm>
            <a:off x="9189720" y="1965960"/>
            <a:ext cx="265104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444444"/>
                </a:solidFill>
                <a:latin typeface="Calibri"/>
              </a:rPr>
              <a:t>→  </a:t>
            </a:r>
            <a:r>
              <a:rPr b="0" lang="en-US" sz="1200" spc="-1" strike="noStrike">
                <a:solidFill>
                  <a:srgbClr val="444444"/>
                </a:solidFill>
                <a:latin typeface="Calibri"/>
              </a:rPr>
              <a:t>Add intermediate fusion results to report</a:t>
            </a:r>
            <a:endParaRPr b="0" lang="en-US" sz="1200" spc="-1" strike="noStrike">
              <a:solidFill>
                <a:srgbClr val="000000"/>
              </a:solidFill>
              <a:latin typeface="Arial"/>
            </a:endParaRPr>
          </a:p>
        </p:txBody>
      </p:sp>
      <p:sp>
        <p:nvSpPr>
          <p:cNvPr id="288" name="TextBox 20"/>
          <p:cNvSpPr/>
          <p:nvPr/>
        </p:nvSpPr>
        <p:spPr>
          <a:xfrm>
            <a:off x="9189720" y="2514600"/>
            <a:ext cx="265104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444444"/>
                </a:solidFill>
                <a:latin typeface="Calibri"/>
              </a:rPr>
              <a:t>→  </a:t>
            </a:r>
            <a:r>
              <a:rPr b="0" lang="en-US" sz="1200" spc="-1" strike="noStrike">
                <a:solidFill>
                  <a:srgbClr val="444444"/>
                </a:solidFill>
                <a:latin typeface="Calibri"/>
              </a:rPr>
              <a:t>Export final report to PDF</a:t>
            </a:r>
            <a:endParaRPr b="0" lang="en-US" sz="1200" spc="-1" strike="noStrike">
              <a:solidFill>
                <a:srgbClr val="000000"/>
              </a:solidFill>
              <a:latin typeface="Arial"/>
            </a:endParaRPr>
          </a:p>
        </p:txBody>
      </p:sp>
      <p:sp>
        <p:nvSpPr>
          <p:cNvPr id="289" name="TextBox 21"/>
          <p:cNvSpPr/>
          <p:nvPr/>
        </p:nvSpPr>
        <p:spPr>
          <a:xfrm>
            <a:off x="9189720" y="3063240"/>
            <a:ext cx="265104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444444"/>
                </a:solidFill>
                <a:latin typeface="Calibri"/>
              </a:rPr>
              <a:t>→  </a:t>
            </a:r>
            <a:r>
              <a:rPr b="0" lang="en-US" sz="1200" spc="-1" strike="noStrike">
                <a:solidFill>
                  <a:srgbClr val="444444"/>
                </a:solidFill>
                <a:latin typeface="Calibri"/>
              </a:rPr>
              <a:t>Final presentation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18</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2026-06-17T22:50:35Z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