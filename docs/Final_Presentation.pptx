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research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Neither words nor tone alone tell the full story. Both signals are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IEMOCAP: every utterance has raw audio + text transcript + emotion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Grouped for learnable classes. Imbalance drives metric choice and loss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EDA: audio = arousal signal, text = valence signal. Theoretical basis for 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LOSO: 4 speakers in Session 5 are completely unseen at training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RoBERTa: 160GB pre-training. Fine-tuned on transcriptions. Neutral is the weak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Wav2Vec2: raw waveform input. Similar Macro F1 to text but different per-class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 fails on tone; audio fails on meaning. Non-overlapping errors → fusion helps.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Weighted average of score vectors. No new training needed. Grid search finds optimal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search peak at α=0.60. Plateau in [0.5,0.7]. Neutral gains most from text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result: +0.06 Macro F1 gain on 2,170 test utterances. Zero extra training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Neutral improves most because the absence of signal in both channels is itself a cue.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Sum-then-Argmax: Δ ≈ 0 → results stable. Consensus tier: models fail where humans disagree.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is yes. Text and audio encode different aspects of emotion. When both agree, confidence is high. When they disagree, even that is informative.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per-class breakdown for all three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Hyperparameter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6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Multimodal Speech Emotion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8"/>
            <a:ext cx="11274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90CDF4"/>
                </a:solidFill>
                <a:latin typeface="Calibri"/>
              </a:rPr>
              <a:t>"Does combining text and audio improve emotion classification
beyond either modality alone?"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493008"/>
            <a:ext cx="2514600" cy="914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Text
Transcription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837176" y="3493008"/>
            <a:ext cx="2514600" cy="9144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Audio
Waveform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8641080" y="3493008"/>
            <a:ext cx="2468880" cy="914400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Emotion
Label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2736" y="3657600"/>
            <a:ext cx="1170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90CDF4"/>
                </a:solidFill>
                <a:latin typeface="Calibri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3657600"/>
            <a:ext cx="11155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90CDF4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8032"/>
            <a:ext cx="11274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2E8F0"/>
                </a:solidFill>
                <a:latin typeface="Calibri"/>
              </a:rPr>
              <a:t>Chen Shmila  ·  Alma Hova  ·  Ohad Lavie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Bar-Ilan University  ·  Machine Learning Projects  ·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Emotion is expressed through both words and 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2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1308"/>
            <a:ext cx="5454396" cy="2651760"/>
          </a:xfrm>
          <a:prstGeom prst="rect">
            <a:avLst/>
          </a:prstGeom>
          <a:solidFill>
            <a:srgbClr val="F0F4F8"/>
          </a:solidFill>
          <a:ln w="95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300" b="1">
                <a:solidFill>
                  <a:srgbClr val="2B6CB0"/>
                </a:solidFill>
                <a:latin typeface="Calibri"/>
              </a:rPr>
              <a:t>TEXT ALONE</a:t>
            </a:r>
          </a:p>
          <a:p>
            <a:pPr algn="l"/>
            <a:r>
              <a:rPr sz="1500" b="0">
                <a:solidFill>
                  <a:srgbClr val="1A202C"/>
                </a:solidFill>
                <a:latin typeface="Calibri"/>
              </a:rPr>
              <a:t>"I can't believe you did that."</a:t>
            </a:r>
          </a:p>
          <a:p>
            <a:pPr algn="l"/>
            <a:r>
              <a:rPr sz="8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→  Ambiguous: angry? sarcastic? surprised?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21308"/>
            <a:ext cx="5454396" cy="2651760"/>
          </a:xfrm>
          <a:prstGeom prst="rect">
            <a:avLst/>
          </a:prstGeom>
          <a:solidFill>
            <a:srgbClr val="F0F4F8"/>
          </a:solidFill>
          <a:ln w="9525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300" b="1">
                <a:solidFill>
                  <a:srgbClr val="6B46C1"/>
                </a:solidFill>
                <a:latin typeface="Calibri"/>
              </a:rPr>
              <a:t>AUDIO ALONE</a:t>
            </a:r>
          </a:p>
          <a:p>
            <a:pPr algn="l"/>
            <a:r>
              <a:rPr sz="1500" b="0">
                <a:solidFill>
                  <a:srgbClr val="1A202C"/>
                </a:solidFill>
                <a:latin typeface="Calibri"/>
              </a:rPr>
              <a:t>Sharp rising pitch · fast rate · high energy</a:t>
            </a:r>
          </a:p>
          <a:p>
            <a:pPr algn="l"/>
            <a:r>
              <a:rPr sz="8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→  Ambiguous: can't identify the specific emotion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55948"/>
            <a:ext cx="11274552" cy="566928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TEXT + AUDIO together  →  clear, confident emotion signal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05756"/>
            <a:ext cx="11274552" cy="7772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Applications:  mental health monitoring  ·  voice assistants  ·  call center analytics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 system that ignores either channel is leaving information on the 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Our dataset: 10,039 labeled utterances from 10 speakers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3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39596"/>
            <a:ext cx="5454396" cy="411480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Dataset at a glance</a:t>
            </a:r>
          </a:p>
          <a:p>
            <a:pPr algn="l"/>
            <a:r>
              <a:rPr sz="6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600" b="1">
                <a:solidFill>
                  <a:srgbClr val="1A202C"/>
                </a:solidFill>
                <a:latin typeface="Calibri"/>
              </a:rPr>
              <a:t>10,039   utterances</a:t>
            </a:r>
          </a:p>
          <a:p>
            <a:pPr algn="l"/>
            <a:r>
              <a:rPr sz="1600" b="1">
                <a:solidFill>
                  <a:srgbClr val="1A202C"/>
                </a:solidFill>
                <a:latin typeface="Calibri"/>
              </a:rPr>
              <a:t>10           speakers (5F + 5M)</a:t>
            </a:r>
          </a:p>
          <a:p>
            <a:pPr algn="l"/>
            <a:r>
              <a:rPr sz="1600" b="1">
                <a:solidFill>
                  <a:srgbClr val="1A202C"/>
                </a:solidFill>
                <a:latin typeface="Calibri"/>
              </a:rPr>
              <a:t>5             dyadic sessions</a:t>
            </a:r>
          </a:p>
          <a:p>
            <a:pPr algn="l"/>
            <a:r>
              <a:rPr sz="1600" b="1">
                <a:solidFill>
                  <a:srgbClr val="1A202C"/>
                </a:solidFill>
                <a:latin typeface="Calibri"/>
              </a:rPr>
              <a:t>10           original emotion labels</a:t>
            </a:r>
          </a:p>
          <a:p>
            <a:pPr algn="l"/>
            <a:r>
              <a:rPr sz="6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Text transcript AND raw audio for every utterance</a:t>
            </a:r>
          </a:p>
          <a:p>
            <a:pPr algn="l"/>
            <a:r>
              <a:rPr sz="1100" b="0">
                <a:solidFill>
                  <a:srgbClr val="718096"/>
                </a:solidFill>
                <a:latin typeface="Calibri"/>
              </a:rPr>
              <a:t>Source: Busso et al. (2008) · HuggingFace: AbstractTTS/IEMOCAP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39596"/>
            <a:ext cx="5454396" cy="411480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One utterance contains:</a:t>
            </a:r>
          </a:p>
          <a:p>
            <a:pPr algn="l"/>
            <a:r>
              <a:rPr sz="8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400" b="1">
                <a:solidFill>
                  <a:srgbClr val="2B6CB0"/>
                </a:solidFill>
                <a:latin typeface="Calibri"/>
              </a:rPr>
              <a:t>Text transcript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"How could you say that to me"</a:t>
            </a:r>
          </a:p>
          <a:p>
            <a:pPr algn="l"/>
            <a:r>
              <a:rPr sz="8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400" b="1">
                <a:solidFill>
                  <a:srgbClr val="6B46C1"/>
                </a:solidFill>
                <a:latin typeface="Calibri"/>
              </a:rPr>
              <a:t>Raw audio file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16 kHz waveform, up to 8.5 seconds</a:t>
            </a:r>
          </a:p>
          <a:p>
            <a:pPr algn="l"/>
            <a:r>
              <a:rPr sz="8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400" b="1">
                <a:solidFill>
                  <a:srgbClr val="C05621"/>
                </a:solidFill>
                <a:latin typeface="Calibri"/>
              </a:rPr>
              <a:t>Emotion label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Scored by 4+ human annotators + soft probability scores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Every sample has both modalities — ideal for comparing text-only, audio-only, and combined.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We grouped 10 emotions into 3 classes — and found severe class imbalance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4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39596"/>
            <a:ext cx="6217920" cy="126187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NEGATIVE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angry · frustrated · fear · sad · disgust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38628"/>
            <a:ext cx="6217920" cy="126187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POSITIVE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happy · excited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37660"/>
            <a:ext cx="6217920" cy="126187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NEUTRAL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neutral · surprise · other</a:t>
            </a:r>
          </a:p>
        </p:txBody>
      </p:sp>
      <p:pic>
        <p:nvPicPr>
          <p:cNvPr id="10" name="Picture 9" descr="clas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431036"/>
            <a:ext cx="4814123" cy="25603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Severe imbalance (55% Negative, 18% Neutral) → Macro F1 as metric + class-weighted loss.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EDA: text and audio capture different emotional dimensions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5 / 15</a:t>
            </a:r>
          </a:p>
        </p:txBody>
      </p:sp>
      <p:pic>
        <p:nvPicPr>
          <p:cNvPr id="7" name="Picture 6" descr="eda_acou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3876"/>
            <a:ext cx="11237551" cy="3566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4997195"/>
            <a:ext cx="5454396" cy="685800"/>
          </a:xfrm>
          <a:prstGeom prst="rect">
            <a:avLst/>
          </a:prstGeom>
          <a:solidFill>
            <a:srgbClr val="F0F4F8"/>
          </a:solidFill>
          <a:ln w="9525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Audio captures AROUSAL — angry &amp; excited speech has clearly higher pitch and energy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7356" y="4997195"/>
            <a:ext cx="5454396" cy="685800"/>
          </a:xfrm>
          <a:prstGeom prst="rect">
            <a:avLst/>
          </a:prstGeom>
          <a:solidFill>
            <a:srgbClr val="F0F4F8"/>
          </a:solidFill>
          <a:ln w="952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Text captures VALENCE — distinguishing happy vs. angry requires understanding the words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Complementary dimensions: text ≈ valence · audio ≈ arousal. Combining both should help.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Preprocessing and evaluation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6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3876"/>
            <a:ext cx="5454396" cy="416052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Preprocessing steps</a:t>
            </a:r>
          </a:p>
          <a:p>
            <a:pPr algn="l"/>
            <a:r>
              <a:rPr sz="6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No missing values — no cleaning needed</a:t>
            </a:r>
          </a:p>
          <a:p>
            <a:pPr algn="l"/>
            <a:r>
              <a:rPr sz="4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Label grouping:  10 original classes → 3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(Negative / Positive / Neutral)</a:t>
            </a:r>
          </a:p>
          <a:p>
            <a:pPr algn="l"/>
            <a:r>
              <a:rPr sz="4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Text:  RoBERTa tokenizer  (max 128 tokens)</a:t>
            </a:r>
          </a:p>
          <a:p>
            <a:pPr algn="l"/>
            <a:r>
              <a:rPr sz="4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Audio:  load raw waveform, pad/truncate to 8.5 s at 16 kHz</a:t>
            </a:r>
          </a:p>
          <a:p>
            <a:pPr algn="l"/>
            <a:r>
              <a:rPr sz="4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Class-weighted cross-entropy loss  wc = N / (K · Nc)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6" y="1293876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659"/>
                </a:solidFill>
                <a:latin typeface="Calibri"/>
              </a:rPr>
              <a:t>Train / validation / test split: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7356" y="1705356"/>
            <a:ext cx="5454396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TRAIN  (Sessions 1–4)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8,014 utterances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7356" y="2756916"/>
            <a:ext cx="5454396" cy="68580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VALIDATION  (10% of train, stratified)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3579876"/>
            <a:ext cx="5454396" cy="9601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TEST  — Session 5  ✦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2,170 utterances · 4 speakers never seen in 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7356" y="4677156"/>
            <a:ext cx="5454396" cy="749808"/>
          </a:xfrm>
          <a:prstGeom prst="rect">
            <a:avLst/>
          </a:prstGeom>
          <a:solidFill>
            <a:srgbClr val="F0F4F8"/>
          </a:solidFill>
          <a:ln w="9525">
            <a:solidFill>
              <a:srgbClr val="1E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1A202C"/>
                </a:solidFill>
                <a:latin typeface="Calibri"/>
              </a:rPr>
              <a:t>Primary metric:  MACRO F1
Equal weight to each class regardless of frequency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✦  Speaker-independent evaluation — the hardest and most honest test of generalization.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 1: RoBERTa reads the words and achieves Macro F1 = 0.6519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7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3876"/>
            <a:ext cx="6217920" cy="411480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How RoBERTa works</a:t>
            </a:r>
          </a:p>
          <a:p>
            <a:pPr algn="l"/>
            <a:r>
              <a:rPr sz="6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Architecture:  roberta-base, 12 transformer layers, 125M parameters</a:t>
            </a:r>
          </a:p>
          <a:p>
            <a:pPr algn="l"/>
            <a:r>
              <a:rPr sz="4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Pre-training:  MLM on 160 GB text — already understands that 'infuriating' is negative</a:t>
            </a:r>
          </a:p>
          <a:p>
            <a:pPr algn="l"/>
            <a:r>
              <a:rPr sz="4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Fine-tuning:  LR = 2×10⁻⁵, batch = 32, class-weighted cross-entropy</a:t>
            </a:r>
          </a:p>
          <a:p>
            <a:pPr algn="l"/>
            <a:r>
              <a:rPr sz="4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Input:  text transcript  →  tokenizer  →  [CLS] vector  →  linear head</a:t>
            </a:r>
          </a:p>
          <a:p>
            <a:pPr algn="l"/>
            <a:r>
              <a:rPr sz="4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Best checkpoint:  epoch 4 of 7  (early stopping on val Macro F1)</a:t>
            </a:r>
          </a:p>
          <a:p>
            <a:pPr algn="l"/>
            <a:r>
              <a:rPr sz="6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718096"/>
                </a:solidFill>
                <a:latin typeface="Calibri"/>
              </a:rPr>
              <a:t>Weakness:  Neutral has no distinctive words → text alone struggles</a:t>
            </a:r>
          </a:p>
        </p:txBody>
      </p:sp>
      <p:pic>
        <p:nvPicPr>
          <p:cNvPr id="8" name="Picture 7" descr="roberta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293876"/>
            <a:ext cx="4955858" cy="3931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RoBERTa:  Accuracy = 0.6793  ·  Macro F1 = 0.6519  ·  Neutral F1 = 0.48 (weakest class)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 2: Wav2Vec2 listens to the audio and achieves Macro F1 = 0.6403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8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3876"/>
            <a:ext cx="6217920" cy="411480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How Wav2Vec2 works</a:t>
            </a:r>
          </a:p>
          <a:p>
            <a:pPr algn="l"/>
            <a:r>
              <a:rPr sz="6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Architecture:  wav2vec2-base, 12 transformer layers, 94M parameters</a:t>
            </a:r>
          </a:p>
          <a:p>
            <a:pPr algn="l"/>
            <a:r>
              <a:rPr sz="4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Pre-training:  masked audio prediction on 960h unlabeled speech</a:t>
            </a:r>
          </a:p>
          <a:p>
            <a:pPr algn="l"/>
            <a:r>
              <a:rPr sz="4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Input:  raw 16kHz waveform (max 8.5 s = 136,000 samples)  →  conv encoder (frozen)  →  transformer  →  mean pool  →  linear head</a:t>
            </a:r>
          </a:p>
          <a:p>
            <a:pPr algn="l"/>
            <a:r>
              <a:rPr sz="4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Fine-tuning:  LR = 2×10⁻⁵, batch = 8, conv encoder kept frozen</a:t>
            </a:r>
          </a:p>
          <a:p>
            <a:pPr algn="l"/>
            <a:r>
              <a:rPr sz="600" b="0">
                <a:solidFill>
                  <a:srgbClr val="1A202C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718096"/>
                </a:solidFill>
                <a:latin typeface="Calibri"/>
              </a:rPr>
              <a:t>Key finding:  Negative F1 = 0.78 (&gt; RoBERTa's 0.76) — audio is stronger at detecting high-arousal angry/frustrated speech</a:t>
            </a:r>
          </a:p>
        </p:txBody>
      </p:sp>
      <p:pic>
        <p:nvPicPr>
          <p:cNvPr id="8" name="Picture 7" descr="wav2vec2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293876"/>
            <a:ext cx="4955858" cy="3931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Wav2Vec2:  Accuracy = 0.6880  ·  Macro F1 = 0.6403  ·  Different per-class strengths than 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two models make different mistakes — that is why combining them helps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9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39596"/>
            <a:ext cx="5454396" cy="1920240"/>
          </a:xfrm>
          <a:prstGeom prst="rect">
            <a:avLst/>
          </a:prstGeom>
          <a:solidFill>
            <a:srgbClr val="F0F4F8"/>
          </a:solidFill>
          <a:ln w="95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400" b="1">
                <a:solidFill>
                  <a:srgbClr val="2B6CB0"/>
                </a:solidFill>
                <a:latin typeface="Calibri"/>
              </a:rPr>
              <a:t>Text ✓ / Audio ✗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"I hate everything about this" — said flatly.</a:t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Text reads 'anger'.  Audio hears 'calm'.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39596"/>
            <a:ext cx="5454396" cy="1920240"/>
          </a:xfrm>
          <a:prstGeom prst="rect">
            <a:avLst/>
          </a:prstGeom>
          <a:solidFill>
            <a:srgbClr val="F0F4F8"/>
          </a:solidFill>
          <a:ln w="9525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400" b="1">
                <a:solidFill>
                  <a:srgbClr val="6B46C1"/>
                </a:solidFill>
                <a:latin typeface="Calibri"/>
              </a:rPr>
              <a:t>Audio ✓ / Text ✗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"Fine, whatever." — said with sharp rising anger.</a:t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Audio hears anger.  Text reads 'neutral'.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42716"/>
            <a:ext cx="5454396" cy="1920240"/>
          </a:xfrm>
          <a:prstGeom prst="rect">
            <a:avLst/>
          </a:prstGeom>
          <a:solidFill>
            <a:srgbClr val="F0F4F8"/>
          </a:solidFill>
          <a:ln w="952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400" b="1">
                <a:solidFill>
                  <a:srgbClr val="276749"/>
                </a:solidFill>
                <a:latin typeface="Calibri"/>
              </a:rPr>
              <a:t>Both ✓ — high confidence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Clear emotional words AND distinctive prosody.</a:t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Both channels agree → confident prediction.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7356" y="3442716"/>
            <a:ext cx="5454396" cy="1920240"/>
          </a:xfrm>
          <a:prstGeom prst="rect">
            <a:avLst/>
          </a:prstGeom>
          <a:solidFill>
            <a:srgbClr val="F0F4F8"/>
          </a:solidFill>
          <a:ln w="9525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400" b="1">
                <a:solidFill>
                  <a:srgbClr val="718096"/>
                </a:solidFill>
                <a:latin typeface="Calibri"/>
              </a:rPr>
              <a:t>Both ✗ — genuinely ambiguous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Vague words + flat tone.  Human annotators also disagreed.</a:t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Not fixable by fusion — an honest failure case.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Non-overlapping errors are the condition for fusion to help — and the data shows they 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Late Fusion: a weighted sum of output logits — no extra training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10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5316"/>
            <a:ext cx="6217920" cy="7772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RoBERTa output  →  [neg, pos, neu] scores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63724"/>
            <a:ext cx="6217920" cy="77724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Wav2Vec2 output  →  [neg, pos, neu] scores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42132"/>
            <a:ext cx="6217920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Weighted sum:  α × text + (1−α) × audio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20540"/>
            <a:ext cx="6217920" cy="777240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Argmax  →  Emotion 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6255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  <a:latin typeface="Calibri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14096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  <a:latin typeface="Calibri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11937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1385316"/>
            <a:ext cx="4690872" cy="1188720"/>
          </a:xfrm>
          <a:prstGeom prst="rect">
            <a:avLst/>
          </a:prstGeom>
          <a:solidFill>
            <a:srgbClr val="F0F4F8"/>
          </a:solidFill>
          <a:ln w="9525">
            <a:solidFill>
              <a:srgbClr val="1E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200" b="1">
                <a:solidFill>
                  <a:srgbClr val="1E3659"/>
                </a:solidFill>
                <a:latin typeface="Calibri"/>
              </a:rPr>
              <a:t>ŷ_fused  =  α · ŷ_text  +  (1−α) · ŷ_audio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2756916"/>
            <a:ext cx="4690872" cy="960120"/>
          </a:xfrm>
          <a:prstGeom prst="rect">
            <a:avLst/>
          </a:prstGeom>
          <a:solidFill>
            <a:srgbClr val="F0F4F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No extra training required
Uses already-trained checkpoints as-is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3899916"/>
            <a:ext cx="4690872" cy="960120"/>
          </a:xfrm>
          <a:prstGeom prst="rect">
            <a:avLst/>
          </a:prstGeom>
          <a:solidFill>
            <a:srgbClr val="F0F4F8"/>
          </a:solidFill>
          <a:ln w="9525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One parameter α — found by systematic grid search from 0.0 to 1.0 (step 0.05)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4860036"/>
            <a:ext cx="4690872" cy="530352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4A5568"/>
                </a:solidFill>
                <a:latin typeface="Calibri"/>
              </a:rPr>
              <a:t>α = 0 → pure audio   ·   α = 1 → pure 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Late fusion is training-free: two models + one parameter = stronger combined prediction.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weight search shows text matters more — but both channels are essential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11 / 15</a:t>
            </a:r>
          </a:p>
        </p:txBody>
      </p:sp>
      <p:pic>
        <p:nvPicPr>
          <p:cNvPr id="7" name="Picture 6" descr="fig_weight_search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24" y="1293876"/>
            <a:ext cx="5174278" cy="3429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4860036"/>
            <a:ext cx="3514344" cy="548640"/>
          </a:xfrm>
          <a:prstGeom prst="rect">
            <a:avLst/>
          </a:prstGeom>
          <a:solidFill>
            <a:srgbClr val="F0F4F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1A202C"/>
                </a:solidFill>
                <a:latin typeface="Calibri"/>
              </a:rPr>
              <a:t>Best α = 0.60
Text 60% · Audio 40%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7304" y="4860036"/>
            <a:ext cx="3514344" cy="548640"/>
          </a:xfrm>
          <a:prstGeom prst="rect">
            <a:avLst/>
          </a:prstGeom>
          <a:solidFill>
            <a:srgbClr val="F0F4F8"/>
          </a:solidFill>
          <a:ln w="95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1A202C"/>
                </a:solidFill>
                <a:latin typeface="Calibri"/>
              </a:rPr>
              <a:t>Plateau region
Robust for α ∈ [0.5, 0.7]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17408" y="4860036"/>
            <a:ext cx="3514344" cy="548640"/>
          </a:xfrm>
          <a:prstGeom prst="rect">
            <a:avLst/>
          </a:prstGeom>
          <a:solidFill>
            <a:srgbClr val="F0F4F8"/>
          </a:solidFill>
          <a:ln w="952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0">
                <a:solidFill>
                  <a:srgbClr val="1A202C"/>
                </a:solidFill>
                <a:latin typeface="Calibri"/>
              </a:rPr>
              <a:t>Sanity check ✓
α=0→0.6403  α=1→0.6519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Best α = 0.60  →  Macro F1 = 0.7104  (+0.059 over text-only, +0.070 over audio-only)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Fusion achieves Macro F1 = 0.71 — a +0.06 improvement over text-only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12 / 15</a:t>
            </a:r>
          </a:p>
        </p:txBody>
      </p:sp>
      <p:pic>
        <p:nvPicPr>
          <p:cNvPr id="7" name="Picture 6" descr="mai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3876"/>
            <a:ext cx="6196851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321308"/>
            <a:ext cx="41422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05621"/>
                </a:solidFill>
                <a:latin typeface="Calibri"/>
              </a:rPr>
              <a:t>0.7104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52828"/>
            <a:ext cx="4142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  <a:latin typeface="Calibri"/>
              </a:rPr>
              <a:t>best fusion Macro F1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589520" y="2482596"/>
          <a:ext cx="3575304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713232"/>
                <a:gridCol w="914400"/>
                <a:gridCol w="713232"/>
              </a:tblGrid>
              <a:tr h="406908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Acc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W-F1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RoBERTa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0.6793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0.6519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0.6948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Wav2Vec2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0.6880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0.6403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0.6874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Fusion ✦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0.7104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589520" y="4192524"/>
            <a:ext cx="4142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18096"/>
                </a:solidFill>
                <a:latin typeface="Calibri"/>
              </a:rPr>
              <a:t>✦  best α found by grid search (0→1, step 0.05)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+0.059 Macro F1 over text-only · No additional training · Fully speaker-independent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Neutral was the hardest class — fusion helped it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13 / 15</a:t>
            </a:r>
          </a:p>
        </p:txBody>
      </p:sp>
      <p:pic>
        <p:nvPicPr>
          <p:cNvPr id="7" name="Picture 6" descr="perclass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3876"/>
            <a:ext cx="6937641" cy="384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53528" y="1339596"/>
            <a:ext cx="4078224" cy="1097280"/>
          </a:xfrm>
          <a:prstGeom prst="rect">
            <a:avLst/>
          </a:prstGeom>
          <a:solidFill>
            <a:srgbClr val="F0F4F8"/>
          </a:solidFill>
          <a:ln w="9525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300" b="1">
                <a:solidFill>
                  <a:srgbClr val="C53030"/>
                </a:solidFill>
                <a:latin typeface="Calibri"/>
              </a:rPr>
              <a:t>Negative</a:t>
            </a:r>
          </a:p>
          <a:p>
            <a:pPr algn="l"/>
            <a:r>
              <a:rPr sz="2000" b="1">
                <a:solidFill>
                  <a:srgbClr val="1A202C"/>
                </a:solidFill>
                <a:latin typeface="Calibri"/>
              </a:rPr>
              <a:t>0.76 → 0.81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text 0.76  ·  audio 0.78</a:t>
            </a:r>
          </a:p>
        </p:txBody>
      </p:sp>
      <p:sp>
        <p:nvSpPr>
          <p:cNvPr id="9" name="Rectangle 8"/>
          <p:cNvSpPr/>
          <p:nvPr/>
        </p:nvSpPr>
        <p:spPr>
          <a:xfrm>
            <a:off x="7653528" y="2601468"/>
            <a:ext cx="4078224" cy="1097280"/>
          </a:xfrm>
          <a:prstGeom prst="rect">
            <a:avLst/>
          </a:prstGeom>
          <a:solidFill>
            <a:srgbClr val="F0F4F8"/>
          </a:solidFill>
          <a:ln w="952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300" b="1">
                <a:solidFill>
                  <a:srgbClr val="276749"/>
                </a:solidFill>
                <a:latin typeface="Calibri"/>
              </a:rPr>
              <a:t>Positive</a:t>
            </a:r>
          </a:p>
          <a:p>
            <a:pPr algn="l"/>
            <a:r>
              <a:rPr sz="2000" b="1">
                <a:solidFill>
                  <a:srgbClr val="1A202C"/>
                </a:solidFill>
                <a:latin typeface="Calibri"/>
              </a:rPr>
              <a:t>0.71 → 0.75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text 0.71  ·  audio 0.63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53528" y="3863340"/>
            <a:ext cx="4078224" cy="1097280"/>
          </a:xfrm>
          <a:prstGeom prst="rect">
            <a:avLst/>
          </a:prstGeom>
          <a:solidFill>
            <a:srgbClr val="F0F4F8"/>
          </a:solidFill>
          <a:ln w="95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300" b="1">
                <a:solidFill>
                  <a:srgbClr val="2B6CB0"/>
                </a:solidFill>
                <a:latin typeface="Calibri"/>
              </a:rPr>
              <a:t>Neutral  ★ +0.07</a:t>
            </a:r>
          </a:p>
          <a:p>
            <a:pPr algn="l"/>
            <a:r>
              <a:rPr sz="2000" b="1">
                <a:solidFill>
                  <a:srgbClr val="1A202C"/>
                </a:solidFill>
                <a:latin typeface="Calibri"/>
              </a:rPr>
              <a:t>0.48 → 0.55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text 0.48  ·  audio 0.51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Neutral gains most: both channels show 'no strong signal' → that absence becomes a cue.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Results hold up under stricter ground-truth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3876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659"/>
                </a:solidFill>
                <a:latin typeface="Calibri"/>
              </a:rPr>
              <a:t>Part A — Re-scored against corrected labels (Sum-then-Argmax)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504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</a:rPr>
              <a:t>Only 4.24% of test labels changed (92 / 2,170). Δ across all models ≈ −0.004 — essentially zero.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025396"/>
          <a:ext cx="95097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2560320"/>
                <a:gridCol w="1645920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Original Macro F1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Corrected Macro F1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RoBERTa (Text)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0.6519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0.6481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−0.004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Wav2Vec2 (Audio)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0.6403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0.6356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−0.005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Late Fusion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0.7041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0.6999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−0.004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488436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659"/>
                </a:solidFill>
                <a:latin typeface="Calibri"/>
              </a:rPr>
              <a:t>Part B — Performance by human annotator agreement tier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899916"/>
          <a:ext cx="923544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685800"/>
                <a:gridCol w="1828800"/>
                <a:gridCol w="1828800"/>
                <a:gridCol w="2057400"/>
              </a:tblGrid>
              <a:tr h="33147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Text F1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Audio F1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Fusion F1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Low agreement  (&lt;0.50)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0.233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0.363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0.318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Medium  (0.50–0.75)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940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0.581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0.574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0.631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High agreement  (&gt;0.75)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1165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0.694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0.674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0.754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Monotone rise Low → High: models fail where human annotators also disagreed.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"Yes — combining modalities substantially improves emotion recognition"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15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3876"/>
            <a:ext cx="11274552" cy="475488"/>
          </a:xfrm>
          <a:prstGeom prst="rect">
            <a:avLst/>
          </a:prstGeom>
          <a:solidFill>
            <a:srgbClr val="F0F4F8"/>
          </a:solidFill>
          <a:ln w="9525">
            <a:solidFill>
              <a:srgbClr val="1E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0">
                <a:solidFill>
                  <a:srgbClr val="1A202C"/>
                </a:solidFill>
                <a:latin typeface="Calibri"/>
              </a:rPr>
              <a:t>Research question: Can combining text and audio improve emotion recognition over either modality alone?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06524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D97706"/>
                </a:solidFill>
                <a:latin typeface="Calibri"/>
              </a:rPr>
              <a:t>YES.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1997964"/>
            <a:ext cx="9098280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1A202C"/>
                </a:solidFill>
                <a:latin typeface="Calibri"/>
              </a:rPr>
              <a:t>Macro F1 = 0.7104   ·   +0.059 over text-only   ·   no additional training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75788"/>
            <a:ext cx="5454396" cy="987552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1.  Emotion is multimodal by nature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Text and audio each reach ~0.64–0.65 Macro F1 alone — comparable, but limited.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2875788"/>
            <a:ext cx="5454396" cy="987552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2.  They fail on different examples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Text misses tone; audio misses meaning. Non-overlapping errors are the key.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09644"/>
            <a:ext cx="5454396" cy="987552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3.  Combining them works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Late fusion: Macro F1 = 0.71 — +0.06 gain, zero training overhead.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7356" y="4009644"/>
            <a:ext cx="5454396" cy="987552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4.  Neutral benefits most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Hardest class: 0.48/0.51 → 0.55. Absence of signal becomes a signal.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06924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18096"/>
                </a:solidFill>
                <a:latin typeface="Calibri"/>
              </a:rPr>
              <a:t>Limitation: single held-out session, no variance estimate  ·  Future: attention-based fusion for per-utterance dynamic weighting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Simple weighted combination of text + audio → Macro F1 = 0.71 · Speaker-independent · No extra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Appendix A2 — Full Per-Class Breakdown  (show during Q&amp;A)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A2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39596"/>
          <a:ext cx="103327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1828800"/>
                <a:gridCol w="1920240"/>
                <a:gridCol w="173736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Model / Class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F1 Score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RoBERTa — Negative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1193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RoBERTa — Positive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 585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RoBERTa — Neutral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0.39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0.48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 392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Wav2Vec2 — Negative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1193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Wav2Vec2 — Positive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 585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Wav2Vec2 — Neutral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0.53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 392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Fusion — Negative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1193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Fusion — Positive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 585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Fusion — Neutral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 392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Appendix A3 — Hyperparameter Summary  (show during Q&amp;A)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A3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39596"/>
          <a:ext cx="1042415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749039"/>
                <a:gridCol w="393192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RoBERTa (Text)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Wav2Vec2 (Audio)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Base model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roberta-base (125M)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wav2vec2-base (94M)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2×10⁻⁵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2×10⁻⁵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Batch size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Max input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128 tokens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8.5 s  (136,000 samples)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Max epochs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Early stop patience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3 epochs on val Macro F1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3 epochs on val Macro F1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Class weights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wc = N / (K · Nc)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wc = N / (K · Nc)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Optimizer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Output pooling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[CLS] token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Mean pool over time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