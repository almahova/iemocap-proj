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05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team and the research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Neither words nor tone alone tell the full story. Both signals are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IEMOCAP: every utterance has raw audio + text transcript + emotion label.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Grouped for learnable classes. Imbalance drives metric choice and loss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EDA: audio = arousal signal, text = valence signal. Theoretical basis for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LOSO: 4 speakers in Session 5 are completely unseen at training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RoBERTa: 160GB pre-training. Fine-tuned on transcriptions. Neutral is the weak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Wav2Vec2: raw waveform input. Similar Macro F1 to text but different per-class strengths.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Text fails on tone; audio fails on meaning. Non-overlapping errors → fusion helps.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Weighted average of score vectors. No new training needed. Grid search finds optimal 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Grid search peak at α=0.60. Plateau in [0.5,0.7]. Neutral gains most from text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Main result: +0.06 Macro F1 gain on 2,170 test utterances. Zero extra training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Neutral improves most because the absence of signal in both channels is itself a 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Sum-then-Argmax: Δ ≈ 0 → results stable. Consensus tier: models fail where humans disagree.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answer is yes. Text and audio encode different aspects of emotion. When both agree, confidence is high. When they disagree, even that is informative.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per-class breakdown for all three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Hyperparameter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6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0058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Multimodal Speech Emotion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95728"/>
            <a:ext cx="112745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i="1" dirty="0">
                <a:solidFill>
                  <a:srgbClr val="90CDF4"/>
                </a:solidFill>
              </a:rPr>
              <a:t>Can we predict the speaker’s emotion using a multimodal approach that combines both acoustic speech features and textual content?</a:t>
            </a:r>
            <a:endParaRPr sz="2000" b="0" i="1" dirty="0">
              <a:solidFill>
                <a:srgbClr val="90CDF4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60120" y="3493008"/>
            <a:ext cx="2514600" cy="9144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Text
Transcription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837176" y="3493008"/>
            <a:ext cx="2514600" cy="91440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Audio
Waveform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641080" y="3493008"/>
            <a:ext cx="2468880" cy="91440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Emotion
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2736" y="3657600"/>
            <a:ext cx="1170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0CDF4"/>
                </a:solidFill>
                <a:latin typeface="Calibri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3657600"/>
            <a:ext cx="11155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90CDF4"/>
                </a:solidFill>
                <a:latin typeface="Calibr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28032"/>
            <a:ext cx="1127455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2E8F0"/>
                </a:solidFill>
                <a:latin typeface="Calibri"/>
              </a:rPr>
              <a:t>Chen Shmila  ·  Alma Hova  ·  Ohad Lavie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3035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Bar-Ilan University  ·  Machine Learning Projects  · 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Emotion is expressed through both words and voice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2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1308"/>
            <a:ext cx="5454396" cy="265176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300" b="1">
                <a:solidFill>
                  <a:srgbClr val="2B6CB0"/>
                </a:solidFill>
                <a:latin typeface="Calibri"/>
              </a:rPr>
              <a:t>TEXT ALONE</a:t>
            </a:r>
          </a:p>
          <a:p>
            <a:pPr algn="l"/>
            <a:r>
              <a:rPr sz="1500" b="0">
                <a:solidFill>
                  <a:srgbClr val="1A202C"/>
                </a:solidFill>
                <a:latin typeface="Calibri"/>
              </a:rPr>
              <a:t>"I can't believe you did that."</a:t>
            </a:r>
          </a:p>
          <a:p>
            <a:pPr algn="l"/>
            <a:endParaRPr sz="15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→  Ambiguous: angry? sarcastic? surprised?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21308"/>
            <a:ext cx="5454396" cy="2651760"/>
          </a:xfrm>
          <a:prstGeom prst="rect">
            <a:avLst/>
          </a:prstGeom>
          <a:solidFill>
            <a:srgbClr val="F0F4F8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300" b="1">
                <a:solidFill>
                  <a:srgbClr val="6B46C1"/>
                </a:solidFill>
                <a:latin typeface="Calibri"/>
              </a:rPr>
              <a:t>AUDIO ALONE</a:t>
            </a:r>
          </a:p>
          <a:p>
            <a:pPr algn="l"/>
            <a:r>
              <a:rPr sz="1500" b="0">
                <a:solidFill>
                  <a:srgbClr val="1A202C"/>
                </a:solidFill>
                <a:latin typeface="Calibri"/>
              </a:rPr>
              <a:t>Sharp rising pitch · fast rate · high energy</a:t>
            </a:r>
          </a:p>
          <a:p>
            <a:pPr algn="l"/>
            <a:endParaRPr sz="15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→  Ambiguous: can't identify the specific emotion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55948"/>
            <a:ext cx="11274552" cy="566928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TEXT + AUDIO together  →  clear, confident emotion signal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05756"/>
            <a:ext cx="11274552" cy="77724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Applications:  mental health monitoring  ·  voice assistants  ·  call center analytics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 system that ignores either channel is leaving information on the 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Our dataset: 10,039 labeled utterances from 10 speakers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3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9596"/>
            <a:ext cx="5454396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Dataset at a glance</a:t>
            </a:r>
          </a:p>
          <a:p>
            <a:pPr algn="l"/>
            <a:endParaRPr sz="1400" b="1">
              <a:solidFill>
                <a:srgbClr val="1E3659"/>
              </a:solidFill>
              <a:latin typeface="Calibri"/>
            </a:endParaRP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10,039   utterances</a:t>
            </a: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10           speakers (5F + 5M)</a:t>
            </a: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5             dyadic sessions</a:t>
            </a:r>
          </a:p>
          <a:p>
            <a:pPr algn="l"/>
            <a:r>
              <a:rPr sz="1600" b="1">
                <a:solidFill>
                  <a:srgbClr val="1A202C"/>
                </a:solidFill>
                <a:latin typeface="Calibri"/>
              </a:rPr>
              <a:t>10           original emotion labels</a:t>
            </a:r>
          </a:p>
          <a:p>
            <a:pPr algn="l"/>
            <a:endParaRPr sz="1600" b="1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Text transcript AND raw audio for every utterance</a:t>
            </a:r>
          </a:p>
          <a:p>
            <a:pPr algn="l"/>
            <a:r>
              <a:rPr sz="1100" b="0">
                <a:solidFill>
                  <a:srgbClr val="718096"/>
                </a:solidFill>
                <a:latin typeface="Calibri"/>
              </a:rPr>
              <a:t>Source: Busso et al. (2008) · HuggingFace: AbstractTTS/IEMOCAP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39596"/>
            <a:ext cx="5454396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One utterance contains:</a:t>
            </a:r>
          </a:p>
          <a:p>
            <a:pPr algn="l"/>
            <a:endParaRPr sz="1400" b="1">
              <a:solidFill>
                <a:srgbClr val="1E3659"/>
              </a:solidFill>
              <a:latin typeface="Calibri"/>
            </a:endParaRPr>
          </a:p>
          <a:p>
            <a:pPr algn="l"/>
            <a:r>
              <a:rPr sz="1400" b="1">
                <a:solidFill>
                  <a:srgbClr val="2B6CB0"/>
                </a:solidFill>
                <a:latin typeface="Calibri"/>
              </a:rPr>
              <a:t>Text transcript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"How could you say that to me"</a:t>
            </a:r>
          </a:p>
          <a:p>
            <a:pPr algn="l"/>
            <a:endParaRPr sz="13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1">
                <a:solidFill>
                  <a:srgbClr val="6B46C1"/>
                </a:solidFill>
                <a:latin typeface="Calibri"/>
              </a:rPr>
              <a:t>Raw audio file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16 kHz waveform, up to 8.5 seconds</a:t>
            </a:r>
          </a:p>
          <a:p>
            <a:pPr algn="l"/>
            <a:endParaRPr sz="13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1">
                <a:solidFill>
                  <a:srgbClr val="C05621"/>
                </a:solidFill>
                <a:latin typeface="Calibri"/>
              </a:rPr>
              <a:t>Emotion label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Scored by 4+ human annotators + soft probability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Every sample has both modalities - ideal for comparing text-only, audio-only, and combined.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We grouped 10 emotions into 3 classes - and found severe class imbalance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4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9596"/>
            <a:ext cx="6217920" cy="126187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NEGATIVE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angry · frustrated · fear · sad · disgust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38628"/>
            <a:ext cx="6217920" cy="126187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POSITIVE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happy · excited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137660"/>
            <a:ext cx="6217920" cy="12618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NEUTRAL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neutral · surprise · other</a:t>
            </a:r>
          </a:p>
        </p:txBody>
      </p:sp>
      <p:pic>
        <p:nvPicPr>
          <p:cNvPr id="10" name="Picture 9" descr="class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431036"/>
            <a:ext cx="4814123" cy="2560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Severe imbalance (55% Negative, 18% Neutral) → Macro F1 as metric + class-weighted loss.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EDA: text and audio capture different emotional dimensions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5 / 15</a:t>
            </a:r>
          </a:p>
        </p:txBody>
      </p:sp>
      <p:pic>
        <p:nvPicPr>
          <p:cNvPr id="7" name="Picture 6" descr="eda_acoust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3876"/>
            <a:ext cx="11237551" cy="35661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997195"/>
            <a:ext cx="5454396" cy="685800"/>
          </a:xfrm>
          <a:prstGeom prst="rect">
            <a:avLst/>
          </a:prstGeom>
          <a:solidFill>
            <a:srgbClr val="F0F4F8"/>
          </a:solidFill>
          <a:ln w="9525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Audio captures AROUSAL - angry &amp; excited speech has clearly higher pitch and energy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4997195"/>
            <a:ext cx="5454396" cy="68580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Text captures VALENCE - distinguishing happy vs. angry requires understanding the words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Complementary dimensions: text ≈ valence · audio ≈ arousal. Combining both should help.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Preprocessing and evaluation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6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5454396" cy="416052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Preprocessing steps</a:t>
            </a:r>
          </a:p>
          <a:p>
            <a:pPr algn="l"/>
            <a:endParaRPr sz="1400" b="1">
              <a:solidFill>
                <a:srgbClr val="1E3659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No missing values - no cleaning needed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Label grouping:  10 original classes → 3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(Negative / Positive / Neutral)</a:t>
            </a:r>
          </a:p>
          <a:p>
            <a:pPr algn="l"/>
            <a:endParaRPr sz="1200" b="0">
              <a:solidFill>
                <a:srgbClr val="4A5568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Text:  RoBERTa tokenizer  (max 128 tokens)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Audio:  load raw waveform, pad/truncate to 8.5 s at 16 kHz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Class-weighted cross-entropy loss  wc = N / (K · Nc)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7356" y="1293876"/>
            <a:ext cx="54543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659"/>
                </a:solidFill>
                <a:latin typeface="Calibri"/>
              </a:rPr>
              <a:t>Train / validation / test split:</a:t>
            </a:r>
          </a:p>
        </p:txBody>
      </p:sp>
      <p:sp>
        <p:nvSpPr>
          <p:cNvPr id="9" name="Rectangle 8"/>
          <p:cNvSpPr/>
          <p:nvPr/>
        </p:nvSpPr>
        <p:spPr>
          <a:xfrm>
            <a:off x="6277356" y="1705356"/>
            <a:ext cx="5454396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TRAIN  (Sessions 1–4)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8,014 utterances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2756916"/>
            <a:ext cx="5454396" cy="68580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VALIDATION  (10% of train, stratified)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3579876"/>
            <a:ext cx="5454396" cy="96012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ctr"/>
          <a:lstStyle/>
          <a:p>
            <a:pPr algn="l"/>
            <a:r>
              <a:rPr sz="1500" b="1" dirty="0">
                <a:solidFill>
                  <a:srgbClr val="FFFFFF"/>
                </a:solidFill>
                <a:latin typeface="Calibri"/>
              </a:rPr>
              <a:t>TEST  - Session 5  </a:t>
            </a:r>
          </a:p>
          <a:p>
            <a:pPr algn="l"/>
            <a:r>
              <a:rPr sz="1200" b="0" dirty="0">
                <a:solidFill>
                  <a:srgbClr val="FFFFFF"/>
                </a:solidFill>
                <a:latin typeface="Calibri"/>
              </a:rPr>
              <a:t>2,170 utterances · 4 speakers never seen in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7356" y="4677156"/>
            <a:ext cx="5454396" cy="749808"/>
          </a:xfrm>
          <a:prstGeom prst="rect">
            <a:avLst/>
          </a:prstGeom>
          <a:solidFill>
            <a:srgbClr val="F0F4F8"/>
          </a:solidFill>
          <a:ln w="9525">
            <a:solidFill>
              <a:srgbClr val="1E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Primary metric:  MACRO F1
Equal weight to each class regardless of frequency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✦  Speaker-independent evaluation - the hardest and most honest test of generalization.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1: RoBERTa reads the words and achieves Macro F1 = 0.6475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7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6217920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How RoBERTa works</a:t>
            </a:r>
          </a:p>
          <a:p>
            <a:pPr algn="l"/>
            <a:endParaRPr sz="1400" b="1">
              <a:solidFill>
                <a:srgbClr val="1E3659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Architecture:  roberta-base, 12 transformer layers, 125M parameters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Pre-training:  MLM on 160 GB text - already understands that 'infuriating' is negative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Fine-tuning:  LR = 2×10⁻⁵, batch = 32, class-weighted cross-entropy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Input:  text transcript  →  tokenizer  →  [CLS] vector  →  linear head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Best checkpoint:  epoch 7 of 10  (early stopping on val Macro F1)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718096"/>
                </a:solidFill>
                <a:latin typeface="Calibri"/>
              </a:rPr>
              <a:t>Weakness:  Neutral has no distinctive words → text alone struggles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RoBERTa:  Accuracy = 0.6843  ·  Macro F1 = 0.6475  ·  Neutral F1 = 0.46 (weakest class)</a:t>
            </a:r>
          </a:p>
        </p:txBody>
      </p:sp>
      <p:pic>
        <p:nvPicPr>
          <p:cNvPr id="10" name="Picture 9" descr="slide7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93876"/>
            <a:ext cx="4955858" cy="40028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Model 2: Wav2Vec2 listens to the audio and achieves Macro F1 = 0.6398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8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6217920" cy="4114800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How Wav2Vec2 works</a:t>
            </a:r>
          </a:p>
          <a:p>
            <a:pPr algn="l"/>
            <a:endParaRPr sz="1400" b="1">
              <a:solidFill>
                <a:srgbClr val="1E3659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Architecture:  wav2vec2-base, 12 transformer layers, 94M parameters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Pre-training:  masked audio prediction on 960h unlabeled speech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Input:  raw 16kHz waveform (max 8.5 s = 136,000 samples)  →  conv encoder (frozen)  →  transformer  →  mean pool  →  linear head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Fine-tuning:  LR = 2×10⁻⁵, batch = 8, conv encoder kept frozen</a:t>
            </a:r>
          </a:p>
          <a:p>
            <a:pPr algn="l"/>
            <a:endParaRPr sz="1400" b="0">
              <a:solidFill>
                <a:srgbClr val="1A202C"/>
              </a:solidFill>
              <a:latin typeface="Calibri"/>
            </a:endParaRPr>
          </a:p>
          <a:p>
            <a:pPr algn="l"/>
            <a:r>
              <a:rPr sz="1300" b="0">
                <a:solidFill>
                  <a:srgbClr val="718096"/>
                </a:solidFill>
                <a:latin typeface="Calibri"/>
              </a:rPr>
              <a:t>Key finding:  Negative F1 = 0.78 (&gt; RoBERTa's 0.76) - audio is stronger at detecting high-arousal angry/frustrated speech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Wav2Vec2:  Accuracy = 0.6829  ·  Macro F1 = 0.6398  ·  Different per-class strengths than text</a:t>
            </a:r>
          </a:p>
        </p:txBody>
      </p:sp>
      <p:pic>
        <p:nvPicPr>
          <p:cNvPr id="10" name="Picture 9" descr="slide8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293876"/>
            <a:ext cx="4955858" cy="4002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two models make different mistakes - that is why combining them helps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9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3959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2B6CB0"/>
                </a:solidFill>
                <a:latin typeface="Calibri"/>
              </a:rPr>
              <a:t>Text ✓ / Audio ✗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"I hate everything about this" - said flatly.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Text reads 'anger'.  Audio hears 'calm'.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7356" y="133959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6B46C1"/>
                </a:solidFill>
                <a:latin typeface="Calibri"/>
              </a:rPr>
              <a:t>Audio ✓ / Text ✗</a:t>
            </a:r>
          </a:p>
          <a:p>
            <a:pPr algn="l"/>
            <a:r>
              <a:rPr sz="1300" b="0">
                <a:solidFill>
                  <a:srgbClr val="1A202C"/>
                </a:solidFill>
                <a:latin typeface="Calibri"/>
              </a:rPr>
              <a:t>"Fine, whatever." - said with sharp rising anger.</a:t>
            </a:r>
          </a:p>
          <a:p>
            <a:pPr algn="l"/>
            <a:r>
              <a:rPr sz="1300" b="0">
                <a:solidFill>
                  <a:srgbClr val="4A5568"/>
                </a:solidFill>
                <a:latin typeface="Calibri"/>
              </a:rPr>
              <a:t>Audio hears anger.  Text reads 'neutral'.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4271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 dirty="0">
                <a:solidFill>
                  <a:srgbClr val="276749"/>
                </a:solidFill>
                <a:latin typeface="Calibri"/>
              </a:rPr>
              <a:t>Both ✓ high confidence</a:t>
            </a:r>
          </a:p>
          <a:p>
            <a:pPr algn="l"/>
            <a:r>
              <a:rPr sz="1300" b="0" dirty="0">
                <a:solidFill>
                  <a:srgbClr val="1A202C"/>
                </a:solidFill>
                <a:latin typeface="Calibri"/>
              </a:rPr>
              <a:t>Clear emotional words AND distinctive prosody.</a:t>
            </a:r>
          </a:p>
          <a:p>
            <a:pPr algn="l"/>
            <a:r>
              <a:rPr sz="1300" b="0" dirty="0">
                <a:solidFill>
                  <a:srgbClr val="4A5568"/>
                </a:solidFill>
                <a:latin typeface="Calibri"/>
              </a:rPr>
              <a:t>Both channels agree → confident prediction.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7356" y="3442716"/>
            <a:ext cx="5454396" cy="1920240"/>
          </a:xfrm>
          <a:prstGeom prst="rect">
            <a:avLst/>
          </a:prstGeom>
          <a:solidFill>
            <a:srgbClr val="F0F4F8"/>
          </a:solidFill>
          <a:ln w="9525">
            <a:solidFill>
              <a:srgbClr val="71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 dirty="0">
                <a:solidFill>
                  <a:srgbClr val="718096"/>
                </a:solidFill>
                <a:latin typeface="Calibri"/>
              </a:rPr>
              <a:t>Both ✗ genuinely ambiguous</a:t>
            </a:r>
          </a:p>
          <a:p>
            <a:pPr algn="l"/>
            <a:r>
              <a:rPr sz="1300" b="0" dirty="0">
                <a:solidFill>
                  <a:srgbClr val="1A202C"/>
                </a:solidFill>
                <a:latin typeface="Calibri"/>
              </a:rPr>
              <a:t>Vague words + flat tone.  Human annotators also disagreed.</a:t>
            </a:r>
          </a:p>
          <a:p>
            <a:pPr algn="l"/>
            <a:r>
              <a:rPr sz="1300" b="0" dirty="0">
                <a:solidFill>
                  <a:srgbClr val="4A5568"/>
                </a:solidFill>
                <a:latin typeface="Calibri"/>
              </a:rPr>
              <a:t>Not fixable by fusion - an honest failure case.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Non-overlapping errors are the condition for fusion to help - and the data shows they 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Late Fusion: a weighted sum of output logits - no extra training needed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10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85316"/>
            <a:ext cx="6217920" cy="7772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RoBERTa output  →  [neg, pos, neu] scores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63724"/>
            <a:ext cx="6217920" cy="777240"/>
          </a:xfrm>
          <a:prstGeom prst="rect">
            <a:avLst/>
          </a:prstGeom>
          <a:solidFill>
            <a:srgbClr val="6B4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Wav2Vec2 output  →  [neg, pos, neu] scores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42132"/>
            <a:ext cx="6217920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Weighted sum:  α × text + (1−α) × audio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320540"/>
            <a:ext cx="6217920" cy="777240"/>
          </a:xfrm>
          <a:prstGeom prst="rect">
            <a:avLst/>
          </a:prstGeom>
          <a:solidFill>
            <a:srgbClr val="C05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Argmax  →  Emotion label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62556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140964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1937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0" y="1385316"/>
            <a:ext cx="4690872" cy="1188720"/>
          </a:xfrm>
          <a:prstGeom prst="rect">
            <a:avLst/>
          </a:prstGeom>
          <a:solidFill>
            <a:srgbClr val="F0F4F8"/>
          </a:solidFill>
          <a:ln w="9525">
            <a:solidFill>
              <a:srgbClr val="1E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200" b="1">
                <a:solidFill>
                  <a:srgbClr val="1E3659"/>
                </a:solidFill>
                <a:latin typeface="Calibri"/>
              </a:rPr>
              <a:t>ŷ_fused  =  α · ŷ_text  +  (1−α) · ŷ_audio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756916"/>
            <a:ext cx="4690872" cy="960120"/>
          </a:xfrm>
          <a:prstGeom prst="rect">
            <a:avLst/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No extra training required
Uses already-trained checkpoints as-is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40880" y="3899916"/>
            <a:ext cx="4690872" cy="960120"/>
          </a:xfrm>
          <a:prstGeom prst="rect">
            <a:avLst/>
          </a:prstGeom>
          <a:solidFill>
            <a:srgbClr val="F0F4F8"/>
          </a:solidFill>
          <a:ln w="9525">
            <a:solidFill>
              <a:srgbClr val="6B4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l"/>
            <a:r>
              <a:rPr sz="1400" b="0">
                <a:solidFill>
                  <a:srgbClr val="1A202C"/>
                </a:solidFill>
                <a:latin typeface="Calibri"/>
              </a:rPr>
              <a:t>One parameter α - found by systematic grid search from 0.0 to 1.0 (step 0.05)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860036"/>
            <a:ext cx="4690872" cy="5303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300" b="0">
                <a:solidFill>
                  <a:srgbClr val="4A5568"/>
                </a:solidFill>
                <a:latin typeface="Calibri"/>
              </a:rPr>
              <a:t>α = 0 → pure audio   ·   α = 1 → pure text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Late fusion is training-free: two models + one parameter = stronger combined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The weight search shows text matters more - but both channels are essential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11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60036"/>
            <a:ext cx="3514344" cy="548640"/>
          </a:xfrm>
          <a:prstGeom prst="rect">
            <a:avLst/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Best α = 0.45
Text 45% · Audio 55%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337304" y="4860036"/>
            <a:ext cx="3514344" cy="54864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Plateau region
Robust for α ∈ [0.35, 0.55]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17408" y="4860036"/>
            <a:ext cx="3514344" cy="54864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300" b="0">
                <a:solidFill>
                  <a:srgbClr val="1A202C"/>
                </a:solidFill>
                <a:latin typeface="Calibri"/>
              </a:rPr>
              <a:t>Sanity check ✓
α=0→0.6398  α=1→0.6475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Best α = 0.45  →  Macro F1 = 0.7108  (+0.063 over text-only, +0.071 over audio-only)</a:t>
            </a:r>
          </a:p>
        </p:txBody>
      </p:sp>
      <p:pic>
        <p:nvPicPr>
          <p:cNvPr id="12" name="Picture 11" descr="slide11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6724" y="1293876"/>
            <a:ext cx="5174278" cy="34248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Fusion achieves Macro F1 = 0.71 - a +0.06 improvement over text-only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1321308"/>
            <a:ext cx="414223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05621"/>
                </a:solidFill>
                <a:latin typeface="Calibri"/>
              </a:rPr>
              <a:t>0.7108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2052828"/>
            <a:ext cx="4142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18096"/>
                </a:solidFill>
                <a:latin typeface="Calibri"/>
              </a:rPr>
              <a:t>best fusion Macro F1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89520" y="2482596"/>
          <a:ext cx="3575304" cy="1627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Acc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Macro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W-F1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0.6843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0.6475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0.6937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0.6829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0.6398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0.6876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908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✦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0.7502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0.7108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0.7541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4192524"/>
            <a:ext cx="4142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18096"/>
                </a:solidFill>
                <a:latin typeface="Calibri"/>
              </a:rPr>
              <a:t>✦  best α found by grid search (0→1, step 0.05)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+0.063 Macro F1 over text-only · No additional training · Fully speaker-independent</a:t>
            </a:r>
          </a:p>
        </p:txBody>
      </p:sp>
      <p:pic>
        <p:nvPicPr>
          <p:cNvPr id="13" name="Picture 12" descr="slide12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3876"/>
            <a:ext cx="6196851" cy="393682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Neutral was the hardest class - fusion helped it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13 /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653528" y="1339596"/>
            <a:ext cx="4078224" cy="1097280"/>
          </a:xfrm>
          <a:prstGeom prst="rect">
            <a:avLst/>
          </a:prstGeom>
          <a:solidFill>
            <a:srgbClr val="F0F4F8"/>
          </a:solidFill>
          <a:ln w="9525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300" b="1">
                <a:solidFill>
                  <a:srgbClr val="C53030"/>
                </a:solidFill>
                <a:latin typeface="Calibri"/>
              </a:rPr>
              <a:t>Negative</a:t>
            </a:r>
          </a:p>
          <a:p>
            <a:pPr algn="l"/>
            <a:r>
              <a:rPr sz="2000" b="1">
                <a:solidFill>
                  <a:srgbClr val="1A202C"/>
                </a:solidFill>
                <a:latin typeface="Calibri"/>
              </a:rPr>
              <a:t>0.76 → 0.82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text 0.76  ·  audio 0.78</a:t>
            </a:r>
          </a:p>
        </p:txBody>
      </p:sp>
      <p:sp>
        <p:nvSpPr>
          <p:cNvPr id="9" name="Rectangle 8"/>
          <p:cNvSpPr/>
          <p:nvPr/>
        </p:nvSpPr>
        <p:spPr>
          <a:xfrm>
            <a:off x="7653528" y="2601468"/>
            <a:ext cx="4078224" cy="1097280"/>
          </a:xfrm>
          <a:prstGeom prst="rect">
            <a:avLst/>
          </a:prstGeom>
          <a:solidFill>
            <a:srgbClr val="F0F4F8"/>
          </a:solidFill>
          <a:ln w="9525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300" b="1">
                <a:solidFill>
                  <a:srgbClr val="276749"/>
                </a:solidFill>
                <a:latin typeface="Calibri"/>
              </a:rPr>
              <a:t>Positive</a:t>
            </a:r>
          </a:p>
          <a:p>
            <a:pPr algn="l"/>
            <a:r>
              <a:rPr sz="2000" b="1">
                <a:solidFill>
                  <a:srgbClr val="1A202C"/>
                </a:solidFill>
                <a:latin typeface="Calibri"/>
              </a:rPr>
              <a:t>0.72 → 0.76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text 0.72  ·  audio 0.63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53528" y="3863340"/>
            <a:ext cx="4078224" cy="1097280"/>
          </a:xfrm>
          <a:prstGeom prst="rect">
            <a:avLst/>
          </a:prstGeom>
          <a:solidFill>
            <a:srgbClr val="F0F4F8"/>
          </a:solidFill>
          <a:ln w="9525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300" b="1">
                <a:solidFill>
                  <a:srgbClr val="2B6CB0"/>
                </a:solidFill>
                <a:latin typeface="Calibri"/>
              </a:rPr>
              <a:t>Neutral  ★ +0.09</a:t>
            </a:r>
          </a:p>
          <a:p>
            <a:pPr algn="l"/>
            <a:r>
              <a:rPr sz="2000" b="1">
                <a:solidFill>
                  <a:srgbClr val="1A202C"/>
                </a:solidFill>
                <a:latin typeface="Calibri"/>
              </a:rPr>
              <a:t>0.46 → 0.55</a:t>
            </a:r>
          </a:p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text 0.46  ·  audio 0.51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Neutral gains most: both channels show 'no strong signal' → that absence becomes a cue.</a:t>
            </a:r>
          </a:p>
        </p:txBody>
      </p:sp>
      <p:pic>
        <p:nvPicPr>
          <p:cNvPr id="12" name="Picture 11" descr="slide13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3876"/>
            <a:ext cx="6937641" cy="385424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Results hold up under stricter ground-truth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93876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659"/>
                </a:solidFill>
                <a:latin typeface="Calibri"/>
              </a:rPr>
              <a:t>Part A - Re-scored against corrected labels (Sum-then-Argmax)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504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4A5568"/>
                </a:solidFill>
                <a:latin typeface="Calibri"/>
              </a:rPr>
              <a:t>Only 4.24% of test labels changed (92 / 2,170). Δ across all models is below 0.005 in magnitude - essentially zero.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2025396"/>
          <a:ext cx="950976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Original Macro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Corrected Macro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(Text)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0.6475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0.6506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+0.003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(Audio)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0.6398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0.6359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Late Fusion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0.7108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0.7081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−0.003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488436"/>
            <a:ext cx="112745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659"/>
                </a:solidFill>
                <a:latin typeface="Calibri"/>
              </a:rPr>
              <a:t>Part B - Performance by human annotator agreement tier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899916"/>
          <a:ext cx="923544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Text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Audio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Fusion F1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Low agreement  (&lt;0.50)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0.285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0.308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0.344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Medium  (0.50–0.75)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940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0.588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0.580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0.645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47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High agreement  (&gt;0.75)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1165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0.695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0.666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0.766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Monotone rise Low → High: models fail where human annotators also disagreed.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"Yes - combining modalities substantially improves emotion recognition"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15 / 15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93876"/>
            <a:ext cx="11274552" cy="475488"/>
          </a:xfrm>
          <a:prstGeom prst="rect">
            <a:avLst/>
          </a:prstGeom>
          <a:solidFill>
            <a:srgbClr val="F0F4F8"/>
          </a:solidFill>
          <a:ln w="9525">
            <a:solidFill>
              <a:srgbClr val="1E36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0">
                <a:solidFill>
                  <a:srgbClr val="1A202C"/>
                </a:solidFill>
                <a:latin typeface="Calibri"/>
              </a:rPr>
              <a:t>Research question: Can combining text and audio improve emotion recognition over either modality alone?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06524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0" b="1" i="0">
                <a:solidFill>
                  <a:srgbClr val="D97706"/>
                </a:solidFill>
                <a:latin typeface="Calibri"/>
              </a:rPr>
              <a:t>YES.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1997964"/>
            <a:ext cx="9098280" cy="658368"/>
          </a:xfrm>
          <a:prstGeom prst="rect">
            <a:avLst/>
          </a:prstGeom>
          <a:solidFill>
            <a:srgbClr val="F0F4F8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600" b="1">
                <a:solidFill>
                  <a:srgbClr val="1A202C"/>
                </a:solidFill>
                <a:latin typeface="Calibri"/>
              </a:rPr>
              <a:t>Macro F1 = 0.7108   ·   +0.063 over text-only   ·   no additional training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75788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1.  Emotion is multimodal by nature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Text and audio each reach ~0.64–0.65 Macro F1 alone - comparable, but limited.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7356" y="2875788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2.  They fail on different examples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Text misses tone; audio misses meaning. Non-overlapping errors are the key.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009644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3.  Combining them works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Late fusion: Macro F1 = 0.71 - +0.06 gain, zero training overhead.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7356" y="4009644"/>
            <a:ext cx="5454396" cy="987552"/>
          </a:xfrm>
          <a:prstGeom prst="rect">
            <a:avLst/>
          </a:prstGeom>
          <a:solidFill>
            <a:srgbClr val="F0F4F8"/>
          </a:solidFill>
          <a:ln w="9525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09728" rIns="137160" bIns="109728" rtlCol="0" anchor="t"/>
          <a:lstStyle/>
          <a:p>
            <a:pPr algn="l"/>
            <a:r>
              <a:rPr sz="1400" b="1">
                <a:solidFill>
                  <a:srgbClr val="1E3659"/>
                </a:solidFill>
                <a:latin typeface="Calibri"/>
              </a:rPr>
              <a:t>4.  Neutral benefits most</a:t>
            </a:r>
          </a:p>
          <a:p>
            <a:pPr algn="l"/>
            <a:r>
              <a:rPr sz="1200" b="0">
                <a:solidFill>
                  <a:srgbClr val="4A5568"/>
                </a:solidFill>
                <a:latin typeface="Calibri"/>
              </a:rPr>
              <a:t>Hardest class: 0.46/0.51 → 0.55. Absence of signal becomes a signal.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06924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18096"/>
                </a:solidFill>
                <a:latin typeface="Calibri"/>
              </a:rPr>
              <a:t>Limitation: single held-out session, no variance estimate  ·  Future: attention-based fusion for per-utterance dynamic weighting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596128"/>
            <a:ext cx="11274552" cy="6217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Simple weighted combination of text + audio → Macro F1 = 0.71 · Speaker-independent · No extra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Appendix A2 - Full Per-Class Breakdown  (show during Q&amp;A)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A2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39596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 / Class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 Score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- Negative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1149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- Positive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613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 - Neutral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0.40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0.46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408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Wav2Vec2 - Negative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0.80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1149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Wav2Vec2 - Positive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613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Wav2Vec2 - Neutral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0.45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408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(best α=0.45) - Negative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1149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(best α=0.45) - Positive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0.78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0.74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0.76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613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Fusion (best α=0.45) - Neutral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0.60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 408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1E36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12745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Appendix A3 - Hyperparameter Summary  (show during Q&amp;A)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88952" cy="502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382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18096"/>
                </a:solidFill>
                <a:latin typeface="Calibri"/>
              </a:rPr>
              <a:t>IEMOCAP Emotion Recognition  ·  Bar-Ilan University  · 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38251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18096"/>
                </a:solidFill>
                <a:latin typeface="Calibri"/>
              </a:rPr>
              <a:t>A3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39596"/>
          <a:ext cx="10424159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RoBERTa (Text)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Wav2Vec2 (Audio)</a:t>
                      </a:r>
                    </a:p>
                  </a:txBody>
                  <a:tcPr>
                    <a:solidFill>
                      <a:srgbClr val="1E3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Base model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roberta-base (125M)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wav2vec2-base (94M)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2×10⁻⁵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2×10⁻⁵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32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Max input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128 tokens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8.5 s  (136,000 samples)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Max epochs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Early stop patience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3 epochs on val Macro F1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3 epochs on val Macro F1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Class weights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wc = N / (K · Nc)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wc = N / (K · Nc)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AdamW</a:t>
                      </a:r>
                    </a:p>
                  </a:txBody>
                  <a:tcPr>
                    <a:solidFill>
                      <a:srgbClr val="E8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Output pooling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[CLS] token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202C"/>
                          </a:solidFill>
                          <a:latin typeface="Calibri"/>
                        </a:rPr>
                        <a:t>Mean pool over time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2093</Words>
  <Application>Microsoft Office PowerPoint</Application>
  <PresentationFormat>מותאם אישית</PresentationFormat>
  <Paragraphs>353</Paragraphs>
  <Slides>17</Slides>
  <Notes>17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אילנה שמילה</cp:lastModifiedBy>
  <cp:revision>3</cp:revision>
  <dcterms:created xsi:type="dcterms:W3CDTF">2013-01-27T09:14:16Z</dcterms:created>
  <dcterms:modified xsi:type="dcterms:W3CDTF">2026-06-22T16:55:48Z</dcterms:modified>
  <cp:category/>
</cp:coreProperties>
</file>