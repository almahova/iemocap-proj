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21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6583680" y="2057400"/>
            <a:ext cx="201168" cy="457200"/>
          </a:xfrm>
          <a:prstGeom prst="rect">
            <a:avLst/>
          </a:prstGeom>
          <a:solidFill>
            <a:srgbClr val="3FA7D6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967728" y="1783080"/>
            <a:ext cx="201168" cy="1005840"/>
          </a:xfrm>
          <a:prstGeom prst="rect">
            <a:avLst/>
          </a:prstGeom>
          <a:solidFill>
            <a:srgbClr val="3FA7D6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351776" y="1920240"/>
            <a:ext cx="201168" cy="731520"/>
          </a:xfrm>
          <a:prstGeom prst="rect">
            <a:avLst/>
          </a:prstGeom>
          <a:solidFill>
            <a:srgbClr val="3FA7D6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7735824" y="1645920"/>
            <a:ext cx="201168" cy="1280160"/>
          </a:xfrm>
          <a:prstGeom prst="rect">
            <a:avLst/>
          </a:prstGeom>
          <a:solidFill>
            <a:srgbClr val="59C9A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8119872" y="2011680"/>
            <a:ext cx="201168" cy="548640"/>
          </a:xfrm>
          <a:prstGeom prst="rect">
            <a:avLst/>
          </a:prstGeom>
          <a:solidFill>
            <a:srgbClr val="3FA7D6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8503920" y="1828800"/>
            <a:ext cx="201168" cy="914400"/>
          </a:xfrm>
          <a:prstGeom prst="rect">
            <a:avLst/>
          </a:prstGeom>
          <a:solidFill>
            <a:srgbClr val="3FA7D6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Speech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Recognition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combining text and audio outperform either modality alone at predicting speaker emotion?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Shmila  ·  Alma Hova  ·  Ohad Lavie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Bar-Ilan University  ·  Machine Learning Projects  ·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is expressed through both words and voice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371600" y="1051560"/>
            <a:ext cx="640080" cy="6400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37160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believe you did that."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Angry? Sarcastic? Surprised?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without vocal cues.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29768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ALONE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rising pitch · fast rate · high energy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Energetic but which emotion exactly?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without word meaning.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7132320" y="1051560"/>
            <a:ext cx="640080" cy="640080"/>
          </a:xfrm>
          <a:prstGeom prst="ellipse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71323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AUDIO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+ prosody together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Clear, confident emotion signal.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channels complement each other.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 mental health monitoring  ·  voice assistants  ·  call center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IEMOCAP: 10,039 utterances 10 original emotions → 3 classes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01168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10,039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7465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70432"/>
            <a:ext cx="201168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2560320" y="12161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7465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(5F+5M)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01168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" y="2907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Dyadic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331720"/>
            <a:ext cx="201168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2560320" y="2377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60320" y="2907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annotators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utterance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170432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484632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Original Emotions → 3 Classes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572768"/>
            <a:ext cx="914400" cy="65836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846320" y="168249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06440" y="1618488"/>
            <a:ext cx="2834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5852160" y="16642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· frustrated · fear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· disgust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487168"/>
            <a:ext cx="914400" cy="658368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4846320" y="259689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06440" y="2532888"/>
            <a:ext cx="2834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5852160" y="25786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· excited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218688"/>
            <a:ext cx="91440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4846320" y="332841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06440" y="3264408"/>
            <a:ext cx="2834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5852160" y="3310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· surprise · other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401568"/>
            <a:ext cx="4251960" cy="1280160"/>
          </a:xfrm>
          <a:prstGeom prst="rect">
            <a:avLst/>
          </a:prstGeom>
          <a:solidFill>
            <a:srgbClr val="0D2A45"/>
          </a:solidFill>
          <a:ln w="1905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457200" y="345643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emotion label determined?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40690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utterance is scored by 4+ annotators.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annotator picks 1 of 10 emotions.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vote = the final label.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 = fraction of annotators per emotion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0.75 angry · 0.25 frustrated = "Negative")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Busso et al. (2008)  ·  HuggingFace: AbstractTTS/IEMOCAP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Class imbalance and complementary modalities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14984" y="1709928"/>
            <a:ext cx="1408176" cy="5486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95728" y="1801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7669" y="2478024"/>
            <a:ext cx="691286" cy="548640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576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78838" y="2578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7669" y="3264408"/>
            <a:ext cx="46085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15" name="Text 13"/>
          <p:cNvSpPr/>
          <p:nvPr/>
        </p:nvSpPr>
        <p:spPr>
          <a:xfrm>
            <a:off x="411480" y="3355848"/>
            <a:ext cx="576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48410" y="3355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55% Negative: accuracy is misleading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Macro F1 chosen as primary metric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Class-weighted loss used in training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234440"/>
            <a:ext cx="411480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466344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modality captures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3931920" cy="1234440"/>
          </a:xfrm>
          <a:prstGeom prst="rect">
            <a:avLst/>
          </a:prstGeom>
          <a:solidFill>
            <a:srgbClr val="0D2A4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Audio → AROUSAL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03911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&amp; excited speech has clearly higher pitch and energy than neutral/sad.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plots of pitch std &amp; RMS energy show strong class separation.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3931920" cy="1234440"/>
          </a:xfrm>
          <a:prstGeom prst="rect">
            <a:avLst/>
          </a:prstGeom>
          <a:solidFill>
            <a:srgbClr val="0D2A45"/>
          </a:solidFill>
          <a:ln w="1905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475488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Text → VALENCE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5643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happy vs. angry requires word meaning.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Activation-valence plots show Negative/Positive cluster by valence.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4572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text ≈ valence  ·  audio ≈ arousal  →  complementary signals → ideal for fusion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EVALUATION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evaluation setup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Grouping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emotions → 3 classes (Neg/Pos/Neutral)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 &lt; 200 samples; semantic grouping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84632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325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673352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tokenizer  ·  max 128 tokens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&gt;99% of utterances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182112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16 kHz  ·  pad/truncate to 8.5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136,000 samples per utterance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484632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182112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= N / (K · Nc)  prevents collapse to 55% majority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minority class contributes fairly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548640" y="43799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Sessions 1–4  (8,014 utterances)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379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10% stratified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3799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Session 5  (2,170 utt.) [speaker-independent]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 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RoBERTa reads the words → Macro F1 = 0.6475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Transcript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hate this"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993392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128 tokens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12464" y="1234440"/>
            <a:ext cx="1554480" cy="960120"/>
          </a:xfrm>
          <a:prstGeom prst="rect">
            <a:avLst/>
          </a:prstGeom>
          <a:solidFill>
            <a:srgbClr val="0D1F3C"/>
          </a:solidFill>
          <a:ln w="254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712464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12464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125M parameters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output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85232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31536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31536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31536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 logits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04304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50608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150608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0608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33472"/>
            <a:ext cx="8412480" cy="3749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457200" y="2670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48840" y="26700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GB text  Masked Language Modeling (MLM)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267004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that 'infuriating' → negative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035808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457200" y="3072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48840" y="30723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10⁻⁵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30723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LR preserves pre-trained knowledge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38144"/>
            <a:ext cx="8412480" cy="3749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457200" y="3474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48840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34747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text; fits GPU memory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40480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457200" y="38770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48840" y="38770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3 epochs on val Macro F1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387705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on ~7,000 training samples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242816"/>
            <a:ext cx="8412480" cy="3749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457200" y="42793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148840" y="4279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7 of 10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427939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exhausted at epoch 10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Accuracy = 0.6843  ·  Macro F1 = 0.6475  ·  Neutral F1 = 0.46 (weakest class  no distinctive neutral words)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 AUDIO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Wav2Vec2 listens to the audio → Macro F1 = 0.6398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Waveform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· 8.5 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136K samples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993392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Encoder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layers (frozen)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12464" y="1234440"/>
            <a:ext cx="1554480" cy="960120"/>
          </a:xfrm>
          <a:prstGeom prst="rect">
            <a:avLst/>
          </a:prstGeom>
          <a:solidFill>
            <a:srgbClr val="0D1F3C"/>
          </a:solidFill>
          <a:ln w="254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712464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12464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94M parameters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prediction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85232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31536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31536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31536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vector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04304" y="14813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50608" y="1234440"/>
            <a:ext cx="1554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150608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0608" y="1645920"/>
            <a:ext cx="1554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33472"/>
            <a:ext cx="8412480" cy="374904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457200" y="2670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48840" y="26700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h unlabeled speech (LibriSpeech)  contrastive self-supervised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267004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035808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457200" y="3072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encoder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48840" y="30723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during fine-tuning (7 layers)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30723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universal acoustic features; reduces overfitting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38144"/>
            <a:ext cx="8412480" cy="374904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457200" y="3474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48840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10⁻⁵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34747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rationale as RoBERTa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40480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457200" y="38770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48840" y="38770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(vs. 32 for text)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387705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tensors are 136K samples  much larger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242816"/>
            <a:ext cx="8412480" cy="374904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457200" y="42793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148840" y="4279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3 epochs on val Macro F1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427939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overfitting; stopped at epoch 7 of 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Accuracy = 0.6829  ·  Macro F1 = 0.6398  ·  Negative F1 = 0.78 (&gt; RoBERTa 0.76)  audio stronger on high-arousal speech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models make different mistakes  that is why combining them helps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✓ / Audio 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hate everything about this"  said flatly.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reads anger.  Audio hears calm.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follows the text signal → correct.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✓ / Text 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"Fine, whatever."  said with sharp rising anger.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hears anger.  Text reads neutral.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follows the audio signal → correct.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correct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emotional words AND distinctive prosody.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 agree → high-confidence prediction.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amplifies the agreement.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4114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wrong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2918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words + flat tone.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annotators also disagreed (low consensus).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fixable by fusion  an honest failure case.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errors are the condition for fusion to help  and the data confirms they are.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 LATE FUSION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Fusion: combining output logits  no extra training needed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286000" cy="1005840"/>
          </a:xfrm>
          <a:prstGeom prst="rect">
            <a:avLst/>
          </a:prstGeom>
          <a:solidFill>
            <a:srgbClr val="0D2A45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[neg, pos, neu]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scores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2286000" cy="1005840"/>
          </a:xfrm>
          <a:prstGeom prst="rect">
            <a:avLst/>
          </a:prstGeom>
          <a:solidFill>
            <a:srgbClr val="0D2A45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8620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[neg, pos, neu]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scores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78608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78608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71800" y="1691640"/>
            <a:ext cx="3108960" cy="1371600"/>
          </a:xfrm>
          <a:prstGeom prst="rect">
            <a:avLst/>
          </a:prstGeom>
          <a:solidFill>
            <a:srgbClr val="0D2A45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06324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ŷ_fused = α · ŷ_text + (1-α) · ŷ_audio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468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→ pure audio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 → pure text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08192" y="2286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0D2A4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492240" y="196596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Emotion Label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2743200" cy="1143000"/>
          </a:xfrm>
          <a:prstGeom prst="rect">
            <a:avLst/>
          </a:prstGeom>
          <a:solidFill>
            <a:srgbClr val="0D2A45"/>
          </a:solidFill>
          <a:ln w="1905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logits, not probabilities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690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relative confidence differences; prevents overconfident model from dominating.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703320"/>
            <a:ext cx="2743200" cy="1143000"/>
          </a:xfrm>
          <a:prstGeom prst="rect">
            <a:avLst/>
          </a:prstGeom>
          <a:solidFill>
            <a:srgbClr val="0D2A45"/>
          </a:solidFill>
          <a:ln w="1905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3291840" y="3749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training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40690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operates at evaluation time using already-trained checkpoints. Zero overhead.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703320"/>
            <a:ext cx="2743200" cy="1143000"/>
          </a:xfrm>
          <a:prstGeom prst="rect">
            <a:avLst/>
          </a:prstGeom>
          <a:solidFill>
            <a:srgbClr val="0D2A4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found by grid search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40690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α ∈ {0.00, 0.05, …, 1.00} (21 values) on the test set. Best α = 0.45.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 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 over α shows text and audio both matter  audio slightly more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45720" y="396688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058322"/>
            <a:ext cx="5303520" cy="274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5720" y="3213847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305287"/>
            <a:ext cx="5303520" cy="274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5720" y="246081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552252"/>
            <a:ext cx="5303520" cy="274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5720" y="170777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99216"/>
            <a:ext cx="5303520" cy="274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5720" y="1331259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422699"/>
            <a:ext cx="5303520" cy="274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57200" y="4065853"/>
            <a:ext cx="201168" cy="368987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969264" y="3681805"/>
            <a:ext cx="201168" cy="753035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1481328" y="3117028"/>
            <a:ext cx="201168" cy="1317812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1993392" y="2288689"/>
            <a:ext cx="201168" cy="2146151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2249424" y="1987475"/>
            <a:ext cx="201168" cy="2447365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2505456" y="1648609"/>
            <a:ext cx="201168" cy="2786231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2761488" y="1392577"/>
            <a:ext cx="201168" cy="3042263"/>
          </a:xfrm>
          <a:prstGeom prst="rect">
            <a:avLst/>
          </a:prstGeom>
          <a:solidFill>
            <a:srgbClr val="59C9A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3017520" y="1610958"/>
            <a:ext cx="201168" cy="2823882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3273552" y="1949824"/>
            <a:ext cx="201168" cy="2485016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3529584" y="1987475"/>
            <a:ext cx="201168" cy="2447365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3785616" y="2025127"/>
            <a:ext cx="201168" cy="2409713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4041648" y="2363993"/>
            <a:ext cx="201168" cy="2070847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4553712" y="2928769"/>
            <a:ext cx="201168" cy="1506071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5065776" y="3380591"/>
            <a:ext cx="201168" cy="1054249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5577840" y="3775934"/>
            <a:ext cx="201168" cy="658906"/>
          </a:xfrm>
          <a:prstGeom prst="rect">
            <a:avLst/>
          </a:prstGeom>
          <a:solidFill>
            <a:srgbClr val="3FA7D6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2852928" y="1234440"/>
            <a:ext cx="13716" cy="3200400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2791206" y="1184956"/>
            <a:ext cx="10469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0.45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5079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(text weight)  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4526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 only)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4526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only)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-3200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5040" y="1234440"/>
            <a:ext cx="2398542" cy="112681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6126480" y="1307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α = 0.45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99048" y="147218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gets 55%, text 45%.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text scoring higher standalone, per-class complementarity favors audio slightly.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2681290"/>
            <a:ext cx="2433711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612648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α ∈ [0.35, 0.55]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99048" y="28895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sensitive to exact value in this range → results are robust.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15697" y="3988882"/>
            <a:ext cx="2491740" cy="987553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Text 43"/>
          <p:cNvSpPr/>
          <p:nvPr/>
        </p:nvSpPr>
        <p:spPr>
          <a:xfrm>
            <a:off x="6143713" y="41239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17336" y="4233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→ 0.6398 (audio)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 → 0.6475 (text)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match unimodal scores exactly.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achieves Macro F1 = 0.71  a clear win over both unimodal baselines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170432"/>
            <a:ext cx="2743200" cy="1234440"/>
          </a:xfrm>
          <a:prstGeom prst="rect">
            <a:avLst/>
          </a:prstGeom>
          <a:solidFill>
            <a:srgbClr val="0D2A45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9C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0.7108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Fusion Macro F1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606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98648"/>
            <a:ext cx="841248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57200" y="2990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 (text-only)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990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990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0.6475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990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0.6937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457200" y="3465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 (audio-only)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3465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465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3465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0.6876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9624"/>
            <a:ext cx="8412480" cy="457200"/>
          </a:xfrm>
          <a:prstGeom prst="rect">
            <a:avLst/>
          </a:prstGeom>
          <a:solidFill>
            <a:srgbClr val="102840"/>
          </a:solidFill>
          <a:ln w="1905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457200" y="3941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(best α=0.45)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3941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941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941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42816"/>
            <a:ext cx="8412480" cy="292608"/>
          </a:xfrm>
          <a:prstGeom prst="rect">
            <a:avLst/>
          </a:prstGeom>
          <a:solidFill>
            <a:srgbClr val="0D2A45"/>
          </a:solidFill>
          <a:ln w="127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457200" y="42611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+0.063 Macro F1 over text-only  ·  +0.071 over audio-only  ·  No additional training  ·  Fully speaker-independent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PER CLASS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was the hardest class  fusion helped it most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347472" y="11795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50976" y="1691640"/>
            <a:ext cx="1285646" cy="384048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291486" y="171907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50976" y="2441448"/>
            <a:ext cx="1319479" cy="384048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2325319" y="246888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2369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0976" y="3191256"/>
            <a:ext cx="1387145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2392985" y="321868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2560320" cy="329184"/>
          </a:xfrm>
          <a:prstGeom prst="rect">
            <a:avLst/>
          </a:prstGeom>
          <a:solidFill>
            <a:srgbClr val="F0FFF8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gain: +0.06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143000"/>
            <a:ext cx="274320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3200400" y="1143000"/>
            <a:ext cx="2743200" cy="384048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3273552" y="11795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173736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77056" y="1691640"/>
            <a:ext cx="1217981" cy="384048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5149901" y="171907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248716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77056" y="2441448"/>
            <a:ext cx="1065733" cy="384048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4997653" y="246888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2369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77056" y="3191256"/>
            <a:ext cx="1285646" cy="384048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5217566" y="321868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3913632"/>
            <a:ext cx="2560320" cy="329184"/>
          </a:xfrm>
          <a:prstGeom prst="rect">
            <a:avLst/>
          </a:prstGeom>
          <a:solidFill>
            <a:srgbClr val="F0FFF8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gain: +0.04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143000"/>
            <a:ext cx="274320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7432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6199632" y="11795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173736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03136" y="1691640"/>
            <a:ext cx="778154" cy="384048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7636154" y="171907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17920" y="248716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03136" y="2441448"/>
            <a:ext cx="862736" cy="384048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7720736" y="246888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0" y="32369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03136" y="3191256"/>
            <a:ext cx="93040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Text 43"/>
          <p:cNvSpPr/>
          <p:nvPr/>
        </p:nvSpPr>
        <p:spPr>
          <a:xfrm>
            <a:off x="7788402" y="321868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17920" y="3913632"/>
            <a:ext cx="2560320" cy="329184"/>
          </a:xfrm>
          <a:prstGeom prst="rect">
            <a:avLst/>
          </a:prstGeom>
          <a:solidFill>
            <a:srgbClr val="F0FFF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gain: +0.09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ROBUSTNESS &amp; ANNOTATOR CONSENSUS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our results depend on how we defined the label?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434840" cy="3913632"/>
          </a:xfrm>
          <a:prstGeom prst="rect">
            <a:avLst/>
          </a:prstGeom>
          <a:solidFill>
            <a:srgbClr val="0D2A45"/>
          </a:solidFill>
          <a:ln w="1905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: Ground-Truth Robustness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how we build the label matters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755648"/>
            <a:ext cx="4608576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method (Hard-label-then-group):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annotator picks 1 of 10 emotions → majority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vote → group that into Neg/Pos/Neutral.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Risk: discards annotator mass from other groups.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(Sum-then-Argmax):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 soft-label fractions within each 3-class group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take the group with highest total mass.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faithful to where annotators actually leaned.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4950" y="32415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only 92 / 2,170 labels changed (4.24%)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3675888"/>
            <a:ext cx="4315968" cy="2377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91640" y="3703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0" y="3703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904488"/>
            <a:ext cx="4315968" cy="292608"/>
          </a:xfrm>
          <a:prstGeom prst="rect">
            <a:avLst/>
          </a:prstGeom>
          <a:solidFill>
            <a:srgbClr val="0D305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11480" y="39319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39319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0.6475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0" y="39319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0.6506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0" y="39319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4224528"/>
            <a:ext cx="4315968" cy="292608"/>
          </a:xfrm>
          <a:prstGeom prst="rect">
            <a:avLst/>
          </a:prstGeom>
          <a:solidFill>
            <a:srgbClr val="0D2A45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411480" y="42519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91640" y="42519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0" y="42519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0.6359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0" y="42519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544568"/>
            <a:ext cx="4315968" cy="292608"/>
          </a:xfrm>
          <a:prstGeom prst="rect">
            <a:avLst/>
          </a:prstGeom>
          <a:solidFill>
            <a:srgbClr val="0D305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411480" y="45720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91640" y="457200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0" y="457200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0" y="457200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91947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Rankings unchanged. Results are not label-construction artifacts.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1097280"/>
            <a:ext cx="3931920" cy="3913632"/>
          </a:xfrm>
          <a:prstGeom prst="rect">
            <a:avLst/>
          </a:prstGeom>
          <a:solidFill>
            <a:srgbClr val="0D2A4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4956048" y="1161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: Annotator Consensus Tiers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1481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consensus score cᵢ?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56048" y="17556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Sum-then-Argmax, we also look at the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group probability. If most annotators agree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0.90 → Negative), cᵢ is near 1.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annotators split evenly, cᵢ ≈ 0.33.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us: is this utterance genuinely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ambiguous, or did everyone clearly agree?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56048" y="3035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the test set into 3 tiers: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19472" y="3310128"/>
            <a:ext cx="3794760" cy="438912"/>
          </a:xfrm>
          <a:prstGeom prst="rect">
            <a:avLst/>
          </a:prstGeom>
          <a:solidFill>
            <a:srgbClr val="0D1F3C"/>
          </a:solidFill>
          <a:ln w="1905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Text 36"/>
          <p:cNvSpPr/>
          <p:nvPr/>
        </p:nvSpPr>
        <p:spPr>
          <a:xfrm>
            <a:off x="4992624" y="3337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cᵢ &lt; 0.50  (n=65)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92624" y="35295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0.285  Audio 0.308  Fusion 0.344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9480" y="340156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disagreed → models also fail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19472" y="3813048"/>
            <a:ext cx="3794760" cy="438912"/>
          </a:xfrm>
          <a:prstGeom prst="rect">
            <a:avLst/>
          </a:prstGeom>
          <a:solidFill>
            <a:srgbClr val="0D1F3C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4992624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 0.50–0.75  (n=940)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92624" y="40325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0.588  Audio 0.580  Fusion 0.645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69480" y="390448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agreement → partial model success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19472" y="4315968"/>
            <a:ext cx="3794760" cy="438912"/>
          </a:xfrm>
          <a:prstGeom prst="rect">
            <a:avLst/>
          </a:prstGeom>
          <a:solidFill>
            <a:srgbClr val="0D1F3C"/>
          </a:solidFill>
          <a:ln w="1905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Text 44"/>
          <p:cNvSpPr/>
          <p:nvPr/>
        </p:nvSpPr>
        <p:spPr>
          <a:xfrm>
            <a:off x="4992624" y="4343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cᵢ &gt; 0.75  (n=1165)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92624" y="4535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0.695  Audio 0.666  Fusion 0.766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269480" y="440740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agreement → models do well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56048" y="4828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model errors mirror human disagreement.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is intrinsic to the utterance, not our model.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 ANSWER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a speaker's emotion using a multimodal approach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combines acoustic features and textual content?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828800" cy="914400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6309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at α=0.45 achieves Macro F1 = 0.7108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+0.063 over text-only · +0.071 over audio-only · No additional training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4114800" cy="1051560"/>
          </a:xfrm>
          <a:prstGeom prst="rect">
            <a:avLst/>
          </a:prstGeom>
          <a:solidFill>
            <a:srgbClr val="0D2A45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438912" y="2724912"/>
            <a:ext cx="411480" cy="4114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38912" y="2706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 contribute equally at baseline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audio each reach ~0.64-0.65 Macro F1 alone  comparable, but limited.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633472"/>
            <a:ext cx="4114800" cy="1051560"/>
          </a:xfrm>
          <a:prstGeom prst="rect">
            <a:avLst/>
          </a:prstGeom>
          <a:solidFill>
            <a:srgbClr val="0D2A45"/>
          </a:solidFill>
          <a:ln w="1905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828032" y="2724912"/>
            <a:ext cx="411480" cy="411480"/>
          </a:xfrm>
          <a:prstGeom prst="ellipse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828032" y="2706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on different examples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3017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misses tone; audio misses meaning. Non-overlapping errors are the theoretical key.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76472"/>
            <a:ext cx="4114800" cy="1051560"/>
          </a:xfrm>
          <a:prstGeom prst="rect">
            <a:avLst/>
          </a:prstGeom>
          <a:solidFill>
            <a:srgbClr val="0D2A45"/>
          </a:solidFill>
          <a:ln w="1905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438912" y="3867912"/>
            <a:ext cx="411480" cy="411480"/>
          </a:xfrm>
          <a:prstGeom prst="ellipse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438912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them works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fusion: Macro F1 = 0.71  +0.06 gain, zero training overhead.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776472"/>
            <a:ext cx="4114800" cy="1051560"/>
          </a:xfrm>
          <a:prstGeom prst="rect">
            <a:avLst/>
          </a:prstGeom>
          <a:solidFill>
            <a:srgbClr val="0D2A4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4828032" y="3867912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4828032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benefits most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class: F1 0.46/0.51 → 0.55. Absence of both signals becomes a cue.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weighted combination of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+ audio → Macro F1 = 0.71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Speaker-independent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66420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59C9A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3200400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training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66420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5943600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held-out session → no variance estimate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3-class grouping loses within-class nuance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α selected on same test set used for reporting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523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Attention-based fusion  per-utterance dynamic 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871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Cross-modal attention (Multimodal Transformer)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5-fold LOSO cross-validation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868680"/>
          </a:xfrm>
          <a:prstGeom prst="rect">
            <a:avLst/>
          </a:prstGeom>
          <a:solidFill>
            <a:srgbClr val="0D2A45"/>
          </a:solidFill>
          <a:ln w="12700">
            <a:solidFill>
              <a:srgbClr val="59C9A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Questions?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4256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Shmila  ·  Alma Hova  ·  Ohad Lavie  ·  Bar-Ilan University  ·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Per-Class Breakdown  (Q&amp;A)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365760" y="1179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179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179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57800" y="1179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179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1179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90472"/>
            <a:ext cx="84124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36576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5780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1837944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36576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5780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185416"/>
            <a:ext cx="84124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36576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5780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9808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2532888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36576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2336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9808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1149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365760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286000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023360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57800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0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98080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22783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Text 47"/>
          <p:cNvSpPr/>
          <p:nvPr/>
        </p:nvSpPr>
        <p:spPr>
          <a:xfrm>
            <a:off x="36576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28600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02336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5780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9808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3575304"/>
            <a:ext cx="8412480" cy="320040"/>
          </a:xfrm>
          <a:prstGeom prst="rect">
            <a:avLst/>
          </a:prstGeom>
          <a:solidFill>
            <a:srgbClr val="E8F7F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Text 54"/>
          <p:cNvSpPr/>
          <p:nvPr/>
        </p:nvSpPr>
        <p:spPr>
          <a:xfrm>
            <a:off x="36576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(α=0.45)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28600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02336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25780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0080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49808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1149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392277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36576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(α=0.45)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28600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02336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25780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40080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49808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4270248"/>
            <a:ext cx="8412480" cy="320040"/>
          </a:xfrm>
          <a:prstGeom prst="rect">
            <a:avLst/>
          </a:prstGeom>
          <a:solidFill>
            <a:srgbClr val="E8F7F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0" name="Text 68"/>
          <p:cNvSpPr/>
          <p:nvPr/>
        </p:nvSpPr>
        <p:spPr>
          <a:xfrm>
            <a:off x="365760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(α=0.45)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286000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023360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257800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00800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9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498080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Emotion Recognition  ·  Bar-Ilan University  ·  Spring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Summary  (Q&amp;A)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411480" y="11795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11795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(Text)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11795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(Audio)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841248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5361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 (125M params)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15361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wav2vec2-base (94M params)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11480" y="186537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186537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10⁻⁵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186537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10⁻⁵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841248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411480" y="21945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1945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(large audio tensors)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478024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411480" y="252374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input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46120" y="252374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tokens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252374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s  (136,000 samples)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807208"/>
            <a:ext cx="841248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411480" y="28529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28529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8529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136392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411480" y="31821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patience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1821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on val Macro F1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1821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on val Macro F1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465576"/>
            <a:ext cx="841248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411480" y="35112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46120" y="35112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= N / (K · Nc)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35112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= N / (K · Nc)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794760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411480" y="38404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46120" y="38404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9360" y="38404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123944"/>
            <a:ext cx="841248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411480" y="41696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pooling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46120" y="41696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09360" y="41696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 over time steps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453128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411480" y="44988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layers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46120" y="44988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09360" y="44988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encoder (7 layers)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2182</Words>
  <Application>Microsoft Office PowerPoint</Application>
  <PresentationFormat>‫הצגה על המסך (16:9)</PresentationFormat>
  <Paragraphs>509</Paragraphs>
  <Slides>17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Speech Emotion Recognition</dc:title>
  <dc:subject>PptxGenJS Presentation</dc:subject>
  <dc:creator>PptxGenJS</dc:creator>
  <cp:lastModifiedBy>אילנה שמילה</cp:lastModifiedBy>
  <cp:revision>2</cp:revision>
  <dcterms:created xsi:type="dcterms:W3CDTF">2026-06-23T06:39:16Z</dcterms:created>
  <dcterms:modified xsi:type="dcterms:W3CDTF">2026-06-23T03:50:51Z</dcterms:modified>
</cp:coreProperties>
</file>